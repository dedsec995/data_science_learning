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660"/>
  </p:normalViewPr>
  <p:slideViewPr>
    <p:cSldViewPr snapToGrid="0">
      <p:cViewPr varScale="1">
        <p:scale>
          <a:sx n="67" d="100"/>
          <a:sy n="67" d="100"/>
        </p:scale>
        <p:origin x="10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E7F0B7-2695-4B25-ACC2-B10AD422321C}"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77DD0A92-035A-49E1-BC9E-75777AA8E06F}">
      <dgm:prSet/>
      <dgm:spPr/>
      <dgm:t>
        <a:bodyPr/>
        <a:lstStyle/>
        <a:p>
          <a:r>
            <a:rPr lang="en-US" b="1"/>
            <a:t>Input Image:</a:t>
          </a:r>
          <a:endParaRPr lang="en-US"/>
        </a:p>
      </dgm:t>
    </dgm:pt>
    <dgm:pt modelId="{DB0E153D-ACA9-4FAA-94AA-1D38268CF90D}" type="parTrans" cxnId="{75B4AC27-4BCC-460B-8E5D-53F54283CF3E}">
      <dgm:prSet/>
      <dgm:spPr/>
      <dgm:t>
        <a:bodyPr/>
        <a:lstStyle/>
        <a:p>
          <a:endParaRPr lang="en-US"/>
        </a:p>
      </dgm:t>
    </dgm:pt>
    <dgm:pt modelId="{94E6A287-6531-4559-92A7-769B0915158F}" type="sibTrans" cxnId="{75B4AC27-4BCC-460B-8E5D-53F54283CF3E}">
      <dgm:prSet/>
      <dgm:spPr/>
      <dgm:t>
        <a:bodyPr/>
        <a:lstStyle/>
        <a:p>
          <a:endParaRPr lang="en-US"/>
        </a:p>
      </dgm:t>
    </dgm:pt>
    <dgm:pt modelId="{280A102B-C312-428D-B574-D739A16C21AF}">
      <dgm:prSet/>
      <dgm:spPr/>
      <dgm:t>
        <a:bodyPr/>
        <a:lstStyle/>
        <a:p>
          <a:r>
            <a:rPr lang="en-US" dirty="0">
              <a:latin typeface="Times New Roman" panose="02020603050405020304" pitchFamily="18" charset="0"/>
              <a:cs typeface="Times New Roman" panose="02020603050405020304" pitchFamily="18" charset="0"/>
            </a:rPr>
            <a:t>Start with a single input image containing one or more objects.</a:t>
          </a:r>
        </a:p>
      </dgm:t>
    </dgm:pt>
    <dgm:pt modelId="{DCE75D40-C924-4594-BDAE-28F41F56CAAE}" type="parTrans" cxnId="{9AEB052C-A368-4D02-BC8F-B30E4AF3F004}">
      <dgm:prSet/>
      <dgm:spPr/>
      <dgm:t>
        <a:bodyPr/>
        <a:lstStyle/>
        <a:p>
          <a:endParaRPr lang="en-US"/>
        </a:p>
      </dgm:t>
    </dgm:pt>
    <dgm:pt modelId="{525E85AA-1F02-4B43-8B78-F2CED4836160}" type="sibTrans" cxnId="{9AEB052C-A368-4D02-BC8F-B30E4AF3F004}">
      <dgm:prSet/>
      <dgm:spPr/>
      <dgm:t>
        <a:bodyPr/>
        <a:lstStyle/>
        <a:p>
          <a:endParaRPr lang="en-US"/>
        </a:p>
      </dgm:t>
    </dgm:pt>
    <dgm:pt modelId="{32ECA3B2-7B66-44D9-8805-E4970DC95514}">
      <dgm:prSet/>
      <dgm:spPr/>
      <dgm:t>
        <a:bodyPr/>
        <a:lstStyle/>
        <a:p>
          <a:r>
            <a:rPr lang="en-US" b="1"/>
            <a:t>Region Proposal Generation: </a:t>
          </a:r>
          <a:endParaRPr lang="en-US"/>
        </a:p>
      </dgm:t>
    </dgm:pt>
    <dgm:pt modelId="{F5304592-B17B-435C-A1AD-B1BF8F326EF9}" type="parTrans" cxnId="{D4061E93-0DA6-487E-9135-625B6D73702D}">
      <dgm:prSet/>
      <dgm:spPr/>
      <dgm:t>
        <a:bodyPr/>
        <a:lstStyle/>
        <a:p>
          <a:endParaRPr lang="en-US"/>
        </a:p>
      </dgm:t>
    </dgm:pt>
    <dgm:pt modelId="{401115F0-7334-43F9-9EC7-0A606D73A789}" type="sibTrans" cxnId="{D4061E93-0DA6-487E-9135-625B6D73702D}">
      <dgm:prSet/>
      <dgm:spPr/>
      <dgm:t>
        <a:bodyPr/>
        <a:lstStyle/>
        <a:p>
          <a:endParaRPr lang="en-US"/>
        </a:p>
      </dgm:t>
    </dgm:pt>
    <dgm:pt modelId="{CF0F7404-CF54-4155-A0F2-2AA36C89C5C7}">
      <dgm:prSet/>
      <dgm:spPr/>
      <dgm:t>
        <a:bodyPr/>
        <a:lstStyle/>
        <a:p>
          <a:r>
            <a:rPr lang="en-US" dirty="0">
              <a:latin typeface="Times New Roman" panose="02020603050405020304" pitchFamily="18" charset="0"/>
              <a:cs typeface="Times New Roman" panose="02020603050405020304" pitchFamily="18" charset="0"/>
            </a:rPr>
            <a:t>Use Selective Search to generate around 2,000 region proposals (potential object locations).</a:t>
          </a:r>
        </a:p>
      </dgm:t>
    </dgm:pt>
    <dgm:pt modelId="{E530E1FF-213D-4FC6-A022-7AF32BF0C059}" type="parTrans" cxnId="{3244AC49-6507-4E1E-A499-8149F55A9E3B}">
      <dgm:prSet/>
      <dgm:spPr/>
      <dgm:t>
        <a:bodyPr/>
        <a:lstStyle/>
        <a:p>
          <a:endParaRPr lang="en-US"/>
        </a:p>
      </dgm:t>
    </dgm:pt>
    <dgm:pt modelId="{542277EF-B474-4764-944D-15892BC49A82}" type="sibTrans" cxnId="{3244AC49-6507-4E1E-A499-8149F55A9E3B}">
      <dgm:prSet/>
      <dgm:spPr/>
      <dgm:t>
        <a:bodyPr/>
        <a:lstStyle/>
        <a:p>
          <a:endParaRPr lang="en-US"/>
        </a:p>
      </dgm:t>
    </dgm:pt>
    <dgm:pt modelId="{9B5512E7-B297-4BF4-98A8-CDB19F1BEE47}">
      <dgm:prSet/>
      <dgm:spPr/>
      <dgm:t>
        <a:bodyPr/>
        <a:lstStyle/>
        <a:p>
          <a:r>
            <a:rPr lang="en-US" b="1"/>
            <a:t>Warp &amp; Feature Extraction: </a:t>
          </a:r>
          <a:endParaRPr lang="en-US"/>
        </a:p>
      </dgm:t>
    </dgm:pt>
    <dgm:pt modelId="{2B384A4A-B821-412B-B6FB-9BA48BB2A736}" type="parTrans" cxnId="{5A0ABC44-A2DA-4BD3-B5C1-51D82C1A470D}">
      <dgm:prSet/>
      <dgm:spPr/>
      <dgm:t>
        <a:bodyPr/>
        <a:lstStyle/>
        <a:p>
          <a:endParaRPr lang="en-US"/>
        </a:p>
      </dgm:t>
    </dgm:pt>
    <dgm:pt modelId="{43DEFF9F-A02D-4EA9-8202-14A5DCD8C2AE}" type="sibTrans" cxnId="{5A0ABC44-A2DA-4BD3-B5C1-51D82C1A470D}">
      <dgm:prSet/>
      <dgm:spPr/>
      <dgm:t>
        <a:bodyPr/>
        <a:lstStyle/>
        <a:p>
          <a:endParaRPr lang="en-US"/>
        </a:p>
      </dgm:t>
    </dgm:pt>
    <dgm:pt modelId="{32795E49-A0A6-4F6B-80CC-3EBE7BC23F49}">
      <dgm:prSet/>
      <dgm:spPr/>
      <dgm:t>
        <a:bodyPr/>
        <a:lstStyle/>
        <a:p>
          <a:r>
            <a:rPr lang="en-US" dirty="0">
              <a:latin typeface="Times New Roman" panose="02020603050405020304" pitchFamily="18" charset="0"/>
              <a:cs typeface="Times New Roman" panose="02020603050405020304" pitchFamily="18" charset="0"/>
            </a:rPr>
            <a:t>Each proposed region is cropped and resized (warped) to a fixed size. Then pass each region through a CNN to extract feature vectors.</a:t>
          </a:r>
        </a:p>
      </dgm:t>
    </dgm:pt>
    <dgm:pt modelId="{A5D37895-1BC2-41C7-99AD-09C9D54B0751}" type="parTrans" cxnId="{E8A1F1FD-09E3-49AF-AB4A-8B094A028678}">
      <dgm:prSet/>
      <dgm:spPr/>
      <dgm:t>
        <a:bodyPr/>
        <a:lstStyle/>
        <a:p>
          <a:endParaRPr lang="en-US"/>
        </a:p>
      </dgm:t>
    </dgm:pt>
    <dgm:pt modelId="{8211F2A7-71CC-4CDE-996B-6BBBCBA725B8}" type="sibTrans" cxnId="{E8A1F1FD-09E3-49AF-AB4A-8B094A028678}">
      <dgm:prSet/>
      <dgm:spPr/>
      <dgm:t>
        <a:bodyPr/>
        <a:lstStyle/>
        <a:p>
          <a:endParaRPr lang="en-US"/>
        </a:p>
      </dgm:t>
    </dgm:pt>
    <dgm:pt modelId="{2A462035-4008-439B-ADDE-3FCB8C30B84B}">
      <dgm:prSet/>
      <dgm:spPr/>
      <dgm:t>
        <a:bodyPr/>
        <a:lstStyle/>
        <a:p>
          <a:r>
            <a:rPr lang="en-US" b="1"/>
            <a:t>Region Classification: </a:t>
          </a:r>
          <a:endParaRPr lang="en-US"/>
        </a:p>
      </dgm:t>
    </dgm:pt>
    <dgm:pt modelId="{4F874417-7520-4841-907C-1A29EAFFABD0}" type="parTrans" cxnId="{050929E6-05A0-4E73-9511-64D0EEE84F2A}">
      <dgm:prSet/>
      <dgm:spPr/>
      <dgm:t>
        <a:bodyPr/>
        <a:lstStyle/>
        <a:p>
          <a:endParaRPr lang="en-US"/>
        </a:p>
      </dgm:t>
    </dgm:pt>
    <dgm:pt modelId="{6C2B81D7-ABCC-4953-B109-FB395E7325F6}" type="sibTrans" cxnId="{050929E6-05A0-4E73-9511-64D0EEE84F2A}">
      <dgm:prSet/>
      <dgm:spPr/>
      <dgm:t>
        <a:bodyPr/>
        <a:lstStyle/>
        <a:p>
          <a:endParaRPr lang="en-US"/>
        </a:p>
      </dgm:t>
    </dgm:pt>
    <dgm:pt modelId="{B1DACFA8-44A3-4A36-95A9-5B42796ECEED}">
      <dgm:prSet/>
      <dgm:spPr/>
      <dgm:t>
        <a:bodyPr/>
        <a:lstStyle/>
        <a:p>
          <a:r>
            <a:rPr lang="en-US" dirty="0">
              <a:latin typeface="Times New Roman" panose="02020603050405020304" pitchFamily="18" charset="0"/>
              <a:cs typeface="Times New Roman" panose="02020603050405020304" pitchFamily="18" charset="0"/>
            </a:rPr>
            <a:t>Use the extracted features to classify each region using SVMs into object categories (e.g. person, car) or background.</a:t>
          </a:r>
        </a:p>
      </dgm:t>
    </dgm:pt>
    <dgm:pt modelId="{9A950A85-2074-4035-AA2D-8B78C4CE20C6}" type="parTrans" cxnId="{5D2BB482-8CD7-47F7-8927-14A0E0D191FF}">
      <dgm:prSet/>
      <dgm:spPr/>
      <dgm:t>
        <a:bodyPr/>
        <a:lstStyle/>
        <a:p>
          <a:endParaRPr lang="en-US"/>
        </a:p>
      </dgm:t>
    </dgm:pt>
    <dgm:pt modelId="{04041C50-4C2C-47CC-A2A5-085080AC9940}" type="sibTrans" cxnId="{5D2BB482-8CD7-47F7-8927-14A0E0D191FF}">
      <dgm:prSet/>
      <dgm:spPr/>
      <dgm:t>
        <a:bodyPr/>
        <a:lstStyle/>
        <a:p>
          <a:endParaRPr lang="en-US"/>
        </a:p>
      </dgm:t>
    </dgm:pt>
    <dgm:pt modelId="{A267C751-44E7-4F6D-8E2A-2A1A41FE5568}" type="pres">
      <dgm:prSet presAssocID="{CDE7F0B7-2695-4B25-ACC2-B10AD422321C}" presName="linear" presStyleCnt="0">
        <dgm:presLayoutVars>
          <dgm:dir/>
          <dgm:animLvl val="lvl"/>
          <dgm:resizeHandles val="exact"/>
        </dgm:presLayoutVars>
      </dgm:prSet>
      <dgm:spPr/>
    </dgm:pt>
    <dgm:pt modelId="{4953A082-6350-4B76-A72B-B8DA25993019}" type="pres">
      <dgm:prSet presAssocID="{77DD0A92-035A-49E1-BC9E-75777AA8E06F}" presName="parentLin" presStyleCnt="0"/>
      <dgm:spPr/>
    </dgm:pt>
    <dgm:pt modelId="{C81BB643-0E30-4383-B5D2-59CE406240D9}" type="pres">
      <dgm:prSet presAssocID="{77DD0A92-035A-49E1-BC9E-75777AA8E06F}" presName="parentLeftMargin" presStyleLbl="node1" presStyleIdx="0" presStyleCnt="4"/>
      <dgm:spPr/>
    </dgm:pt>
    <dgm:pt modelId="{D9653CDB-303C-4B78-AC66-3195EBD5F89D}" type="pres">
      <dgm:prSet presAssocID="{77DD0A92-035A-49E1-BC9E-75777AA8E06F}" presName="parentText" presStyleLbl="node1" presStyleIdx="0" presStyleCnt="4">
        <dgm:presLayoutVars>
          <dgm:chMax val="0"/>
          <dgm:bulletEnabled val="1"/>
        </dgm:presLayoutVars>
      </dgm:prSet>
      <dgm:spPr/>
    </dgm:pt>
    <dgm:pt modelId="{7D13EC34-C899-4A29-A3D4-7C6103F43D9D}" type="pres">
      <dgm:prSet presAssocID="{77DD0A92-035A-49E1-BC9E-75777AA8E06F}" presName="negativeSpace" presStyleCnt="0"/>
      <dgm:spPr/>
    </dgm:pt>
    <dgm:pt modelId="{7042082D-39D0-4A15-B160-509F9A2691FF}" type="pres">
      <dgm:prSet presAssocID="{77DD0A92-035A-49E1-BC9E-75777AA8E06F}" presName="childText" presStyleLbl="conFgAcc1" presStyleIdx="0" presStyleCnt="4">
        <dgm:presLayoutVars>
          <dgm:bulletEnabled val="1"/>
        </dgm:presLayoutVars>
      </dgm:prSet>
      <dgm:spPr/>
    </dgm:pt>
    <dgm:pt modelId="{5A8DD6D1-E6F1-4A37-BEB0-3191B6335FED}" type="pres">
      <dgm:prSet presAssocID="{94E6A287-6531-4559-92A7-769B0915158F}" presName="spaceBetweenRectangles" presStyleCnt="0"/>
      <dgm:spPr/>
    </dgm:pt>
    <dgm:pt modelId="{D6EED872-C5E7-417A-834B-C108113E8691}" type="pres">
      <dgm:prSet presAssocID="{32ECA3B2-7B66-44D9-8805-E4970DC95514}" presName="parentLin" presStyleCnt="0"/>
      <dgm:spPr/>
    </dgm:pt>
    <dgm:pt modelId="{752F2F78-105B-49DB-9D4C-31207A34FD02}" type="pres">
      <dgm:prSet presAssocID="{32ECA3B2-7B66-44D9-8805-E4970DC95514}" presName="parentLeftMargin" presStyleLbl="node1" presStyleIdx="0" presStyleCnt="4"/>
      <dgm:spPr/>
    </dgm:pt>
    <dgm:pt modelId="{E6661CD3-8966-4136-9BFB-3A667FA7181E}" type="pres">
      <dgm:prSet presAssocID="{32ECA3B2-7B66-44D9-8805-E4970DC95514}" presName="parentText" presStyleLbl="node1" presStyleIdx="1" presStyleCnt="4">
        <dgm:presLayoutVars>
          <dgm:chMax val="0"/>
          <dgm:bulletEnabled val="1"/>
        </dgm:presLayoutVars>
      </dgm:prSet>
      <dgm:spPr/>
    </dgm:pt>
    <dgm:pt modelId="{ADE322BF-372F-4E76-94BD-6F3E6BCC4F78}" type="pres">
      <dgm:prSet presAssocID="{32ECA3B2-7B66-44D9-8805-E4970DC95514}" presName="negativeSpace" presStyleCnt="0"/>
      <dgm:spPr/>
    </dgm:pt>
    <dgm:pt modelId="{B7FCF4A4-4587-40D3-8E10-D6009AAD0017}" type="pres">
      <dgm:prSet presAssocID="{32ECA3B2-7B66-44D9-8805-E4970DC95514}" presName="childText" presStyleLbl="conFgAcc1" presStyleIdx="1" presStyleCnt="4">
        <dgm:presLayoutVars>
          <dgm:bulletEnabled val="1"/>
        </dgm:presLayoutVars>
      </dgm:prSet>
      <dgm:spPr/>
    </dgm:pt>
    <dgm:pt modelId="{34468B7E-B343-4415-960F-69438D196AFB}" type="pres">
      <dgm:prSet presAssocID="{401115F0-7334-43F9-9EC7-0A606D73A789}" presName="spaceBetweenRectangles" presStyleCnt="0"/>
      <dgm:spPr/>
    </dgm:pt>
    <dgm:pt modelId="{27B46CE0-E463-40AE-92FD-711A6F724CFC}" type="pres">
      <dgm:prSet presAssocID="{9B5512E7-B297-4BF4-98A8-CDB19F1BEE47}" presName="parentLin" presStyleCnt="0"/>
      <dgm:spPr/>
    </dgm:pt>
    <dgm:pt modelId="{D65D6E37-DE5F-4096-9CB3-8C8E675EE74F}" type="pres">
      <dgm:prSet presAssocID="{9B5512E7-B297-4BF4-98A8-CDB19F1BEE47}" presName="parentLeftMargin" presStyleLbl="node1" presStyleIdx="1" presStyleCnt="4"/>
      <dgm:spPr/>
    </dgm:pt>
    <dgm:pt modelId="{A520D0D7-E6E2-4469-B756-2DABE089F5DB}" type="pres">
      <dgm:prSet presAssocID="{9B5512E7-B297-4BF4-98A8-CDB19F1BEE47}" presName="parentText" presStyleLbl="node1" presStyleIdx="2" presStyleCnt="4">
        <dgm:presLayoutVars>
          <dgm:chMax val="0"/>
          <dgm:bulletEnabled val="1"/>
        </dgm:presLayoutVars>
      </dgm:prSet>
      <dgm:spPr/>
    </dgm:pt>
    <dgm:pt modelId="{7AA595F8-0875-42A2-A877-149416BC9161}" type="pres">
      <dgm:prSet presAssocID="{9B5512E7-B297-4BF4-98A8-CDB19F1BEE47}" presName="negativeSpace" presStyleCnt="0"/>
      <dgm:spPr/>
    </dgm:pt>
    <dgm:pt modelId="{009E7304-2BF9-4D77-BF81-8CA06EBB15EE}" type="pres">
      <dgm:prSet presAssocID="{9B5512E7-B297-4BF4-98A8-CDB19F1BEE47}" presName="childText" presStyleLbl="conFgAcc1" presStyleIdx="2" presStyleCnt="4">
        <dgm:presLayoutVars>
          <dgm:bulletEnabled val="1"/>
        </dgm:presLayoutVars>
      </dgm:prSet>
      <dgm:spPr/>
    </dgm:pt>
    <dgm:pt modelId="{5E05635A-9BB9-434B-96FC-4B7917140607}" type="pres">
      <dgm:prSet presAssocID="{43DEFF9F-A02D-4EA9-8202-14A5DCD8C2AE}" presName="spaceBetweenRectangles" presStyleCnt="0"/>
      <dgm:spPr/>
    </dgm:pt>
    <dgm:pt modelId="{A2F21A52-5B3B-46A3-8349-5CB3AFCADDF7}" type="pres">
      <dgm:prSet presAssocID="{2A462035-4008-439B-ADDE-3FCB8C30B84B}" presName="parentLin" presStyleCnt="0"/>
      <dgm:spPr/>
    </dgm:pt>
    <dgm:pt modelId="{42F8DB7A-DF1C-4F44-B61B-5E0E2E34F5F7}" type="pres">
      <dgm:prSet presAssocID="{2A462035-4008-439B-ADDE-3FCB8C30B84B}" presName="parentLeftMargin" presStyleLbl="node1" presStyleIdx="2" presStyleCnt="4"/>
      <dgm:spPr/>
    </dgm:pt>
    <dgm:pt modelId="{4CE14947-B1AC-4E0C-8D47-8EB05F57F9A5}" type="pres">
      <dgm:prSet presAssocID="{2A462035-4008-439B-ADDE-3FCB8C30B84B}" presName="parentText" presStyleLbl="node1" presStyleIdx="3" presStyleCnt="4">
        <dgm:presLayoutVars>
          <dgm:chMax val="0"/>
          <dgm:bulletEnabled val="1"/>
        </dgm:presLayoutVars>
      </dgm:prSet>
      <dgm:spPr/>
    </dgm:pt>
    <dgm:pt modelId="{46DBE27E-79B6-4E96-8953-AE9F80D24DB3}" type="pres">
      <dgm:prSet presAssocID="{2A462035-4008-439B-ADDE-3FCB8C30B84B}" presName="negativeSpace" presStyleCnt="0"/>
      <dgm:spPr/>
    </dgm:pt>
    <dgm:pt modelId="{BC273AD1-18D0-494A-B0E5-94DD40280F31}" type="pres">
      <dgm:prSet presAssocID="{2A462035-4008-439B-ADDE-3FCB8C30B84B}" presName="childText" presStyleLbl="conFgAcc1" presStyleIdx="3" presStyleCnt="4">
        <dgm:presLayoutVars>
          <dgm:bulletEnabled val="1"/>
        </dgm:presLayoutVars>
      </dgm:prSet>
      <dgm:spPr/>
    </dgm:pt>
  </dgm:ptLst>
  <dgm:cxnLst>
    <dgm:cxn modelId="{75B4AC27-4BCC-460B-8E5D-53F54283CF3E}" srcId="{CDE7F0B7-2695-4B25-ACC2-B10AD422321C}" destId="{77DD0A92-035A-49E1-BC9E-75777AA8E06F}" srcOrd="0" destOrd="0" parTransId="{DB0E153D-ACA9-4FAA-94AA-1D38268CF90D}" sibTransId="{94E6A287-6531-4559-92A7-769B0915158F}"/>
    <dgm:cxn modelId="{4E6FE228-8597-409E-954C-18716D0F16B0}" type="presOf" srcId="{32ECA3B2-7B66-44D9-8805-E4970DC95514}" destId="{E6661CD3-8966-4136-9BFB-3A667FA7181E}" srcOrd="1" destOrd="0" presId="urn:microsoft.com/office/officeart/2005/8/layout/list1"/>
    <dgm:cxn modelId="{B1EAFC2A-CAFA-4B58-87D0-0F0FE9D76001}" type="presOf" srcId="{77DD0A92-035A-49E1-BC9E-75777AA8E06F}" destId="{C81BB643-0E30-4383-B5D2-59CE406240D9}" srcOrd="0" destOrd="0" presId="urn:microsoft.com/office/officeart/2005/8/layout/list1"/>
    <dgm:cxn modelId="{9AEB052C-A368-4D02-BC8F-B30E4AF3F004}" srcId="{77DD0A92-035A-49E1-BC9E-75777AA8E06F}" destId="{280A102B-C312-428D-B574-D739A16C21AF}" srcOrd="0" destOrd="0" parTransId="{DCE75D40-C924-4594-BDAE-28F41F56CAAE}" sibTransId="{525E85AA-1F02-4B43-8B78-F2CED4836160}"/>
    <dgm:cxn modelId="{EE44C72E-A26B-4455-AA24-DDD49AB84688}" type="presOf" srcId="{32795E49-A0A6-4F6B-80CC-3EBE7BC23F49}" destId="{009E7304-2BF9-4D77-BF81-8CA06EBB15EE}" srcOrd="0" destOrd="0" presId="urn:microsoft.com/office/officeart/2005/8/layout/list1"/>
    <dgm:cxn modelId="{9DF21637-2059-4A85-8794-DBBA4329E90A}" type="presOf" srcId="{2A462035-4008-439B-ADDE-3FCB8C30B84B}" destId="{42F8DB7A-DF1C-4F44-B61B-5E0E2E34F5F7}" srcOrd="0" destOrd="0" presId="urn:microsoft.com/office/officeart/2005/8/layout/list1"/>
    <dgm:cxn modelId="{EFCC0761-78E4-4DB0-AF46-36C8FD653180}" type="presOf" srcId="{9B5512E7-B297-4BF4-98A8-CDB19F1BEE47}" destId="{D65D6E37-DE5F-4096-9CB3-8C8E675EE74F}" srcOrd="0" destOrd="0" presId="urn:microsoft.com/office/officeart/2005/8/layout/list1"/>
    <dgm:cxn modelId="{5A0ABC44-A2DA-4BD3-B5C1-51D82C1A470D}" srcId="{CDE7F0B7-2695-4B25-ACC2-B10AD422321C}" destId="{9B5512E7-B297-4BF4-98A8-CDB19F1BEE47}" srcOrd="2" destOrd="0" parTransId="{2B384A4A-B821-412B-B6FB-9BA48BB2A736}" sibTransId="{43DEFF9F-A02D-4EA9-8202-14A5DCD8C2AE}"/>
    <dgm:cxn modelId="{1DFC6949-BF85-4401-88DA-13E3853110AB}" type="presOf" srcId="{280A102B-C312-428D-B574-D739A16C21AF}" destId="{7042082D-39D0-4A15-B160-509F9A2691FF}" srcOrd="0" destOrd="0" presId="urn:microsoft.com/office/officeart/2005/8/layout/list1"/>
    <dgm:cxn modelId="{3244AC49-6507-4E1E-A499-8149F55A9E3B}" srcId="{32ECA3B2-7B66-44D9-8805-E4970DC95514}" destId="{CF0F7404-CF54-4155-A0F2-2AA36C89C5C7}" srcOrd="0" destOrd="0" parTransId="{E530E1FF-213D-4FC6-A022-7AF32BF0C059}" sibTransId="{542277EF-B474-4764-944D-15892BC49A82}"/>
    <dgm:cxn modelId="{FBEB0A80-D157-48D6-92F0-D6CF6F349D95}" type="presOf" srcId="{CDE7F0B7-2695-4B25-ACC2-B10AD422321C}" destId="{A267C751-44E7-4F6D-8E2A-2A1A41FE5568}" srcOrd="0" destOrd="0" presId="urn:microsoft.com/office/officeart/2005/8/layout/list1"/>
    <dgm:cxn modelId="{16E3A781-F552-4CE4-A88A-544A4C119F5B}" type="presOf" srcId="{32ECA3B2-7B66-44D9-8805-E4970DC95514}" destId="{752F2F78-105B-49DB-9D4C-31207A34FD02}" srcOrd="0" destOrd="0" presId="urn:microsoft.com/office/officeart/2005/8/layout/list1"/>
    <dgm:cxn modelId="{5D2BB482-8CD7-47F7-8927-14A0E0D191FF}" srcId="{2A462035-4008-439B-ADDE-3FCB8C30B84B}" destId="{B1DACFA8-44A3-4A36-95A9-5B42796ECEED}" srcOrd="0" destOrd="0" parTransId="{9A950A85-2074-4035-AA2D-8B78C4CE20C6}" sibTransId="{04041C50-4C2C-47CC-A2A5-085080AC9940}"/>
    <dgm:cxn modelId="{D4061E93-0DA6-487E-9135-625B6D73702D}" srcId="{CDE7F0B7-2695-4B25-ACC2-B10AD422321C}" destId="{32ECA3B2-7B66-44D9-8805-E4970DC95514}" srcOrd="1" destOrd="0" parTransId="{F5304592-B17B-435C-A1AD-B1BF8F326EF9}" sibTransId="{401115F0-7334-43F9-9EC7-0A606D73A789}"/>
    <dgm:cxn modelId="{4AD494A3-1F52-4F08-90CE-3601407F1812}" type="presOf" srcId="{CF0F7404-CF54-4155-A0F2-2AA36C89C5C7}" destId="{B7FCF4A4-4587-40D3-8E10-D6009AAD0017}" srcOrd="0" destOrd="0" presId="urn:microsoft.com/office/officeart/2005/8/layout/list1"/>
    <dgm:cxn modelId="{EB3BEFB6-85E6-49F5-A266-59728C035054}" type="presOf" srcId="{2A462035-4008-439B-ADDE-3FCB8C30B84B}" destId="{4CE14947-B1AC-4E0C-8D47-8EB05F57F9A5}" srcOrd="1" destOrd="0" presId="urn:microsoft.com/office/officeart/2005/8/layout/list1"/>
    <dgm:cxn modelId="{7CB4D6C3-3FF4-4460-9FBC-5B81A294CEA0}" type="presOf" srcId="{9B5512E7-B297-4BF4-98A8-CDB19F1BEE47}" destId="{A520D0D7-E6E2-4469-B756-2DABE089F5DB}" srcOrd="1" destOrd="0" presId="urn:microsoft.com/office/officeart/2005/8/layout/list1"/>
    <dgm:cxn modelId="{050929E6-05A0-4E73-9511-64D0EEE84F2A}" srcId="{CDE7F0B7-2695-4B25-ACC2-B10AD422321C}" destId="{2A462035-4008-439B-ADDE-3FCB8C30B84B}" srcOrd="3" destOrd="0" parTransId="{4F874417-7520-4841-907C-1A29EAFFABD0}" sibTransId="{6C2B81D7-ABCC-4953-B109-FB395E7325F6}"/>
    <dgm:cxn modelId="{8886B1E9-1CDC-4979-9712-81F300D87E86}" type="presOf" srcId="{77DD0A92-035A-49E1-BC9E-75777AA8E06F}" destId="{D9653CDB-303C-4B78-AC66-3195EBD5F89D}" srcOrd="1" destOrd="0" presId="urn:microsoft.com/office/officeart/2005/8/layout/list1"/>
    <dgm:cxn modelId="{4F90D4F1-2B5B-4F3F-97FD-C5A94C0A367B}" type="presOf" srcId="{B1DACFA8-44A3-4A36-95A9-5B42796ECEED}" destId="{BC273AD1-18D0-494A-B0E5-94DD40280F31}" srcOrd="0" destOrd="0" presId="urn:microsoft.com/office/officeart/2005/8/layout/list1"/>
    <dgm:cxn modelId="{E8A1F1FD-09E3-49AF-AB4A-8B094A028678}" srcId="{9B5512E7-B297-4BF4-98A8-CDB19F1BEE47}" destId="{32795E49-A0A6-4F6B-80CC-3EBE7BC23F49}" srcOrd="0" destOrd="0" parTransId="{A5D37895-1BC2-41C7-99AD-09C9D54B0751}" sibTransId="{8211F2A7-71CC-4CDE-996B-6BBBCBA725B8}"/>
    <dgm:cxn modelId="{C8C0C7D2-7066-4FAA-95F2-C56AE32AC057}" type="presParOf" srcId="{A267C751-44E7-4F6D-8E2A-2A1A41FE5568}" destId="{4953A082-6350-4B76-A72B-B8DA25993019}" srcOrd="0" destOrd="0" presId="urn:microsoft.com/office/officeart/2005/8/layout/list1"/>
    <dgm:cxn modelId="{E59DF6F5-A217-4C01-8F51-07B8F9285E07}" type="presParOf" srcId="{4953A082-6350-4B76-A72B-B8DA25993019}" destId="{C81BB643-0E30-4383-B5D2-59CE406240D9}" srcOrd="0" destOrd="0" presId="urn:microsoft.com/office/officeart/2005/8/layout/list1"/>
    <dgm:cxn modelId="{E12D52C9-3F6B-44C2-9D47-FE043EAF318B}" type="presParOf" srcId="{4953A082-6350-4B76-A72B-B8DA25993019}" destId="{D9653CDB-303C-4B78-AC66-3195EBD5F89D}" srcOrd="1" destOrd="0" presId="urn:microsoft.com/office/officeart/2005/8/layout/list1"/>
    <dgm:cxn modelId="{EE7E5844-C2E0-45FE-BB54-9C528AC6B942}" type="presParOf" srcId="{A267C751-44E7-4F6D-8E2A-2A1A41FE5568}" destId="{7D13EC34-C899-4A29-A3D4-7C6103F43D9D}" srcOrd="1" destOrd="0" presId="urn:microsoft.com/office/officeart/2005/8/layout/list1"/>
    <dgm:cxn modelId="{ECA6E33B-52CD-4C74-9586-FDBF5BEE265A}" type="presParOf" srcId="{A267C751-44E7-4F6D-8E2A-2A1A41FE5568}" destId="{7042082D-39D0-4A15-B160-509F9A2691FF}" srcOrd="2" destOrd="0" presId="urn:microsoft.com/office/officeart/2005/8/layout/list1"/>
    <dgm:cxn modelId="{C733EFC6-7B6D-4F2B-9B93-E50413498B1D}" type="presParOf" srcId="{A267C751-44E7-4F6D-8E2A-2A1A41FE5568}" destId="{5A8DD6D1-E6F1-4A37-BEB0-3191B6335FED}" srcOrd="3" destOrd="0" presId="urn:microsoft.com/office/officeart/2005/8/layout/list1"/>
    <dgm:cxn modelId="{8B91CBF3-3060-41C2-99F0-1030FC1E5268}" type="presParOf" srcId="{A267C751-44E7-4F6D-8E2A-2A1A41FE5568}" destId="{D6EED872-C5E7-417A-834B-C108113E8691}" srcOrd="4" destOrd="0" presId="urn:microsoft.com/office/officeart/2005/8/layout/list1"/>
    <dgm:cxn modelId="{8B182098-E33E-4E62-A25B-68B6FF0CF7DD}" type="presParOf" srcId="{D6EED872-C5E7-417A-834B-C108113E8691}" destId="{752F2F78-105B-49DB-9D4C-31207A34FD02}" srcOrd="0" destOrd="0" presId="urn:microsoft.com/office/officeart/2005/8/layout/list1"/>
    <dgm:cxn modelId="{A656A2B5-DDCD-4971-85D2-4925542DDDC9}" type="presParOf" srcId="{D6EED872-C5E7-417A-834B-C108113E8691}" destId="{E6661CD3-8966-4136-9BFB-3A667FA7181E}" srcOrd="1" destOrd="0" presId="urn:microsoft.com/office/officeart/2005/8/layout/list1"/>
    <dgm:cxn modelId="{726D68E4-D64D-40F9-AF99-E07874734158}" type="presParOf" srcId="{A267C751-44E7-4F6D-8E2A-2A1A41FE5568}" destId="{ADE322BF-372F-4E76-94BD-6F3E6BCC4F78}" srcOrd="5" destOrd="0" presId="urn:microsoft.com/office/officeart/2005/8/layout/list1"/>
    <dgm:cxn modelId="{EC4E5B05-95AE-423E-8E56-139A1E6FEEB1}" type="presParOf" srcId="{A267C751-44E7-4F6D-8E2A-2A1A41FE5568}" destId="{B7FCF4A4-4587-40D3-8E10-D6009AAD0017}" srcOrd="6" destOrd="0" presId="urn:microsoft.com/office/officeart/2005/8/layout/list1"/>
    <dgm:cxn modelId="{D3C1D246-AAF1-4054-A65A-1381F0BEA5FC}" type="presParOf" srcId="{A267C751-44E7-4F6D-8E2A-2A1A41FE5568}" destId="{34468B7E-B343-4415-960F-69438D196AFB}" srcOrd="7" destOrd="0" presId="urn:microsoft.com/office/officeart/2005/8/layout/list1"/>
    <dgm:cxn modelId="{B4E43335-AA10-4ECD-AC28-24211F35C38A}" type="presParOf" srcId="{A267C751-44E7-4F6D-8E2A-2A1A41FE5568}" destId="{27B46CE0-E463-40AE-92FD-711A6F724CFC}" srcOrd="8" destOrd="0" presId="urn:microsoft.com/office/officeart/2005/8/layout/list1"/>
    <dgm:cxn modelId="{31D7649F-9A30-4ECA-989B-1CA6E9A814A1}" type="presParOf" srcId="{27B46CE0-E463-40AE-92FD-711A6F724CFC}" destId="{D65D6E37-DE5F-4096-9CB3-8C8E675EE74F}" srcOrd="0" destOrd="0" presId="urn:microsoft.com/office/officeart/2005/8/layout/list1"/>
    <dgm:cxn modelId="{401F4432-67A8-4FD4-8CD0-428525540DCA}" type="presParOf" srcId="{27B46CE0-E463-40AE-92FD-711A6F724CFC}" destId="{A520D0D7-E6E2-4469-B756-2DABE089F5DB}" srcOrd="1" destOrd="0" presId="urn:microsoft.com/office/officeart/2005/8/layout/list1"/>
    <dgm:cxn modelId="{E37D01A1-22D5-4A4E-86A8-1C8784533F42}" type="presParOf" srcId="{A267C751-44E7-4F6D-8E2A-2A1A41FE5568}" destId="{7AA595F8-0875-42A2-A877-149416BC9161}" srcOrd="9" destOrd="0" presId="urn:microsoft.com/office/officeart/2005/8/layout/list1"/>
    <dgm:cxn modelId="{03669C3F-015B-4117-A464-4BD13334475B}" type="presParOf" srcId="{A267C751-44E7-4F6D-8E2A-2A1A41FE5568}" destId="{009E7304-2BF9-4D77-BF81-8CA06EBB15EE}" srcOrd="10" destOrd="0" presId="urn:microsoft.com/office/officeart/2005/8/layout/list1"/>
    <dgm:cxn modelId="{7E5F8F28-4035-43D9-903A-A68582F5D05F}" type="presParOf" srcId="{A267C751-44E7-4F6D-8E2A-2A1A41FE5568}" destId="{5E05635A-9BB9-434B-96FC-4B7917140607}" srcOrd="11" destOrd="0" presId="urn:microsoft.com/office/officeart/2005/8/layout/list1"/>
    <dgm:cxn modelId="{67441621-9452-4C06-B1C9-AFD24C077025}" type="presParOf" srcId="{A267C751-44E7-4F6D-8E2A-2A1A41FE5568}" destId="{A2F21A52-5B3B-46A3-8349-5CB3AFCADDF7}" srcOrd="12" destOrd="0" presId="urn:microsoft.com/office/officeart/2005/8/layout/list1"/>
    <dgm:cxn modelId="{9CC1CBBB-BA7F-4E01-9F61-0F39AE457C17}" type="presParOf" srcId="{A2F21A52-5B3B-46A3-8349-5CB3AFCADDF7}" destId="{42F8DB7A-DF1C-4F44-B61B-5E0E2E34F5F7}" srcOrd="0" destOrd="0" presId="urn:microsoft.com/office/officeart/2005/8/layout/list1"/>
    <dgm:cxn modelId="{11360A00-D3C1-404C-BEE2-62336735342A}" type="presParOf" srcId="{A2F21A52-5B3B-46A3-8349-5CB3AFCADDF7}" destId="{4CE14947-B1AC-4E0C-8D47-8EB05F57F9A5}" srcOrd="1" destOrd="0" presId="urn:microsoft.com/office/officeart/2005/8/layout/list1"/>
    <dgm:cxn modelId="{5BDF80E5-03D8-4A68-9AEE-315C8A2D0947}" type="presParOf" srcId="{A267C751-44E7-4F6D-8E2A-2A1A41FE5568}" destId="{46DBE27E-79B6-4E96-8953-AE9F80D24DB3}" srcOrd="13" destOrd="0" presId="urn:microsoft.com/office/officeart/2005/8/layout/list1"/>
    <dgm:cxn modelId="{1196CAA8-1F3D-404F-BA04-18F1C37BD220}" type="presParOf" srcId="{A267C751-44E7-4F6D-8E2A-2A1A41FE5568}" destId="{BC273AD1-18D0-494A-B0E5-94DD40280F31}"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125121-6EFF-4A1F-BBED-A74F9259E845}"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4AFA306C-C98F-4F53-AC71-15CDB7D662A8}">
      <dgm:prSet/>
      <dgm:spPr/>
      <dgm:t>
        <a:bodyPr/>
        <a:lstStyle/>
        <a:p>
          <a:pPr algn="just"/>
          <a:r>
            <a:rPr lang="en-US" dirty="0">
              <a:latin typeface="Times New Roman" panose="02020603050405020304" pitchFamily="18" charset="0"/>
              <a:cs typeface="Times New Roman" panose="02020603050405020304" pitchFamily="18" charset="0"/>
            </a:rPr>
            <a:t>The approach is similar to the R-CNN algorithm. But, instead of feeding the region proposals to the CNN, we feed the input image to the CNN to generate a convolutional feature map. From the convolutional feature map, we identify the region of proposals and warp them into squares and by using a </a:t>
          </a:r>
          <a:r>
            <a:rPr lang="en-US" dirty="0" err="1">
              <a:latin typeface="Times New Roman" panose="02020603050405020304" pitchFamily="18" charset="0"/>
              <a:cs typeface="Times New Roman" panose="02020603050405020304" pitchFamily="18" charset="0"/>
            </a:rPr>
            <a:t>RoI</a:t>
          </a:r>
          <a:r>
            <a:rPr lang="en-US" dirty="0">
              <a:latin typeface="Times New Roman" panose="02020603050405020304" pitchFamily="18" charset="0"/>
              <a:cs typeface="Times New Roman" panose="02020603050405020304" pitchFamily="18" charset="0"/>
            </a:rPr>
            <a:t> pooling layer we reshape them into a fixed size so that it can be fed into a fully connected layer. From the </a:t>
          </a:r>
          <a:r>
            <a:rPr lang="en-US" dirty="0" err="1">
              <a:latin typeface="Times New Roman" panose="02020603050405020304" pitchFamily="18" charset="0"/>
              <a:cs typeface="Times New Roman" panose="02020603050405020304" pitchFamily="18" charset="0"/>
            </a:rPr>
            <a:t>RoI</a:t>
          </a:r>
          <a:r>
            <a:rPr lang="en-US" dirty="0">
              <a:latin typeface="Times New Roman" panose="02020603050405020304" pitchFamily="18" charset="0"/>
              <a:cs typeface="Times New Roman" panose="02020603050405020304" pitchFamily="18" charset="0"/>
            </a:rPr>
            <a:t> feature vector, we use a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layer to predict the class of the proposed region and also the offset values for the bounding box.</a:t>
          </a:r>
        </a:p>
      </dgm:t>
    </dgm:pt>
    <dgm:pt modelId="{2088D4E8-1969-4B5D-8842-ED80FA2E8528}" type="parTrans" cxnId="{1CA7B4C6-4C68-4DB5-BA91-AECAAC930AB4}">
      <dgm:prSet/>
      <dgm:spPr/>
      <dgm:t>
        <a:bodyPr/>
        <a:lstStyle/>
        <a:p>
          <a:endParaRPr lang="en-US"/>
        </a:p>
      </dgm:t>
    </dgm:pt>
    <dgm:pt modelId="{02FD19E9-4D39-4E75-B213-5AB66251630B}" type="sibTrans" cxnId="{1CA7B4C6-4C68-4DB5-BA91-AECAAC930AB4}">
      <dgm:prSet/>
      <dgm:spPr/>
      <dgm:t>
        <a:bodyPr/>
        <a:lstStyle/>
        <a:p>
          <a:endParaRPr lang="en-US"/>
        </a:p>
      </dgm:t>
    </dgm:pt>
    <dgm:pt modelId="{4646B0C5-43BF-4AD9-9EB9-3771C61C8093}">
      <dgm:prSet/>
      <dgm:spPr/>
      <dgm:t>
        <a:bodyPr/>
        <a:lstStyle/>
        <a:p>
          <a:pPr algn="just"/>
          <a:r>
            <a:rPr lang="en-US" dirty="0">
              <a:latin typeface="Times New Roman" panose="02020603050405020304" pitchFamily="18" charset="0"/>
              <a:cs typeface="Times New Roman" panose="02020603050405020304" pitchFamily="18" charset="0"/>
            </a:rPr>
            <a:t>The reason “Fast R-CNN” is faster than R-CNN is because you don’t have to feed 2000 region proposals to the convolutional neural network every time. Instead, the convolution operation is done only once per image and a feature map is generated from it.</a:t>
          </a:r>
        </a:p>
      </dgm:t>
    </dgm:pt>
    <dgm:pt modelId="{DE1A3C88-09D0-481B-90CE-37162A3A0A90}" type="parTrans" cxnId="{5AA1C13E-A04A-4A09-A529-24E91D1EE55C}">
      <dgm:prSet/>
      <dgm:spPr/>
      <dgm:t>
        <a:bodyPr/>
        <a:lstStyle/>
        <a:p>
          <a:endParaRPr lang="en-US"/>
        </a:p>
      </dgm:t>
    </dgm:pt>
    <dgm:pt modelId="{1034C737-70E9-4E2D-BA21-C665446247A3}" type="sibTrans" cxnId="{5AA1C13E-A04A-4A09-A529-24E91D1EE55C}">
      <dgm:prSet/>
      <dgm:spPr/>
      <dgm:t>
        <a:bodyPr/>
        <a:lstStyle/>
        <a:p>
          <a:endParaRPr lang="en-US"/>
        </a:p>
      </dgm:t>
    </dgm:pt>
    <dgm:pt modelId="{0A9D0645-D40A-4228-96FD-579C25F70F40}" type="pres">
      <dgm:prSet presAssocID="{7E125121-6EFF-4A1F-BBED-A74F9259E845}" presName="vert0" presStyleCnt="0">
        <dgm:presLayoutVars>
          <dgm:dir/>
          <dgm:animOne val="branch"/>
          <dgm:animLvl val="lvl"/>
        </dgm:presLayoutVars>
      </dgm:prSet>
      <dgm:spPr/>
    </dgm:pt>
    <dgm:pt modelId="{92882825-5452-49BE-9885-A42817668C1C}" type="pres">
      <dgm:prSet presAssocID="{4AFA306C-C98F-4F53-AC71-15CDB7D662A8}" presName="thickLine" presStyleLbl="alignNode1" presStyleIdx="0" presStyleCnt="2"/>
      <dgm:spPr/>
    </dgm:pt>
    <dgm:pt modelId="{9C4F6E02-760F-41EB-AA57-F8144AD244FF}" type="pres">
      <dgm:prSet presAssocID="{4AFA306C-C98F-4F53-AC71-15CDB7D662A8}" presName="horz1" presStyleCnt="0"/>
      <dgm:spPr/>
    </dgm:pt>
    <dgm:pt modelId="{EB3E9EDB-FEAD-4307-8592-77CB0BC05BEE}" type="pres">
      <dgm:prSet presAssocID="{4AFA306C-C98F-4F53-AC71-15CDB7D662A8}" presName="tx1" presStyleLbl="revTx" presStyleIdx="0" presStyleCnt="2"/>
      <dgm:spPr/>
    </dgm:pt>
    <dgm:pt modelId="{7A39C4D3-0CF4-4C50-AF0B-096400D199D7}" type="pres">
      <dgm:prSet presAssocID="{4AFA306C-C98F-4F53-AC71-15CDB7D662A8}" presName="vert1" presStyleCnt="0"/>
      <dgm:spPr/>
    </dgm:pt>
    <dgm:pt modelId="{CEA7DE41-6DA4-4203-8EB9-B5C1B9EB336F}" type="pres">
      <dgm:prSet presAssocID="{4646B0C5-43BF-4AD9-9EB9-3771C61C8093}" presName="thickLine" presStyleLbl="alignNode1" presStyleIdx="1" presStyleCnt="2"/>
      <dgm:spPr/>
    </dgm:pt>
    <dgm:pt modelId="{350E78E1-E701-41A3-9884-181B276ADDD2}" type="pres">
      <dgm:prSet presAssocID="{4646B0C5-43BF-4AD9-9EB9-3771C61C8093}" presName="horz1" presStyleCnt="0"/>
      <dgm:spPr/>
    </dgm:pt>
    <dgm:pt modelId="{AA98C2E7-E54A-4FDA-AA31-B6BA409D3DCA}" type="pres">
      <dgm:prSet presAssocID="{4646B0C5-43BF-4AD9-9EB9-3771C61C8093}" presName="tx1" presStyleLbl="revTx" presStyleIdx="1" presStyleCnt="2"/>
      <dgm:spPr/>
    </dgm:pt>
    <dgm:pt modelId="{4C93A332-6563-471D-9A64-CFBB108C03B1}" type="pres">
      <dgm:prSet presAssocID="{4646B0C5-43BF-4AD9-9EB9-3771C61C8093}" presName="vert1" presStyleCnt="0"/>
      <dgm:spPr/>
    </dgm:pt>
  </dgm:ptLst>
  <dgm:cxnLst>
    <dgm:cxn modelId="{8E5DBC0A-C5EF-4ACE-8902-456DFEA83CCD}" type="presOf" srcId="{4646B0C5-43BF-4AD9-9EB9-3771C61C8093}" destId="{AA98C2E7-E54A-4FDA-AA31-B6BA409D3DCA}" srcOrd="0" destOrd="0" presId="urn:microsoft.com/office/officeart/2008/layout/LinedList"/>
    <dgm:cxn modelId="{5AA1C13E-A04A-4A09-A529-24E91D1EE55C}" srcId="{7E125121-6EFF-4A1F-BBED-A74F9259E845}" destId="{4646B0C5-43BF-4AD9-9EB9-3771C61C8093}" srcOrd="1" destOrd="0" parTransId="{DE1A3C88-09D0-481B-90CE-37162A3A0A90}" sibTransId="{1034C737-70E9-4E2D-BA21-C665446247A3}"/>
    <dgm:cxn modelId="{1CA7B4C6-4C68-4DB5-BA91-AECAAC930AB4}" srcId="{7E125121-6EFF-4A1F-BBED-A74F9259E845}" destId="{4AFA306C-C98F-4F53-AC71-15CDB7D662A8}" srcOrd="0" destOrd="0" parTransId="{2088D4E8-1969-4B5D-8842-ED80FA2E8528}" sibTransId="{02FD19E9-4D39-4E75-B213-5AB66251630B}"/>
    <dgm:cxn modelId="{319B5DD0-2A74-4082-8423-A86ED6669A55}" type="presOf" srcId="{7E125121-6EFF-4A1F-BBED-A74F9259E845}" destId="{0A9D0645-D40A-4228-96FD-579C25F70F40}" srcOrd="0" destOrd="0" presId="urn:microsoft.com/office/officeart/2008/layout/LinedList"/>
    <dgm:cxn modelId="{9A2CD7DF-2F86-462A-BCE7-AE46A949128A}" type="presOf" srcId="{4AFA306C-C98F-4F53-AC71-15CDB7D662A8}" destId="{EB3E9EDB-FEAD-4307-8592-77CB0BC05BEE}" srcOrd="0" destOrd="0" presId="urn:microsoft.com/office/officeart/2008/layout/LinedList"/>
    <dgm:cxn modelId="{2DD1CFED-9174-4912-8A55-A41760FFA889}" type="presParOf" srcId="{0A9D0645-D40A-4228-96FD-579C25F70F40}" destId="{92882825-5452-49BE-9885-A42817668C1C}" srcOrd="0" destOrd="0" presId="urn:microsoft.com/office/officeart/2008/layout/LinedList"/>
    <dgm:cxn modelId="{C957A416-C8C6-4885-8CA0-E35BAC898296}" type="presParOf" srcId="{0A9D0645-D40A-4228-96FD-579C25F70F40}" destId="{9C4F6E02-760F-41EB-AA57-F8144AD244FF}" srcOrd="1" destOrd="0" presId="urn:microsoft.com/office/officeart/2008/layout/LinedList"/>
    <dgm:cxn modelId="{F723F3A3-CD73-4D2B-A98A-0D661D99AE09}" type="presParOf" srcId="{9C4F6E02-760F-41EB-AA57-F8144AD244FF}" destId="{EB3E9EDB-FEAD-4307-8592-77CB0BC05BEE}" srcOrd="0" destOrd="0" presId="urn:microsoft.com/office/officeart/2008/layout/LinedList"/>
    <dgm:cxn modelId="{9B9A214A-939A-4282-9ED2-E4E335601BBE}" type="presParOf" srcId="{9C4F6E02-760F-41EB-AA57-F8144AD244FF}" destId="{7A39C4D3-0CF4-4C50-AF0B-096400D199D7}" srcOrd="1" destOrd="0" presId="urn:microsoft.com/office/officeart/2008/layout/LinedList"/>
    <dgm:cxn modelId="{0945C5AF-7021-4A2A-91F1-1E888ED6E9F5}" type="presParOf" srcId="{0A9D0645-D40A-4228-96FD-579C25F70F40}" destId="{CEA7DE41-6DA4-4203-8EB9-B5C1B9EB336F}" srcOrd="2" destOrd="0" presId="urn:microsoft.com/office/officeart/2008/layout/LinedList"/>
    <dgm:cxn modelId="{32FC535A-E275-4A8C-8DCB-6376780AF0F0}" type="presParOf" srcId="{0A9D0645-D40A-4228-96FD-579C25F70F40}" destId="{350E78E1-E701-41A3-9884-181B276ADDD2}" srcOrd="3" destOrd="0" presId="urn:microsoft.com/office/officeart/2008/layout/LinedList"/>
    <dgm:cxn modelId="{E676EBEA-0203-4F90-9DA2-E021F1ECE8CD}" type="presParOf" srcId="{350E78E1-E701-41A3-9884-181B276ADDD2}" destId="{AA98C2E7-E54A-4FDA-AA31-B6BA409D3DCA}" srcOrd="0" destOrd="0" presId="urn:microsoft.com/office/officeart/2008/layout/LinedList"/>
    <dgm:cxn modelId="{E5B21B6A-D85B-4961-9CEB-063A60ADC221}" type="presParOf" srcId="{350E78E1-E701-41A3-9884-181B276ADDD2}" destId="{4C93A332-6563-471D-9A64-CFBB108C03B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31D855-6134-42F3-A488-651BBC0A6C5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E8844F-E8A1-4483-85CF-B9796D9CDCCA}">
      <dgm:prSet/>
      <dgm:spPr/>
      <dgm:t>
        <a:bodyPr/>
        <a:lstStyle/>
        <a:p>
          <a:r>
            <a:rPr lang="en-US"/>
            <a:t>Backbone Network</a:t>
          </a:r>
        </a:p>
      </dgm:t>
    </dgm:pt>
    <dgm:pt modelId="{E74A1687-A147-44AE-BD7C-00E8EF0684E4}" type="parTrans" cxnId="{77DE03BA-08E1-4E5C-A146-053C87BEEBC6}">
      <dgm:prSet/>
      <dgm:spPr/>
      <dgm:t>
        <a:bodyPr/>
        <a:lstStyle/>
        <a:p>
          <a:endParaRPr lang="en-US"/>
        </a:p>
      </dgm:t>
    </dgm:pt>
    <dgm:pt modelId="{68119070-63A1-4ABE-98D1-1C25F19ABDC1}" type="sibTrans" cxnId="{77DE03BA-08E1-4E5C-A146-053C87BEEBC6}">
      <dgm:prSet/>
      <dgm:spPr/>
      <dgm:t>
        <a:bodyPr/>
        <a:lstStyle/>
        <a:p>
          <a:endParaRPr lang="en-US"/>
        </a:p>
      </dgm:t>
    </dgm:pt>
    <dgm:pt modelId="{D6CF4A61-9066-4ADC-ACEA-124B110D4CDE}">
      <dgm:prSet/>
      <dgm:spPr/>
      <dgm:t>
        <a:bodyPr/>
        <a:lstStyle/>
        <a:p>
          <a:r>
            <a:rPr lang="en-US"/>
            <a:t>Region Proposal Network (RPN)</a:t>
          </a:r>
        </a:p>
      </dgm:t>
    </dgm:pt>
    <dgm:pt modelId="{C0B28BE3-B01A-494C-BB56-01F5DD1E7C72}" type="parTrans" cxnId="{4642130A-2C6C-4BBB-8EEE-2A489FF9EBF3}">
      <dgm:prSet/>
      <dgm:spPr/>
      <dgm:t>
        <a:bodyPr/>
        <a:lstStyle/>
        <a:p>
          <a:endParaRPr lang="en-US"/>
        </a:p>
      </dgm:t>
    </dgm:pt>
    <dgm:pt modelId="{16665BAE-D1AE-4F65-B49F-C51BB8E8DD21}" type="sibTrans" cxnId="{4642130A-2C6C-4BBB-8EEE-2A489FF9EBF3}">
      <dgm:prSet/>
      <dgm:spPr/>
      <dgm:t>
        <a:bodyPr/>
        <a:lstStyle/>
        <a:p>
          <a:endParaRPr lang="en-US"/>
        </a:p>
      </dgm:t>
    </dgm:pt>
    <dgm:pt modelId="{135BE4EA-F17C-4E9F-A239-FDC2328D549B}">
      <dgm:prSet/>
      <dgm:spPr/>
      <dgm:t>
        <a:bodyPr/>
        <a:lstStyle/>
        <a:p>
          <a:r>
            <a:rPr lang="en-US"/>
            <a:t>Region of Interest(RoI) Pooling</a:t>
          </a:r>
        </a:p>
      </dgm:t>
    </dgm:pt>
    <dgm:pt modelId="{41D93990-06C0-4A35-893C-F3C52BD95299}" type="parTrans" cxnId="{E7AA3FE2-A60B-4430-9F7F-9A3DD90DAED7}">
      <dgm:prSet/>
      <dgm:spPr/>
      <dgm:t>
        <a:bodyPr/>
        <a:lstStyle/>
        <a:p>
          <a:endParaRPr lang="en-US"/>
        </a:p>
      </dgm:t>
    </dgm:pt>
    <dgm:pt modelId="{AACB8ED8-52A2-42AC-BECF-552EE688A66E}" type="sibTrans" cxnId="{E7AA3FE2-A60B-4430-9F7F-9A3DD90DAED7}">
      <dgm:prSet/>
      <dgm:spPr/>
      <dgm:t>
        <a:bodyPr/>
        <a:lstStyle/>
        <a:p>
          <a:endParaRPr lang="en-US"/>
        </a:p>
      </dgm:t>
    </dgm:pt>
    <dgm:pt modelId="{F8975109-B9EA-49B1-841C-5F4FF6F5101D}">
      <dgm:prSet/>
      <dgm:spPr/>
      <dgm:t>
        <a:bodyPr/>
        <a:lstStyle/>
        <a:p>
          <a:r>
            <a:rPr lang="en-US"/>
            <a:t>Detection Network</a:t>
          </a:r>
        </a:p>
      </dgm:t>
    </dgm:pt>
    <dgm:pt modelId="{B8CD1909-8FA2-4F03-B563-6F705AAE411C}" type="parTrans" cxnId="{F740E585-E757-4789-8D31-C6E27A11601E}">
      <dgm:prSet/>
      <dgm:spPr/>
      <dgm:t>
        <a:bodyPr/>
        <a:lstStyle/>
        <a:p>
          <a:endParaRPr lang="en-US"/>
        </a:p>
      </dgm:t>
    </dgm:pt>
    <dgm:pt modelId="{AC259B50-FB91-4C5A-B0CE-3D23E7825447}" type="sibTrans" cxnId="{F740E585-E757-4789-8D31-C6E27A11601E}">
      <dgm:prSet/>
      <dgm:spPr/>
      <dgm:t>
        <a:bodyPr/>
        <a:lstStyle/>
        <a:p>
          <a:endParaRPr lang="en-US"/>
        </a:p>
      </dgm:t>
    </dgm:pt>
    <dgm:pt modelId="{6A4B1086-80FA-4585-B123-A04825777F79}" type="pres">
      <dgm:prSet presAssocID="{8431D855-6134-42F3-A488-651BBC0A6C5E}" presName="root" presStyleCnt="0">
        <dgm:presLayoutVars>
          <dgm:dir/>
          <dgm:resizeHandles val="exact"/>
        </dgm:presLayoutVars>
      </dgm:prSet>
      <dgm:spPr/>
    </dgm:pt>
    <dgm:pt modelId="{BC01E2AE-6928-4C74-AA1A-F4969526C810}" type="pres">
      <dgm:prSet presAssocID="{9FE8844F-E8A1-4483-85CF-B9796D9CDCCA}" presName="compNode" presStyleCnt="0"/>
      <dgm:spPr/>
    </dgm:pt>
    <dgm:pt modelId="{00B2CECC-37F9-4145-8EE8-6DE2C8D65CD6}" type="pres">
      <dgm:prSet presAssocID="{9FE8844F-E8A1-4483-85CF-B9796D9CDCCA}" presName="bgRect" presStyleLbl="bgShp" presStyleIdx="0" presStyleCnt="4"/>
      <dgm:spPr/>
    </dgm:pt>
    <dgm:pt modelId="{22439DCD-1BC4-4BD0-898A-BADE659ACD71}" type="pres">
      <dgm:prSet presAssocID="{9FE8844F-E8A1-4483-85CF-B9796D9CDCC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F0A5BC21-DA31-492E-9491-94E7F11BB6AC}" type="pres">
      <dgm:prSet presAssocID="{9FE8844F-E8A1-4483-85CF-B9796D9CDCCA}" presName="spaceRect" presStyleCnt="0"/>
      <dgm:spPr/>
    </dgm:pt>
    <dgm:pt modelId="{91929DC8-786D-4B65-8878-573A728136B4}" type="pres">
      <dgm:prSet presAssocID="{9FE8844F-E8A1-4483-85CF-B9796D9CDCCA}" presName="parTx" presStyleLbl="revTx" presStyleIdx="0" presStyleCnt="4">
        <dgm:presLayoutVars>
          <dgm:chMax val="0"/>
          <dgm:chPref val="0"/>
        </dgm:presLayoutVars>
      </dgm:prSet>
      <dgm:spPr/>
    </dgm:pt>
    <dgm:pt modelId="{086FA2D8-9292-477A-935A-3FBD9E00565C}" type="pres">
      <dgm:prSet presAssocID="{68119070-63A1-4ABE-98D1-1C25F19ABDC1}" presName="sibTrans" presStyleCnt="0"/>
      <dgm:spPr/>
    </dgm:pt>
    <dgm:pt modelId="{C3758E4F-5AAF-4938-B2D8-AFC1084D0EE1}" type="pres">
      <dgm:prSet presAssocID="{D6CF4A61-9066-4ADC-ACEA-124B110D4CDE}" presName="compNode" presStyleCnt="0"/>
      <dgm:spPr/>
    </dgm:pt>
    <dgm:pt modelId="{E7F91AEE-2190-4F74-9E34-5B17108DB966}" type="pres">
      <dgm:prSet presAssocID="{D6CF4A61-9066-4ADC-ACEA-124B110D4CDE}" presName="bgRect" presStyleLbl="bgShp" presStyleIdx="1" presStyleCnt="4"/>
      <dgm:spPr/>
    </dgm:pt>
    <dgm:pt modelId="{00E848E8-4E22-46CC-8A23-986EE3913222}" type="pres">
      <dgm:prSet presAssocID="{D6CF4A61-9066-4ADC-ACEA-124B110D4CD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D524690B-F2CB-4F68-99B2-D0C0389EED88}" type="pres">
      <dgm:prSet presAssocID="{D6CF4A61-9066-4ADC-ACEA-124B110D4CDE}" presName="spaceRect" presStyleCnt="0"/>
      <dgm:spPr/>
    </dgm:pt>
    <dgm:pt modelId="{F0A8637A-53CE-48F4-B62F-00120E9D8E1D}" type="pres">
      <dgm:prSet presAssocID="{D6CF4A61-9066-4ADC-ACEA-124B110D4CDE}" presName="parTx" presStyleLbl="revTx" presStyleIdx="1" presStyleCnt="4">
        <dgm:presLayoutVars>
          <dgm:chMax val="0"/>
          <dgm:chPref val="0"/>
        </dgm:presLayoutVars>
      </dgm:prSet>
      <dgm:spPr/>
    </dgm:pt>
    <dgm:pt modelId="{4BBBC748-7AB0-4068-9C13-D1E27CEFF722}" type="pres">
      <dgm:prSet presAssocID="{16665BAE-D1AE-4F65-B49F-C51BB8E8DD21}" presName="sibTrans" presStyleCnt="0"/>
      <dgm:spPr/>
    </dgm:pt>
    <dgm:pt modelId="{7F9026EB-05F2-42D1-A859-3400A66BB522}" type="pres">
      <dgm:prSet presAssocID="{135BE4EA-F17C-4E9F-A239-FDC2328D549B}" presName="compNode" presStyleCnt="0"/>
      <dgm:spPr/>
    </dgm:pt>
    <dgm:pt modelId="{6C61D5DC-A586-4AA3-8D57-27C3CE27BB85}" type="pres">
      <dgm:prSet presAssocID="{135BE4EA-F17C-4E9F-A239-FDC2328D549B}" presName="bgRect" presStyleLbl="bgShp" presStyleIdx="2" presStyleCnt="4"/>
      <dgm:spPr/>
    </dgm:pt>
    <dgm:pt modelId="{CA52CBF8-89B6-447A-89B9-39B1C978B5E0}" type="pres">
      <dgm:prSet presAssocID="{135BE4EA-F17C-4E9F-A239-FDC2328D549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itcoin"/>
        </a:ext>
      </dgm:extLst>
    </dgm:pt>
    <dgm:pt modelId="{219A0156-A363-4F65-BCC9-AFA4F09FB789}" type="pres">
      <dgm:prSet presAssocID="{135BE4EA-F17C-4E9F-A239-FDC2328D549B}" presName="spaceRect" presStyleCnt="0"/>
      <dgm:spPr/>
    </dgm:pt>
    <dgm:pt modelId="{B76E2983-8524-4C9D-BB36-4C5E7E5364E6}" type="pres">
      <dgm:prSet presAssocID="{135BE4EA-F17C-4E9F-A239-FDC2328D549B}" presName="parTx" presStyleLbl="revTx" presStyleIdx="2" presStyleCnt="4">
        <dgm:presLayoutVars>
          <dgm:chMax val="0"/>
          <dgm:chPref val="0"/>
        </dgm:presLayoutVars>
      </dgm:prSet>
      <dgm:spPr/>
    </dgm:pt>
    <dgm:pt modelId="{6F642AE7-6164-426C-B51C-6CFBBECA512F}" type="pres">
      <dgm:prSet presAssocID="{AACB8ED8-52A2-42AC-BECF-552EE688A66E}" presName="sibTrans" presStyleCnt="0"/>
      <dgm:spPr/>
    </dgm:pt>
    <dgm:pt modelId="{798D3E6A-AFD7-44F7-8096-DE4F659FFB94}" type="pres">
      <dgm:prSet presAssocID="{F8975109-B9EA-49B1-841C-5F4FF6F5101D}" presName="compNode" presStyleCnt="0"/>
      <dgm:spPr/>
    </dgm:pt>
    <dgm:pt modelId="{82DA9C41-CC54-43E1-A95B-3D4396AC966A}" type="pres">
      <dgm:prSet presAssocID="{F8975109-B9EA-49B1-841C-5F4FF6F5101D}" presName="bgRect" presStyleLbl="bgShp" presStyleIdx="3" presStyleCnt="4"/>
      <dgm:spPr/>
    </dgm:pt>
    <dgm:pt modelId="{9B047ABE-A942-4D6A-896F-521F72F4EA36}" type="pres">
      <dgm:prSet presAssocID="{F8975109-B9EA-49B1-841C-5F4FF6F5101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ireless router"/>
        </a:ext>
      </dgm:extLst>
    </dgm:pt>
    <dgm:pt modelId="{30EB7ED6-BEF1-4BE3-A67D-C146D3F28CE7}" type="pres">
      <dgm:prSet presAssocID="{F8975109-B9EA-49B1-841C-5F4FF6F5101D}" presName="spaceRect" presStyleCnt="0"/>
      <dgm:spPr/>
    </dgm:pt>
    <dgm:pt modelId="{44BE431B-2931-4C5A-8371-6ECB0347333D}" type="pres">
      <dgm:prSet presAssocID="{F8975109-B9EA-49B1-841C-5F4FF6F5101D}" presName="parTx" presStyleLbl="revTx" presStyleIdx="3" presStyleCnt="4">
        <dgm:presLayoutVars>
          <dgm:chMax val="0"/>
          <dgm:chPref val="0"/>
        </dgm:presLayoutVars>
      </dgm:prSet>
      <dgm:spPr/>
    </dgm:pt>
  </dgm:ptLst>
  <dgm:cxnLst>
    <dgm:cxn modelId="{4642130A-2C6C-4BBB-8EEE-2A489FF9EBF3}" srcId="{8431D855-6134-42F3-A488-651BBC0A6C5E}" destId="{D6CF4A61-9066-4ADC-ACEA-124B110D4CDE}" srcOrd="1" destOrd="0" parTransId="{C0B28BE3-B01A-494C-BB56-01F5DD1E7C72}" sibTransId="{16665BAE-D1AE-4F65-B49F-C51BB8E8DD21}"/>
    <dgm:cxn modelId="{F437C420-AA48-416E-A0A2-56708AE96109}" type="presOf" srcId="{135BE4EA-F17C-4E9F-A239-FDC2328D549B}" destId="{B76E2983-8524-4C9D-BB36-4C5E7E5364E6}" srcOrd="0" destOrd="0" presId="urn:microsoft.com/office/officeart/2018/2/layout/IconVerticalSolidList"/>
    <dgm:cxn modelId="{C9D25D3E-50F3-4CC9-A23B-99D82F6FAD4A}" type="presOf" srcId="{F8975109-B9EA-49B1-841C-5F4FF6F5101D}" destId="{44BE431B-2931-4C5A-8371-6ECB0347333D}" srcOrd="0" destOrd="0" presId="urn:microsoft.com/office/officeart/2018/2/layout/IconVerticalSolidList"/>
    <dgm:cxn modelId="{F740E585-E757-4789-8D31-C6E27A11601E}" srcId="{8431D855-6134-42F3-A488-651BBC0A6C5E}" destId="{F8975109-B9EA-49B1-841C-5F4FF6F5101D}" srcOrd="3" destOrd="0" parTransId="{B8CD1909-8FA2-4F03-B563-6F705AAE411C}" sibTransId="{AC259B50-FB91-4C5A-B0CE-3D23E7825447}"/>
    <dgm:cxn modelId="{56A5379F-2055-4871-B36F-82782FF86AD7}" type="presOf" srcId="{D6CF4A61-9066-4ADC-ACEA-124B110D4CDE}" destId="{F0A8637A-53CE-48F4-B62F-00120E9D8E1D}" srcOrd="0" destOrd="0" presId="urn:microsoft.com/office/officeart/2018/2/layout/IconVerticalSolidList"/>
    <dgm:cxn modelId="{77DE03BA-08E1-4E5C-A146-053C87BEEBC6}" srcId="{8431D855-6134-42F3-A488-651BBC0A6C5E}" destId="{9FE8844F-E8A1-4483-85CF-B9796D9CDCCA}" srcOrd="0" destOrd="0" parTransId="{E74A1687-A147-44AE-BD7C-00E8EF0684E4}" sibTransId="{68119070-63A1-4ABE-98D1-1C25F19ABDC1}"/>
    <dgm:cxn modelId="{E7AA3FE2-A60B-4430-9F7F-9A3DD90DAED7}" srcId="{8431D855-6134-42F3-A488-651BBC0A6C5E}" destId="{135BE4EA-F17C-4E9F-A239-FDC2328D549B}" srcOrd="2" destOrd="0" parTransId="{41D93990-06C0-4A35-893C-F3C52BD95299}" sibTransId="{AACB8ED8-52A2-42AC-BECF-552EE688A66E}"/>
    <dgm:cxn modelId="{46B210F0-543E-4BD4-B2AA-9CBD1A8B70B5}" type="presOf" srcId="{9FE8844F-E8A1-4483-85CF-B9796D9CDCCA}" destId="{91929DC8-786D-4B65-8878-573A728136B4}" srcOrd="0" destOrd="0" presId="urn:microsoft.com/office/officeart/2018/2/layout/IconVerticalSolidList"/>
    <dgm:cxn modelId="{83194AF1-D21B-47B5-93F9-EC17B0F4DFD1}" type="presOf" srcId="{8431D855-6134-42F3-A488-651BBC0A6C5E}" destId="{6A4B1086-80FA-4585-B123-A04825777F79}" srcOrd="0" destOrd="0" presId="urn:microsoft.com/office/officeart/2018/2/layout/IconVerticalSolidList"/>
    <dgm:cxn modelId="{535D2070-02BD-45C0-80A9-DD6455C226B3}" type="presParOf" srcId="{6A4B1086-80FA-4585-B123-A04825777F79}" destId="{BC01E2AE-6928-4C74-AA1A-F4969526C810}" srcOrd="0" destOrd="0" presId="urn:microsoft.com/office/officeart/2018/2/layout/IconVerticalSolidList"/>
    <dgm:cxn modelId="{3D9C8AC9-191F-421C-9205-B8B9E189906E}" type="presParOf" srcId="{BC01E2AE-6928-4C74-AA1A-F4969526C810}" destId="{00B2CECC-37F9-4145-8EE8-6DE2C8D65CD6}" srcOrd="0" destOrd="0" presId="urn:microsoft.com/office/officeart/2018/2/layout/IconVerticalSolidList"/>
    <dgm:cxn modelId="{DBF19E4B-923D-430F-972C-271CECB50D42}" type="presParOf" srcId="{BC01E2AE-6928-4C74-AA1A-F4969526C810}" destId="{22439DCD-1BC4-4BD0-898A-BADE659ACD71}" srcOrd="1" destOrd="0" presId="urn:microsoft.com/office/officeart/2018/2/layout/IconVerticalSolidList"/>
    <dgm:cxn modelId="{9B97FF2A-CFB4-45B1-864A-0279EDA88973}" type="presParOf" srcId="{BC01E2AE-6928-4C74-AA1A-F4969526C810}" destId="{F0A5BC21-DA31-492E-9491-94E7F11BB6AC}" srcOrd="2" destOrd="0" presId="urn:microsoft.com/office/officeart/2018/2/layout/IconVerticalSolidList"/>
    <dgm:cxn modelId="{2141DBA5-E460-4043-B78F-700BA4667DD0}" type="presParOf" srcId="{BC01E2AE-6928-4C74-AA1A-F4969526C810}" destId="{91929DC8-786D-4B65-8878-573A728136B4}" srcOrd="3" destOrd="0" presId="urn:microsoft.com/office/officeart/2018/2/layout/IconVerticalSolidList"/>
    <dgm:cxn modelId="{045CB6A1-3911-4127-8457-8D51065412C3}" type="presParOf" srcId="{6A4B1086-80FA-4585-B123-A04825777F79}" destId="{086FA2D8-9292-477A-935A-3FBD9E00565C}" srcOrd="1" destOrd="0" presId="urn:microsoft.com/office/officeart/2018/2/layout/IconVerticalSolidList"/>
    <dgm:cxn modelId="{0ED7C2C4-E0B4-4C8F-9028-56FA21900B5A}" type="presParOf" srcId="{6A4B1086-80FA-4585-B123-A04825777F79}" destId="{C3758E4F-5AAF-4938-B2D8-AFC1084D0EE1}" srcOrd="2" destOrd="0" presId="urn:microsoft.com/office/officeart/2018/2/layout/IconVerticalSolidList"/>
    <dgm:cxn modelId="{14D03F66-4CAE-46C2-AE2B-31C9E0DFA739}" type="presParOf" srcId="{C3758E4F-5AAF-4938-B2D8-AFC1084D0EE1}" destId="{E7F91AEE-2190-4F74-9E34-5B17108DB966}" srcOrd="0" destOrd="0" presId="urn:microsoft.com/office/officeart/2018/2/layout/IconVerticalSolidList"/>
    <dgm:cxn modelId="{758FEC62-3429-4541-BBAA-B7184A1CED7B}" type="presParOf" srcId="{C3758E4F-5AAF-4938-B2D8-AFC1084D0EE1}" destId="{00E848E8-4E22-46CC-8A23-986EE3913222}" srcOrd="1" destOrd="0" presId="urn:microsoft.com/office/officeart/2018/2/layout/IconVerticalSolidList"/>
    <dgm:cxn modelId="{8C7A767B-3BF8-478E-8257-5687D0B3BA70}" type="presParOf" srcId="{C3758E4F-5AAF-4938-B2D8-AFC1084D0EE1}" destId="{D524690B-F2CB-4F68-99B2-D0C0389EED88}" srcOrd="2" destOrd="0" presId="urn:microsoft.com/office/officeart/2018/2/layout/IconVerticalSolidList"/>
    <dgm:cxn modelId="{FB197CBA-3F5E-4868-9AEF-FEB4FF9253A1}" type="presParOf" srcId="{C3758E4F-5AAF-4938-B2D8-AFC1084D0EE1}" destId="{F0A8637A-53CE-48F4-B62F-00120E9D8E1D}" srcOrd="3" destOrd="0" presId="urn:microsoft.com/office/officeart/2018/2/layout/IconVerticalSolidList"/>
    <dgm:cxn modelId="{C0009BB8-A553-43C8-AF2C-B028DB37623F}" type="presParOf" srcId="{6A4B1086-80FA-4585-B123-A04825777F79}" destId="{4BBBC748-7AB0-4068-9C13-D1E27CEFF722}" srcOrd="3" destOrd="0" presId="urn:microsoft.com/office/officeart/2018/2/layout/IconVerticalSolidList"/>
    <dgm:cxn modelId="{819A775D-5378-4848-8123-8B586F066F70}" type="presParOf" srcId="{6A4B1086-80FA-4585-B123-A04825777F79}" destId="{7F9026EB-05F2-42D1-A859-3400A66BB522}" srcOrd="4" destOrd="0" presId="urn:microsoft.com/office/officeart/2018/2/layout/IconVerticalSolidList"/>
    <dgm:cxn modelId="{94B61035-305F-410C-A9DB-24257891821B}" type="presParOf" srcId="{7F9026EB-05F2-42D1-A859-3400A66BB522}" destId="{6C61D5DC-A586-4AA3-8D57-27C3CE27BB85}" srcOrd="0" destOrd="0" presId="urn:microsoft.com/office/officeart/2018/2/layout/IconVerticalSolidList"/>
    <dgm:cxn modelId="{9AD1F9C4-A4D8-4277-8F1E-DF44803B539E}" type="presParOf" srcId="{7F9026EB-05F2-42D1-A859-3400A66BB522}" destId="{CA52CBF8-89B6-447A-89B9-39B1C978B5E0}" srcOrd="1" destOrd="0" presId="urn:microsoft.com/office/officeart/2018/2/layout/IconVerticalSolidList"/>
    <dgm:cxn modelId="{CF4D0520-9435-4300-8690-4B6E99DA5728}" type="presParOf" srcId="{7F9026EB-05F2-42D1-A859-3400A66BB522}" destId="{219A0156-A363-4F65-BCC9-AFA4F09FB789}" srcOrd="2" destOrd="0" presId="urn:microsoft.com/office/officeart/2018/2/layout/IconVerticalSolidList"/>
    <dgm:cxn modelId="{7AD83DDA-F9A8-4A9A-AD2D-76F20B24745A}" type="presParOf" srcId="{7F9026EB-05F2-42D1-A859-3400A66BB522}" destId="{B76E2983-8524-4C9D-BB36-4C5E7E5364E6}" srcOrd="3" destOrd="0" presId="urn:microsoft.com/office/officeart/2018/2/layout/IconVerticalSolidList"/>
    <dgm:cxn modelId="{87F2EE3B-A027-45AA-8900-D89550618DDD}" type="presParOf" srcId="{6A4B1086-80FA-4585-B123-A04825777F79}" destId="{6F642AE7-6164-426C-B51C-6CFBBECA512F}" srcOrd="5" destOrd="0" presId="urn:microsoft.com/office/officeart/2018/2/layout/IconVerticalSolidList"/>
    <dgm:cxn modelId="{39B1445B-F2F9-4667-B8B3-E0FE0B9B4069}" type="presParOf" srcId="{6A4B1086-80FA-4585-B123-A04825777F79}" destId="{798D3E6A-AFD7-44F7-8096-DE4F659FFB94}" srcOrd="6" destOrd="0" presId="urn:microsoft.com/office/officeart/2018/2/layout/IconVerticalSolidList"/>
    <dgm:cxn modelId="{90BA08DE-0C93-497A-8566-8D864A668420}" type="presParOf" srcId="{798D3E6A-AFD7-44F7-8096-DE4F659FFB94}" destId="{82DA9C41-CC54-43E1-A95B-3D4396AC966A}" srcOrd="0" destOrd="0" presId="urn:microsoft.com/office/officeart/2018/2/layout/IconVerticalSolidList"/>
    <dgm:cxn modelId="{E493B267-0111-44DB-94D6-E90F2814CB82}" type="presParOf" srcId="{798D3E6A-AFD7-44F7-8096-DE4F659FFB94}" destId="{9B047ABE-A942-4D6A-896F-521F72F4EA36}" srcOrd="1" destOrd="0" presId="urn:microsoft.com/office/officeart/2018/2/layout/IconVerticalSolidList"/>
    <dgm:cxn modelId="{87C62EEC-1132-4F49-BA00-C43A3355F2DC}" type="presParOf" srcId="{798D3E6A-AFD7-44F7-8096-DE4F659FFB94}" destId="{30EB7ED6-BEF1-4BE3-A67D-C146D3F28CE7}" srcOrd="2" destOrd="0" presId="urn:microsoft.com/office/officeart/2018/2/layout/IconVerticalSolidList"/>
    <dgm:cxn modelId="{248570E2-31B0-4441-90C6-9DAFA1673E95}" type="presParOf" srcId="{798D3E6A-AFD7-44F7-8096-DE4F659FFB94}" destId="{44BE431B-2931-4C5A-8371-6ECB0347333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5F8A635-5578-49BA-93CC-2063C08326E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39A6342-B59A-4993-A701-4F21C44CA4FA}">
      <dgm:prSet/>
      <dgm:spPr/>
      <dgm:t>
        <a:bodyPr/>
        <a:lstStyle/>
        <a:p>
          <a:pPr>
            <a:lnSpc>
              <a:spcPct val="100000"/>
            </a:lnSpc>
          </a:pPr>
          <a:r>
            <a:rPr lang="en-US"/>
            <a:t>The backbone is usually a deep CNN like VGG16, ResNet or ResNeXt.</a:t>
          </a:r>
        </a:p>
      </dgm:t>
    </dgm:pt>
    <dgm:pt modelId="{9367A3B5-118D-4237-9720-A97445CF8D49}" type="parTrans" cxnId="{7DDC8E29-BB3F-4507-ABB2-CE99F0EC823D}">
      <dgm:prSet/>
      <dgm:spPr/>
      <dgm:t>
        <a:bodyPr/>
        <a:lstStyle/>
        <a:p>
          <a:endParaRPr lang="en-US"/>
        </a:p>
      </dgm:t>
    </dgm:pt>
    <dgm:pt modelId="{1159A112-0156-4574-8C70-AC939C14BF01}" type="sibTrans" cxnId="{7DDC8E29-BB3F-4507-ABB2-CE99F0EC823D}">
      <dgm:prSet/>
      <dgm:spPr/>
      <dgm:t>
        <a:bodyPr/>
        <a:lstStyle/>
        <a:p>
          <a:endParaRPr lang="en-US"/>
        </a:p>
      </dgm:t>
    </dgm:pt>
    <dgm:pt modelId="{31E85BA4-82BB-45A6-ADA0-02CF84184094}">
      <dgm:prSet/>
      <dgm:spPr/>
      <dgm:t>
        <a:bodyPr/>
        <a:lstStyle/>
        <a:p>
          <a:pPr>
            <a:lnSpc>
              <a:spcPct val="100000"/>
            </a:lnSpc>
          </a:pPr>
          <a:r>
            <a:rPr lang="en-US"/>
            <a:t>It extracts feature maps from the input image.</a:t>
          </a:r>
        </a:p>
      </dgm:t>
    </dgm:pt>
    <dgm:pt modelId="{BB99DFEE-3569-4F7A-B9C0-5341A437AE76}" type="parTrans" cxnId="{55A0E64C-DFDA-423B-B1CE-F18A0F18E419}">
      <dgm:prSet/>
      <dgm:spPr/>
      <dgm:t>
        <a:bodyPr/>
        <a:lstStyle/>
        <a:p>
          <a:endParaRPr lang="en-US"/>
        </a:p>
      </dgm:t>
    </dgm:pt>
    <dgm:pt modelId="{75E9022D-7FA2-4580-A662-FABA47660B87}" type="sibTrans" cxnId="{55A0E64C-DFDA-423B-B1CE-F18A0F18E419}">
      <dgm:prSet/>
      <dgm:spPr/>
      <dgm:t>
        <a:bodyPr/>
        <a:lstStyle/>
        <a:p>
          <a:endParaRPr lang="en-US"/>
        </a:p>
      </dgm:t>
    </dgm:pt>
    <dgm:pt modelId="{80E48762-2E46-4524-9075-13EA5CA074E1}">
      <dgm:prSet/>
      <dgm:spPr/>
      <dgm:t>
        <a:bodyPr/>
        <a:lstStyle/>
        <a:p>
          <a:pPr>
            <a:lnSpc>
              <a:spcPct val="100000"/>
            </a:lnSpc>
          </a:pPr>
          <a:r>
            <a:rPr lang="en-US"/>
            <a:t>These feature maps are shared by both the RPN and the detection network.</a:t>
          </a:r>
        </a:p>
      </dgm:t>
    </dgm:pt>
    <dgm:pt modelId="{1DC49894-DD1B-4B68-BA29-B5E96AA92F78}" type="parTrans" cxnId="{6648CF5F-867A-4332-B001-C79B33991EF0}">
      <dgm:prSet/>
      <dgm:spPr/>
      <dgm:t>
        <a:bodyPr/>
        <a:lstStyle/>
        <a:p>
          <a:endParaRPr lang="en-US"/>
        </a:p>
      </dgm:t>
    </dgm:pt>
    <dgm:pt modelId="{3A822F18-EB50-4646-A814-9744BF62AB8B}" type="sibTrans" cxnId="{6648CF5F-867A-4332-B001-C79B33991EF0}">
      <dgm:prSet/>
      <dgm:spPr/>
      <dgm:t>
        <a:bodyPr/>
        <a:lstStyle/>
        <a:p>
          <a:endParaRPr lang="en-US"/>
        </a:p>
      </dgm:t>
    </dgm:pt>
    <dgm:pt modelId="{41B65B7A-C4CD-45B6-8811-8250F9B14648}" type="pres">
      <dgm:prSet presAssocID="{05F8A635-5578-49BA-93CC-2063C08326E4}" presName="root" presStyleCnt="0">
        <dgm:presLayoutVars>
          <dgm:dir/>
          <dgm:resizeHandles val="exact"/>
        </dgm:presLayoutVars>
      </dgm:prSet>
      <dgm:spPr/>
    </dgm:pt>
    <dgm:pt modelId="{3E1A776A-AD85-44BC-8FDF-67F03B7232E1}" type="pres">
      <dgm:prSet presAssocID="{039A6342-B59A-4993-A701-4F21C44CA4FA}" presName="compNode" presStyleCnt="0"/>
      <dgm:spPr/>
    </dgm:pt>
    <dgm:pt modelId="{C5A8439C-3D84-4CA4-BB55-8D5885D86E3F}" type="pres">
      <dgm:prSet presAssocID="{039A6342-B59A-4993-A701-4F21C44CA4FA}" presName="bgRect" presStyleLbl="bgShp" presStyleIdx="0" presStyleCnt="3"/>
      <dgm:spPr/>
    </dgm:pt>
    <dgm:pt modelId="{2F582A0E-598E-4485-BEB8-2ACCCD490E62}" type="pres">
      <dgm:prSet presAssocID="{039A6342-B59A-4993-A701-4F21C44CA4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elevision"/>
        </a:ext>
      </dgm:extLst>
    </dgm:pt>
    <dgm:pt modelId="{CDE64B77-6365-49BB-9184-7F2B39E4DC78}" type="pres">
      <dgm:prSet presAssocID="{039A6342-B59A-4993-A701-4F21C44CA4FA}" presName="spaceRect" presStyleCnt="0"/>
      <dgm:spPr/>
    </dgm:pt>
    <dgm:pt modelId="{D7EC1213-1748-425A-B943-4D0FF3568F8A}" type="pres">
      <dgm:prSet presAssocID="{039A6342-B59A-4993-A701-4F21C44CA4FA}" presName="parTx" presStyleLbl="revTx" presStyleIdx="0" presStyleCnt="3">
        <dgm:presLayoutVars>
          <dgm:chMax val="0"/>
          <dgm:chPref val="0"/>
        </dgm:presLayoutVars>
      </dgm:prSet>
      <dgm:spPr/>
    </dgm:pt>
    <dgm:pt modelId="{04377D62-11E1-42B6-9AFC-35ABF0BA1706}" type="pres">
      <dgm:prSet presAssocID="{1159A112-0156-4574-8C70-AC939C14BF01}" presName="sibTrans" presStyleCnt="0"/>
      <dgm:spPr/>
    </dgm:pt>
    <dgm:pt modelId="{F0EE0026-AA0D-4728-B5D1-7472D60B0E2E}" type="pres">
      <dgm:prSet presAssocID="{31E85BA4-82BB-45A6-ADA0-02CF84184094}" presName="compNode" presStyleCnt="0"/>
      <dgm:spPr/>
    </dgm:pt>
    <dgm:pt modelId="{3D6C786B-E6A7-41C3-9028-391CB93ACB38}" type="pres">
      <dgm:prSet presAssocID="{31E85BA4-82BB-45A6-ADA0-02CF84184094}" presName="bgRect" presStyleLbl="bgShp" presStyleIdx="1" presStyleCnt="3"/>
      <dgm:spPr/>
    </dgm:pt>
    <dgm:pt modelId="{CB0E1C5F-CD59-46FE-8D10-1E60E096CD7C}" type="pres">
      <dgm:prSet presAssocID="{31E85BA4-82BB-45A6-ADA0-02CF8418409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btitles"/>
        </a:ext>
      </dgm:extLst>
    </dgm:pt>
    <dgm:pt modelId="{DBA7D8F3-1179-4B46-A991-23648C5CCCC2}" type="pres">
      <dgm:prSet presAssocID="{31E85BA4-82BB-45A6-ADA0-02CF84184094}" presName="spaceRect" presStyleCnt="0"/>
      <dgm:spPr/>
    </dgm:pt>
    <dgm:pt modelId="{3D664F88-1A02-4AC0-8D99-26BFC663ED29}" type="pres">
      <dgm:prSet presAssocID="{31E85BA4-82BB-45A6-ADA0-02CF84184094}" presName="parTx" presStyleLbl="revTx" presStyleIdx="1" presStyleCnt="3">
        <dgm:presLayoutVars>
          <dgm:chMax val="0"/>
          <dgm:chPref val="0"/>
        </dgm:presLayoutVars>
      </dgm:prSet>
      <dgm:spPr/>
    </dgm:pt>
    <dgm:pt modelId="{66E1CB12-D68D-4851-8318-B3EEC9DB7E3E}" type="pres">
      <dgm:prSet presAssocID="{75E9022D-7FA2-4580-A662-FABA47660B87}" presName="sibTrans" presStyleCnt="0"/>
      <dgm:spPr/>
    </dgm:pt>
    <dgm:pt modelId="{D65C2B0C-062D-4108-9B67-16290FF9C27F}" type="pres">
      <dgm:prSet presAssocID="{80E48762-2E46-4524-9075-13EA5CA074E1}" presName="compNode" presStyleCnt="0"/>
      <dgm:spPr/>
    </dgm:pt>
    <dgm:pt modelId="{022DE5B6-07CF-454E-B0CF-5BD84F79DAE8}" type="pres">
      <dgm:prSet presAssocID="{80E48762-2E46-4524-9075-13EA5CA074E1}" presName="bgRect" presStyleLbl="bgShp" presStyleIdx="2" presStyleCnt="3"/>
      <dgm:spPr/>
    </dgm:pt>
    <dgm:pt modelId="{40DCB70B-9DC6-475C-B721-79BA87B6BF64}" type="pres">
      <dgm:prSet presAssocID="{80E48762-2E46-4524-9075-13EA5CA074E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ireless router"/>
        </a:ext>
      </dgm:extLst>
    </dgm:pt>
    <dgm:pt modelId="{69B72F59-20EB-4415-AF03-C15151A5C819}" type="pres">
      <dgm:prSet presAssocID="{80E48762-2E46-4524-9075-13EA5CA074E1}" presName="spaceRect" presStyleCnt="0"/>
      <dgm:spPr/>
    </dgm:pt>
    <dgm:pt modelId="{1E96750C-977E-43CE-B179-10BE1EA52413}" type="pres">
      <dgm:prSet presAssocID="{80E48762-2E46-4524-9075-13EA5CA074E1}" presName="parTx" presStyleLbl="revTx" presStyleIdx="2" presStyleCnt="3">
        <dgm:presLayoutVars>
          <dgm:chMax val="0"/>
          <dgm:chPref val="0"/>
        </dgm:presLayoutVars>
      </dgm:prSet>
      <dgm:spPr/>
    </dgm:pt>
  </dgm:ptLst>
  <dgm:cxnLst>
    <dgm:cxn modelId="{87F89813-F23E-42D7-88A0-721FA8957BAA}" type="presOf" srcId="{05F8A635-5578-49BA-93CC-2063C08326E4}" destId="{41B65B7A-C4CD-45B6-8811-8250F9B14648}" srcOrd="0" destOrd="0" presId="urn:microsoft.com/office/officeart/2018/2/layout/IconVerticalSolidList"/>
    <dgm:cxn modelId="{DEA89C1C-F9DF-4955-87E7-9CAD78C4DAC6}" type="presOf" srcId="{039A6342-B59A-4993-A701-4F21C44CA4FA}" destId="{D7EC1213-1748-425A-B943-4D0FF3568F8A}" srcOrd="0" destOrd="0" presId="urn:microsoft.com/office/officeart/2018/2/layout/IconVerticalSolidList"/>
    <dgm:cxn modelId="{7DDC8E29-BB3F-4507-ABB2-CE99F0EC823D}" srcId="{05F8A635-5578-49BA-93CC-2063C08326E4}" destId="{039A6342-B59A-4993-A701-4F21C44CA4FA}" srcOrd="0" destOrd="0" parTransId="{9367A3B5-118D-4237-9720-A97445CF8D49}" sibTransId="{1159A112-0156-4574-8C70-AC939C14BF01}"/>
    <dgm:cxn modelId="{6648CF5F-867A-4332-B001-C79B33991EF0}" srcId="{05F8A635-5578-49BA-93CC-2063C08326E4}" destId="{80E48762-2E46-4524-9075-13EA5CA074E1}" srcOrd="2" destOrd="0" parTransId="{1DC49894-DD1B-4B68-BA29-B5E96AA92F78}" sibTransId="{3A822F18-EB50-4646-A814-9744BF62AB8B}"/>
    <dgm:cxn modelId="{35382049-BEF1-4EB1-9D6C-08E9FF165BF3}" type="presOf" srcId="{80E48762-2E46-4524-9075-13EA5CA074E1}" destId="{1E96750C-977E-43CE-B179-10BE1EA52413}" srcOrd="0" destOrd="0" presId="urn:microsoft.com/office/officeart/2018/2/layout/IconVerticalSolidList"/>
    <dgm:cxn modelId="{55A0E64C-DFDA-423B-B1CE-F18A0F18E419}" srcId="{05F8A635-5578-49BA-93CC-2063C08326E4}" destId="{31E85BA4-82BB-45A6-ADA0-02CF84184094}" srcOrd="1" destOrd="0" parTransId="{BB99DFEE-3569-4F7A-B9C0-5341A437AE76}" sibTransId="{75E9022D-7FA2-4580-A662-FABA47660B87}"/>
    <dgm:cxn modelId="{89DE587E-42AB-4F9D-8386-C6FA18C52EF7}" type="presOf" srcId="{31E85BA4-82BB-45A6-ADA0-02CF84184094}" destId="{3D664F88-1A02-4AC0-8D99-26BFC663ED29}" srcOrd="0" destOrd="0" presId="urn:microsoft.com/office/officeart/2018/2/layout/IconVerticalSolidList"/>
    <dgm:cxn modelId="{784AC1AE-96E3-4D8B-9A9F-2FBF36C7F665}" type="presParOf" srcId="{41B65B7A-C4CD-45B6-8811-8250F9B14648}" destId="{3E1A776A-AD85-44BC-8FDF-67F03B7232E1}" srcOrd="0" destOrd="0" presId="urn:microsoft.com/office/officeart/2018/2/layout/IconVerticalSolidList"/>
    <dgm:cxn modelId="{2B0DD9CF-D83B-49BD-B7AA-92B65EEB4694}" type="presParOf" srcId="{3E1A776A-AD85-44BC-8FDF-67F03B7232E1}" destId="{C5A8439C-3D84-4CA4-BB55-8D5885D86E3F}" srcOrd="0" destOrd="0" presId="urn:microsoft.com/office/officeart/2018/2/layout/IconVerticalSolidList"/>
    <dgm:cxn modelId="{78084F3B-D607-49F8-82AD-8336923F3925}" type="presParOf" srcId="{3E1A776A-AD85-44BC-8FDF-67F03B7232E1}" destId="{2F582A0E-598E-4485-BEB8-2ACCCD490E62}" srcOrd="1" destOrd="0" presId="urn:microsoft.com/office/officeart/2018/2/layout/IconVerticalSolidList"/>
    <dgm:cxn modelId="{39B4E037-176D-46C3-AB22-EDFD599AE709}" type="presParOf" srcId="{3E1A776A-AD85-44BC-8FDF-67F03B7232E1}" destId="{CDE64B77-6365-49BB-9184-7F2B39E4DC78}" srcOrd="2" destOrd="0" presId="urn:microsoft.com/office/officeart/2018/2/layout/IconVerticalSolidList"/>
    <dgm:cxn modelId="{2393FF17-AEED-437C-91CA-4021DCD88870}" type="presParOf" srcId="{3E1A776A-AD85-44BC-8FDF-67F03B7232E1}" destId="{D7EC1213-1748-425A-B943-4D0FF3568F8A}" srcOrd="3" destOrd="0" presId="urn:microsoft.com/office/officeart/2018/2/layout/IconVerticalSolidList"/>
    <dgm:cxn modelId="{6A8C8816-DFF5-477A-8CA0-7DE197E361B4}" type="presParOf" srcId="{41B65B7A-C4CD-45B6-8811-8250F9B14648}" destId="{04377D62-11E1-42B6-9AFC-35ABF0BA1706}" srcOrd="1" destOrd="0" presId="urn:microsoft.com/office/officeart/2018/2/layout/IconVerticalSolidList"/>
    <dgm:cxn modelId="{5671552A-F5EB-47A2-96C1-E28300A9ACF0}" type="presParOf" srcId="{41B65B7A-C4CD-45B6-8811-8250F9B14648}" destId="{F0EE0026-AA0D-4728-B5D1-7472D60B0E2E}" srcOrd="2" destOrd="0" presId="urn:microsoft.com/office/officeart/2018/2/layout/IconVerticalSolidList"/>
    <dgm:cxn modelId="{19D3F521-C836-42A6-BAC1-B03C8B0BFB8D}" type="presParOf" srcId="{F0EE0026-AA0D-4728-B5D1-7472D60B0E2E}" destId="{3D6C786B-E6A7-41C3-9028-391CB93ACB38}" srcOrd="0" destOrd="0" presId="urn:microsoft.com/office/officeart/2018/2/layout/IconVerticalSolidList"/>
    <dgm:cxn modelId="{7B0E5BEF-FD03-46A1-B963-743F5F1E4B97}" type="presParOf" srcId="{F0EE0026-AA0D-4728-B5D1-7472D60B0E2E}" destId="{CB0E1C5F-CD59-46FE-8D10-1E60E096CD7C}" srcOrd="1" destOrd="0" presId="urn:microsoft.com/office/officeart/2018/2/layout/IconVerticalSolidList"/>
    <dgm:cxn modelId="{30C56EFE-126D-4442-B68C-B27D881F6E85}" type="presParOf" srcId="{F0EE0026-AA0D-4728-B5D1-7472D60B0E2E}" destId="{DBA7D8F3-1179-4B46-A991-23648C5CCCC2}" srcOrd="2" destOrd="0" presId="urn:microsoft.com/office/officeart/2018/2/layout/IconVerticalSolidList"/>
    <dgm:cxn modelId="{254A17C5-052F-4DE4-B20B-EB7200F6E0C8}" type="presParOf" srcId="{F0EE0026-AA0D-4728-B5D1-7472D60B0E2E}" destId="{3D664F88-1A02-4AC0-8D99-26BFC663ED29}" srcOrd="3" destOrd="0" presId="urn:microsoft.com/office/officeart/2018/2/layout/IconVerticalSolidList"/>
    <dgm:cxn modelId="{E2F8D20E-4B95-4E95-B398-595B878FB737}" type="presParOf" srcId="{41B65B7A-C4CD-45B6-8811-8250F9B14648}" destId="{66E1CB12-D68D-4851-8318-B3EEC9DB7E3E}" srcOrd="3" destOrd="0" presId="urn:microsoft.com/office/officeart/2018/2/layout/IconVerticalSolidList"/>
    <dgm:cxn modelId="{878E4F8B-3EC5-41CA-B0F5-7523A444B434}" type="presParOf" srcId="{41B65B7A-C4CD-45B6-8811-8250F9B14648}" destId="{D65C2B0C-062D-4108-9B67-16290FF9C27F}" srcOrd="4" destOrd="0" presId="urn:microsoft.com/office/officeart/2018/2/layout/IconVerticalSolidList"/>
    <dgm:cxn modelId="{7F0422BA-ABEC-41F7-99F5-ED6C5F9FEE79}" type="presParOf" srcId="{D65C2B0C-062D-4108-9B67-16290FF9C27F}" destId="{022DE5B6-07CF-454E-B0CF-5BD84F79DAE8}" srcOrd="0" destOrd="0" presId="urn:microsoft.com/office/officeart/2018/2/layout/IconVerticalSolidList"/>
    <dgm:cxn modelId="{9AF16F0B-F296-480F-95F8-64107CB117DC}" type="presParOf" srcId="{D65C2B0C-062D-4108-9B67-16290FF9C27F}" destId="{40DCB70B-9DC6-475C-B721-79BA87B6BF64}" srcOrd="1" destOrd="0" presId="urn:microsoft.com/office/officeart/2018/2/layout/IconVerticalSolidList"/>
    <dgm:cxn modelId="{E37EE3B0-4F6F-4DB5-B597-A8DAE7831F68}" type="presParOf" srcId="{D65C2B0C-062D-4108-9B67-16290FF9C27F}" destId="{69B72F59-20EB-4415-AF03-C15151A5C819}" srcOrd="2" destOrd="0" presId="urn:microsoft.com/office/officeart/2018/2/layout/IconVerticalSolidList"/>
    <dgm:cxn modelId="{417310C1-C1AA-4B80-93EF-89766E5CA2D7}" type="presParOf" srcId="{D65C2B0C-062D-4108-9B67-16290FF9C27F}" destId="{1E96750C-977E-43CE-B179-10BE1EA5241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FB1242A-0105-41FB-9684-4042953ABD8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BBE3A25-AB32-45C3-9075-491E8A4C88CA}">
      <dgm:prSet/>
      <dgm:spPr/>
      <dgm:t>
        <a:bodyPr/>
        <a:lstStyle/>
        <a:p>
          <a:r>
            <a:rPr lang="en-US"/>
            <a:t>Healthcare</a:t>
          </a:r>
        </a:p>
      </dgm:t>
    </dgm:pt>
    <dgm:pt modelId="{FF8A325E-26C7-4759-8930-8C9FC82AD21D}" type="parTrans" cxnId="{966C1882-FEC8-43E0-9F12-2EDABBFA05B8}">
      <dgm:prSet/>
      <dgm:spPr/>
      <dgm:t>
        <a:bodyPr/>
        <a:lstStyle/>
        <a:p>
          <a:endParaRPr lang="en-US"/>
        </a:p>
      </dgm:t>
    </dgm:pt>
    <dgm:pt modelId="{B516FA00-F3C5-443C-AE6D-3C5B9C69D9E8}" type="sibTrans" cxnId="{966C1882-FEC8-43E0-9F12-2EDABBFA05B8}">
      <dgm:prSet/>
      <dgm:spPr/>
      <dgm:t>
        <a:bodyPr/>
        <a:lstStyle/>
        <a:p>
          <a:endParaRPr lang="en-US"/>
        </a:p>
      </dgm:t>
    </dgm:pt>
    <dgm:pt modelId="{8D992D46-DF48-4B27-94E1-6FA38BDDB325}">
      <dgm:prSet/>
      <dgm:spPr/>
      <dgm:t>
        <a:bodyPr/>
        <a:lstStyle/>
        <a:p>
          <a:r>
            <a:rPr lang="en-US"/>
            <a:t>Agriculture</a:t>
          </a:r>
        </a:p>
      </dgm:t>
    </dgm:pt>
    <dgm:pt modelId="{68358F39-59A1-4A64-A772-1EC9DF8DD4EC}" type="parTrans" cxnId="{4ACA0C09-F28C-44F8-939E-F282F2C49423}">
      <dgm:prSet/>
      <dgm:spPr/>
      <dgm:t>
        <a:bodyPr/>
        <a:lstStyle/>
        <a:p>
          <a:endParaRPr lang="en-US"/>
        </a:p>
      </dgm:t>
    </dgm:pt>
    <dgm:pt modelId="{FE3C2874-3D57-45E9-BD2A-A967DF5DCA4B}" type="sibTrans" cxnId="{4ACA0C09-F28C-44F8-939E-F282F2C49423}">
      <dgm:prSet/>
      <dgm:spPr/>
      <dgm:t>
        <a:bodyPr/>
        <a:lstStyle/>
        <a:p>
          <a:endParaRPr lang="en-US"/>
        </a:p>
      </dgm:t>
    </dgm:pt>
    <dgm:pt modelId="{B7DB950F-5EA6-4F18-8095-70882F47F705}">
      <dgm:prSet/>
      <dgm:spPr/>
      <dgm:t>
        <a:bodyPr/>
        <a:lstStyle/>
        <a:p>
          <a:r>
            <a:rPr lang="en-US"/>
            <a:t>Security surveillance</a:t>
          </a:r>
        </a:p>
      </dgm:t>
    </dgm:pt>
    <dgm:pt modelId="{9470B1D2-57D4-41F0-B86A-E7005658F82E}" type="parTrans" cxnId="{EE0002B6-554A-4D2F-BF56-E074B7CDF383}">
      <dgm:prSet/>
      <dgm:spPr/>
      <dgm:t>
        <a:bodyPr/>
        <a:lstStyle/>
        <a:p>
          <a:endParaRPr lang="en-US"/>
        </a:p>
      </dgm:t>
    </dgm:pt>
    <dgm:pt modelId="{BEE93F36-48ED-422F-AE47-F464FB39054B}" type="sibTrans" cxnId="{EE0002B6-554A-4D2F-BF56-E074B7CDF383}">
      <dgm:prSet/>
      <dgm:spPr/>
      <dgm:t>
        <a:bodyPr/>
        <a:lstStyle/>
        <a:p>
          <a:endParaRPr lang="en-US"/>
        </a:p>
      </dgm:t>
    </dgm:pt>
    <dgm:pt modelId="{FABEC14B-FD16-4E87-9119-B5336E5E3F19}">
      <dgm:prSet/>
      <dgm:spPr/>
      <dgm:t>
        <a:bodyPr/>
        <a:lstStyle/>
        <a:p>
          <a:r>
            <a:rPr lang="en-US"/>
            <a:t>Self-driving cars</a:t>
          </a:r>
        </a:p>
      </dgm:t>
    </dgm:pt>
    <dgm:pt modelId="{3BE37056-DAEB-402C-8B73-1DE3978DBA6F}" type="parTrans" cxnId="{2777C7F6-F050-4540-B674-5F115454E303}">
      <dgm:prSet/>
      <dgm:spPr/>
      <dgm:t>
        <a:bodyPr/>
        <a:lstStyle/>
        <a:p>
          <a:endParaRPr lang="en-US"/>
        </a:p>
      </dgm:t>
    </dgm:pt>
    <dgm:pt modelId="{BE217C66-650E-4442-9D7F-201E0A2F0C90}" type="sibTrans" cxnId="{2777C7F6-F050-4540-B674-5F115454E303}">
      <dgm:prSet/>
      <dgm:spPr/>
      <dgm:t>
        <a:bodyPr/>
        <a:lstStyle/>
        <a:p>
          <a:endParaRPr lang="en-US"/>
        </a:p>
      </dgm:t>
    </dgm:pt>
    <dgm:pt modelId="{5D91C9A0-3C60-4B13-A147-D830B86BF0FC}" type="pres">
      <dgm:prSet presAssocID="{2FB1242A-0105-41FB-9684-4042953ABD86}" presName="root" presStyleCnt="0">
        <dgm:presLayoutVars>
          <dgm:dir/>
          <dgm:resizeHandles val="exact"/>
        </dgm:presLayoutVars>
      </dgm:prSet>
      <dgm:spPr/>
    </dgm:pt>
    <dgm:pt modelId="{EF1B49CC-52B1-439E-BED0-382E3FD288E6}" type="pres">
      <dgm:prSet presAssocID="{5BBE3A25-AB32-45C3-9075-491E8A4C88CA}" presName="compNode" presStyleCnt="0"/>
      <dgm:spPr/>
    </dgm:pt>
    <dgm:pt modelId="{B2FCABD4-880B-4AB1-B3DF-02275401A3EE}" type="pres">
      <dgm:prSet presAssocID="{5BBE3A25-AB32-45C3-9075-491E8A4C88CA}" presName="bgRect" presStyleLbl="bgShp" presStyleIdx="0" presStyleCnt="4"/>
      <dgm:spPr/>
    </dgm:pt>
    <dgm:pt modelId="{199958D6-17F6-4C2B-8258-805664888E17}" type="pres">
      <dgm:prSet presAssocID="{5BBE3A25-AB32-45C3-9075-491E8A4C88C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al"/>
        </a:ext>
      </dgm:extLst>
    </dgm:pt>
    <dgm:pt modelId="{A9B2E45D-4A3F-4073-9904-21C630F811D0}" type="pres">
      <dgm:prSet presAssocID="{5BBE3A25-AB32-45C3-9075-491E8A4C88CA}" presName="spaceRect" presStyleCnt="0"/>
      <dgm:spPr/>
    </dgm:pt>
    <dgm:pt modelId="{6989CA85-2F6A-42DB-A8EA-1232E0C10C96}" type="pres">
      <dgm:prSet presAssocID="{5BBE3A25-AB32-45C3-9075-491E8A4C88CA}" presName="parTx" presStyleLbl="revTx" presStyleIdx="0" presStyleCnt="4">
        <dgm:presLayoutVars>
          <dgm:chMax val="0"/>
          <dgm:chPref val="0"/>
        </dgm:presLayoutVars>
      </dgm:prSet>
      <dgm:spPr/>
    </dgm:pt>
    <dgm:pt modelId="{58F8C2C6-F1DD-4FFB-A80F-CB995A058442}" type="pres">
      <dgm:prSet presAssocID="{B516FA00-F3C5-443C-AE6D-3C5B9C69D9E8}" presName="sibTrans" presStyleCnt="0"/>
      <dgm:spPr/>
    </dgm:pt>
    <dgm:pt modelId="{C9FB0A0A-908D-47F5-B042-6B86B94C57F5}" type="pres">
      <dgm:prSet presAssocID="{8D992D46-DF48-4B27-94E1-6FA38BDDB325}" presName="compNode" presStyleCnt="0"/>
      <dgm:spPr/>
    </dgm:pt>
    <dgm:pt modelId="{587C01B3-5A3B-48E0-BD78-50B23E9B10D6}" type="pres">
      <dgm:prSet presAssocID="{8D992D46-DF48-4B27-94E1-6FA38BDDB325}" presName="bgRect" presStyleLbl="bgShp" presStyleIdx="1" presStyleCnt="4"/>
      <dgm:spPr/>
    </dgm:pt>
    <dgm:pt modelId="{DE11C698-D683-4D3A-B1B6-543D2064555C}" type="pres">
      <dgm:prSet presAssocID="{8D992D46-DF48-4B27-94E1-6FA38BDDB32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arm scene"/>
        </a:ext>
      </dgm:extLst>
    </dgm:pt>
    <dgm:pt modelId="{03AD008D-7868-460B-9F91-996DED20E500}" type="pres">
      <dgm:prSet presAssocID="{8D992D46-DF48-4B27-94E1-6FA38BDDB325}" presName="spaceRect" presStyleCnt="0"/>
      <dgm:spPr/>
    </dgm:pt>
    <dgm:pt modelId="{D5288FE5-8199-4251-9243-CA61477A5583}" type="pres">
      <dgm:prSet presAssocID="{8D992D46-DF48-4B27-94E1-6FA38BDDB325}" presName="parTx" presStyleLbl="revTx" presStyleIdx="1" presStyleCnt="4">
        <dgm:presLayoutVars>
          <dgm:chMax val="0"/>
          <dgm:chPref val="0"/>
        </dgm:presLayoutVars>
      </dgm:prSet>
      <dgm:spPr/>
    </dgm:pt>
    <dgm:pt modelId="{602EC133-0AD7-45C6-890C-4AADBC66FB95}" type="pres">
      <dgm:prSet presAssocID="{FE3C2874-3D57-45E9-BD2A-A967DF5DCA4B}" presName="sibTrans" presStyleCnt="0"/>
      <dgm:spPr/>
    </dgm:pt>
    <dgm:pt modelId="{34ADA05E-633E-44EB-99FF-9B710A39782B}" type="pres">
      <dgm:prSet presAssocID="{B7DB950F-5EA6-4F18-8095-70882F47F705}" presName="compNode" presStyleCnt="0"/>
      <dgm:spPr/>
    </dgm:pt>
    <dgm:pt modelId="{F78D31CB-FF0C-48CC-A9B3-BF7A19B769B8}" type="pres">
      <dgm:prSet presAssocID="{B7DB950F-5EA6-4F18-8095-70882F47F705}" presName="bgRect" presStyleLbl="bgShp" presStyleIdx="2" presStyleCnt="4"/>
      <dgm:spPr/>
    </dgm:pt>
    <dgm:pt modelId="{D0ABDCD4-454F-4B81-B9DF-15534AB73B29}" type="pres">
      <dgm:prSet presAssocID="{B7DB950F-5EA6-4F18-8095-70882F47F70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a:ext>
      </dgm:extLst>
    </dgm:pt>
    <dgm:pt modelId="{07223C4C-E293-4696-8EF4-CB547D996982}" type="pres">
      <dgm:prSet presAssocID="{B7DB950F-5EA6-4F18-8095-70882F47F705}" presName="spaceRect" presStyleCnt="0"/>
      <dgm:spPr/>
    </dgm:pt>
    <dgm:pt modelId="{0E74BA55-AB12-4486-88BA-AAEAF2626E3B}" type="pres">
      <dgm:prSet presAssocID="{B7DB950F-5EA6-4F18-8095-70882F47F705}" presName="parTx" presStyleLbl="revTx" presStyleIdx="2" presStyleCnt="4">
        <dgm:presLayoutVars>
          <dgm:chMax val="0"/>
          <dgm:chPref val="0"/>
        </dgm:presLayoutVars>
      </dgm:prSet>
      <dgm:spPr/>
    </dgm:pt>
    <dgm:pt modelId="{EA185057-9B7E-4BEA-954F-5F5AE732BDED}" type="pres">
      <dgm:prSet presAssocID="{BEE93F36-48ED-422F-AE47-F464FB39054B}" presName="sibTrans" presStyleCnt="0"/>
      <dgm:spPr/>
    </dgm:pt>
    <dgm:pt modelId="{A0DE64CF-80FF-4DDE-9B28-61796ABE27B4}" type="pres">
      <dgm:prSet presAssocID="{FABEC14B-FD16-4E87-9119-B5336E5E3F19}" presName="compNode" presStyleCnt="0"/>
      <dgm:spPr/>
    </dgm:pt>
    <dgm:pt modelId="{C2E518E5-C630-494E-8654-7A40F8B406C9}" type="pres">
      <dgm:prSet presAssocID="{FABEC14B-FD16-4E87-9119-B5336E5E3F19}" presName="bgRect" presStyleLbl="bgShp" presStyleIdx="3" presStyleCnt="4"/>
      <dgm:spPr/>
    </dgm:pt>
    <dgm:pt modelId="{3AF060BD-F7A3-4F91-A81E-4A89E5708A7A}" type="pres">
      <dgm:prSet presAssocID="{FABEC14B-FD16-4E87-9119-B5336E5E3F1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r"/>
        </a:ext>
      </dgm:extLst>
    </dgm:pt>
    <dgm:pt modelId="{9765EFB0-1235-4CF5-A66B-9012D97643CF}" type="pres">
      <dgm:prSet presAssocID="{FABEC14B-FD16-4E87-9119-B5336E5E3F19}" presName="spaceRect" presStyleCnt="0"/>
      <dgm:spPr/>
    </dgm:pt>
    <dgm:pt modelId="{58B672EA-BF3F-4A46-88E7-8C7812D2B1A3}" type="pres">
      <dgm:prSet presAssocID="{FABEC14B-FD16-4E87-9119-B5336E5E3F19}" presName="parTx" presStyleLbl="revTx" presStyleIdx="3" presStyleCnt="4">
        <dgm:presLayoutVars>
          <dgm:chMax val="0"/>
          <dgm:chPref val="0"/>
        </dgm:presLayoutVars>
      </dgm:prSet>
      <dgm:spPr/>
    </dgm:pt>
  </dgm:ptLst>
  <dgm:cxnLst>
    <dgm:cxn modelId="{EC5B8B05-6E12-4236-ADD6-381734146ED1}" type="presOf" srcId="{5BBE3A25-AB32-45C3-9075-491E8A4C88CA}" destId="{6989CA85-2F6A-42DB-A8EA-1232E0C10C96}" srcOrd="0" destOrd="0" presId="urn:microsoft.com/office/officeart/2018/2/layout/IconVerticalSolidList"/>
    <dgm:cxn modelId="{4ACA0C09-F28C-44F8-939E-F282F2C49423}" srcId="{2FB1242A-0105-41FB-9684-4042953ABD86}" destId="{8D992D46-DF48-4B27-94E1-6FA38BDDB325}" srcOrd="1" destOrd="0" parTransId="{68358F39-59A1-4A64-A772-1EC9DF8DD4EC}" sibTransId="{FE3C2874-3D57-45E9-BD2A-A967DF5DCA4B}"/>
    <dgm:cxn modelId="{823BC40E-030B-4F59-BC47-8332460143BC}" type="presOf" srcId="{8D992D46-DF48-4B27-94E1-6FA38BDDB325}" destId="{D5288FE5-8199-4251-9243-CA61477A5583}" srcOrd="0" destOrd="0" presId="urn:microsoft.com/office/officeart/2018/2/layout/IconVerticalSolidList"/>
    <dgm:cxn modelId="{966C1882-FEC8-43E0-9F12-2EDABBFA05B8}" srcId="{2FB1242A-0105-41FB-9684-4042953ABD86}" destId="{5BBE3A25-AB32-45C3-9075-491E8A4C88CA}" srcOrd="0" destOrd="0" parTransId="{FF8A325E-26C7-4759-8930-8C9FC82AD21D}" sibTransId="{B516FA00-F3C5-443C-AE6D-3C5B9C69D9E8}"/>
    <dgm:cxn modelId="{EE0002B6-554A-4D2F-BF56-E074B7CDF383}" srcId="{2FB1242A-0105-41FB-9684-4042953ABD86}" destId="{B7DB950F-5EA6-4F18-8095-70882F47F705}" srcOrd="2" destOrd="0" parTransId="{9470B1D2-57D4-41F0-B86A-E7005658F82E}" sibTransId="{BEE93F36-48ED-422F-AE47-F464FB39054B}"/>
    <dgm:cxn modelId="{AD5FE6C9-AA3E-4218-86EB-2CEB8C72653C}" type="presOf" srcId="{B7DB950F-5EA6-4F18-8095-70882F47F705}" destId="{0E74BA55-AB12-4486-88BA-AAEAF2626E3B}" srcOrd="0" destOrd="0" presId="urn:microsoft.com/office/officeart/2018/2/layout/IconVerticalSolidList"/>
    <dgm:cxn modelId="{1943E9D3-B402-41BC-B956-976E889C1BB4}" type="presOf" srcId="{FABEC14B-FD16-4E87-9119-B5336E5E3F19}" destId="{58B672EA-BF3F-4A46-88E7-8C7812D2B1A3}" srcOrd="0" destOrd="0" presId="urn:microsoft.com/office/officeart/2018/2/layout/IconVerticalSolidList"/>
    <dgm:cxn modelId="{2777C7F6-F050-4540-B674-5F115454E303}" srcId="{2FB1242A-0105-41FB-9684-4042953ABD86}" destId="{FABEC14B-FD16-4E87-9119-B5336E5E3F19}" srcOrd="3" destOrd="0" parTransId="{3BE37056-DAEB-402C-8B73-1DE3978DBA6F}" sibTransId="{BE217C66-650E-4442-9D7F-201E0A2F0C90}"/>
    <dgm:cxn modelId="{C7A143FA-D5A3-430B-B417-6CC085156C61}" type="presOf" srcId="{2FB1242A-0105-41FB-9684-4042953ABD86}" destId="{5D91C9A0-3C60-4B13-A147-D830B86BF0FC}" srcOrd="0" destOrd="0" presId="urn:microsoft.com/office/officeart/2018/2/layout/IconVerticalSolidList"/>
    <dgm:cxn modelId="{6CC16C5B-CC48-44D2-A899-DA1EED07ACBF}" type="presParOf" srcId="{5D91C9A0-3C60-4B13-A147-D830B86BF0FC}" destId="{EF1B49CC-52B1-439E-BED0-382E3FD288E6}" srcOrd="0" destOrd="0" presId="urn:microsoft.com/office/officeart/2018/2/layout/IconVerticalSolidList"/>
    <dgm:cxn modelId="{EF74B1C0-D824-42CF-AE7C-D51D4033F401}" type="presParOf" srcId="{EF1B49CC-52B1-439E-BED0-382E3FD288E6}" destId="{B2FCABD4-880B-4AB1-B3DF-02275401A3EE}" srcOrd="0" destOrd="0" presId="urn:microsoft.com/office/officeart/2018/2/layout/IconVerticalSolidList"/>
    <dgm:cxn modelId="{B703178E-DEE5-4C90-B45B-CB472AA7469C}" type="presParOf" srcId="{EF1B49CC-52B1-439E-BED0-382E3FD288E6}" destId="{199958D6-17F6-4C2B-8258-805664888E17}" srcOrd="1" destOrd="0" presId="urn:microsoft.com/office/officeart/2018/2/layout/IconVerticalSolidList"/>
    <dgm:cxn modelId="{AC0EE26E-7454-4769-89C9-2DE90C11370F}" type="presParOf" srcId="{EF1B49CC-52B1-439E-BED0-382E3FD288E6}" destId="{A9B2E45D-4A3F-4073-9904-21C630F811D0}" srcOrd="2" destOrd="0" presId="urn:microsoft.com/office/officeart/2018/2/layout/IconVerticalSolidList"/>
    <dgm:cxn modelId="{B39FC285-A5D5-4A97-B70A-943DCFEFA2F1}" type="presParOf" srcId="{EF1B49CC-52B1-439E-BED0-382E3FD288E6}" destId="{6989CA85-2F6A-42DB-A8EA-1232E0C10C96}" srcOrd="3" destOrd="0" presId="urn:microsoft.com/office/officeart/2018/2/layout/IconVerticalSolidList"/>
    <dgm:cxn modelId="{BCA56D21-7684-4647-9DE8-F79A9283D9D6}" type="presParOf" srcId="{5D91C9A0-3C60-4B13-A147-D830B86BF0FC}" destId="{58F8C2C6-F1DD-4FFB-A80F-CB995A058442}" srcOrd="1" destOrd="0" presId="urn:microsoft.com/office/officeart/2018/2/layout/IconVerticalSolidList"/>
    <dgm:cxn modelId="{BA0EFA39-31EA-49C7-84B6-EABB467C2A38}" type="presParOf" srcId="{5D91C9A0-3C60-4B13-A147-D830B86BF0FC}" destId="{C9FB0A0A-908D-47F5-B042-6B86B94C57F5}" srcOrd="2" destOrd="0" presId="urn:microsoft.com/office/officeart/2018/2/layout/IconVerticalSolidList"/>
    <dgm:cxn modelId="{A3E3ABEB-E7C0-4E0F-97BC-981ABBF2B5FF}" type="presParOf" srcId="{C9FB0A0A-908D-47F5-B042-6B86B94C57F5}" destId="{587C01B3-5A3B-48E0-BD78-50B23E9B10D6}" srcOrd="0" destOrd="0" presId="urn:microsoft.com/office/officeart/2018/2/layout/IconVerticalSolidList"/>
    <dgm:cxn modelId="{C7BFCBD1-29A3-4D35-AA77-1300EAF2169D}" type="presParOf" srcId="{C9FB0A0A-908D-47F5-B042-6B86B94C57F5}" destId="{DE11C698-D683-4D3A-B1B6-543D2064555C}" srcOrd="1" destOrd="0" presId="urn:microsoft.com/office/officeart/2018/2/layout/IconVerticalSolidList"/>
    <dgm:cxn modelId="{47998F94-7F7E-459B-AD91-F4DACC7F08B5}" type="presParOf" srcId="{C9FB0A0A-908D-47F5-B042-6B86B94C57F5}" destId="{03AD008D-7868-460B-9F91-996DED20E500}" srcOrd="2" destOrd="0" presId="urn:microsoft.com/office/officeart/2018/2/layout/IconVerticalSolidList"/>
    <dgm:cxn modelId="{09F2E24C-289D-4A55-9765-FEF935849259}" type="presParOf" srcId="{C9FB0A0A-908D-47F5-B042-6B86B94C57F5}" destId="{D5288FE5-8199-4251-9243-CA61477A5583}" srcOrd="3" destOrd="0" presId="urn:microsoft.com/office/officeart/2018/2/layout/IconVerticalSolidList"/>
    <dgm:cxn modelId="{3C4C3490-9516-41C2-8C2A-FD2BEA137D80}" type="presParOf" srcId="{5D91C9A0-3C60-4B13-A147-D830B86BF0FC}" destId="{602EC133-0AD7-45C6-890C-4AADBC66FB95}" srcOrd="3" destOrd="0" presId="urn:microsoft.com/office/officeart/2018/2/layout/IconVerticalSolidList"/>
    <dgm:cxn modelId="{96ABFB3D-B7F9-4FD7-9833-92EDFA4AC857}" type="presParOf" srcId="{5D91C9A0-3C60-4B13-A147-D830B86BF0FC}" destId="{34ADA05E-633E-44EB-99FF-9B710A39782B}" srcOrd="4" destOrd="0" presId="urn:microsoft.com/office/officeart/2018/2/layout/IconVerticalSolidList"/>
    <dgm:cxn modelId="{D301C7B9-A34D-4980-B60D-3F898972A3A5}" type="presParOf" srcId="{34ADA05E-633E-44EB-99FF-9B710A39782B}" destId="{F78D31CB-FF0C-48CC-A9B3-BF7A19B769B8}" srcOrd="0" destOrd="0" presId="urn:microsoft.com/office/officeart/2018/2/layout/IconVerticalSolidList"/>
    <dgm:cxn modelId="{9DE2AA1A-22A3-41C8-A272-7CE7A0384CCE}" type="presParOf" srcId="{34ADA05E-633E-44EB-99FF-9B710A39782B}" destId="{D0ABDCD4-454F-4B81-B9DF-15534AB73B29}" srcOrd="1" destOrd="0" presId="urn:microsoft.com/office/officeart/2018/2/layout/IconVerticalSolidList"/>
    <dgm:cxn modelId="{CC241030-5EAA-4B54-B0F5-7DABF4EB61F7}" type="presParOf" srcId="{34ADA05E-633E-44EB-99FF-9B710A39782B}" destId="{07223C4C-E293-4696-8EF4-CB547D996982}" srcOrd="2" destOrd="0" presId="urn:microsoft.com/office/officeart/2018/2/layout/IconVerticalSolidList"/>
    <dgm:cxn modelId="{270C8A57-EBCA-4CD7-8FFF-C4C6294494D6}" type="presParOf" srcId="{34ADA05E-633E-44EB-99FF-9B710A39782B}" destId="{0E74BA55-AB12-4486-88BA-AAEAF2626E3B}" srcOrd="3" destOrd="0" presId="urn:microsoft.com/office/officeart/2018/2/layout/IconVerticalSolidList"/>
    <dgm:cxn modelId="{04E1D8C7-AC2A-4B5B-9A7D-5A8E924CDF8D}" type="presParOf" srcId="{5D91C9A0-3C60-4B13-A147-D830B86BF0FC}" destId="{EA185057-9B7E-4BEA-954F-5F5AE732BDED}" srcOrd="5" destOrd="0" presId="urn:microsoft.com/office/officeart/2018/2/layout/IconVerticalSolidList"/>
    <dgm:cxn modelId="{EDAC1895-40B9-4DF8-9B7B-D9719EB57AAA}" type="presParOf" srcId="{5D91C9A0-3C60-4B13-A147-D830B86BF0FC}" destId="{A0DE64CF-80FF-4DDE-9B28-61796ABE27B4}" srcOrd="6" destOrd="0" presId="urn:microsoft.com/office/officeart/2018/2/layout/IconVerticalSolidList"/>
    <dgm:cxn modelId="{CF688362-15C1-4E9E-A611-002BF7441C05}" type="presParOf" srcId="{A0DE64CF-80FF-4DDE-9B28-61796ABE27B4}" destId="{C2E518E5-C630-494E-8654-7A40F8B406C9}" srcOrd="0" destOrd="0" presId="urn:microsoft.com/office/officeart/2018/2/layout/IconVerticalSolidList"/>
    <dgm:cxn modelId="{3EBFEA85-9D8C-435E-8FB3-2CD5069C5122}" type="presParOf" srcId="{A0DE64CF-80FF-4DDE-9B28-61796ABE27B4}" destId="{3AF060BD-F7A3-4F91-A81E-4A89E5708A7A}" srcOrd="1" destOrd="0" presId="urn:microsoft.com/office/officeart/2018/2/layout/IconVerticalSolidList"/>
    <dgm:cxn modelId="{D5D1B0E9-00AB-4BFD-83D2-3CE7FBCB3B85}" type="presParOf" srcId="{A0DE64CF-80FF-4DDE-9B28-61796ABE27B4}" destId="{9765EFB0-1235-4CF5-A66B-9012D97643CF}" srcOrd="2" destOrd="0" presId="urn:microsoft.com/office/officeart/2018/2/layout/IconVerticalSolidList"/>
    <dgm:cxn modelId="{A94CED32-EF0E-46ED-979F-5F43B564AB44}" type="presParOf" srcId="{A0DE64CF-80FF-4DDE-9B28-61796ABE27B4}" destId="{58B672EA-BF3F-4A46-88E7-8C7812D2B1A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2082D-39D0-4A15-B160-509F9A2691FF}">
      <dsp:nvSpPr>
        <dsp:cNvPr id="0" name=""/>
        <dsp:cNvSpPr/>
      </dsp:nvSpPr>
      <dsp:spPr>
        <a:xfrm>
          <a:off x="0" y="483531"/>
          <a:ext cx="8270240" cy="793012"/>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1863" tIns="395732" rIns="641863"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Start with a single input image containing one or more objects.</a:t>
          </a:r>
        </a:p>
      </dsp:txBody>
      <dsp:txXfrm>
        <a:off x="0" y="483531"/>
        <a:ext cx="8270240" cy="793012"/>
      </dsp:txXfrm>
    </dsp:sp>
    <dsp:sp modelId="{D9653CDB-303C-4B78-AC66-3195EBD5F89D}">
      <dsp:nvSpPr>
        <dsp:cNvPr id="0" name=""/>
        <dsp:cNvSpPr/>
      </dsp:nvSpPr>
      <dsp:spPr>
        <a:xfrm>
          <a:off x="413512" y="203091"/>
          <a:ext cx="5789168" cy="5608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8817" tIns="0" rIns="218817" bIns="0" numCol="1" spcCol="1270" anchor="ctr" anchorCtr="0">
          <a:noAutofit/>
        </a:bodyPr>
        <a:lstStyle/>
        <a:p>
          <a:pPr marL="0" lvl="0" indent="0" algn="l" defTabSz="844550">
            <a:lnSpc>
              <a:spcPct val="90000"/>
            </a:lnSpc>
            <a:spcBef>
              <a:spcPct val="0"/>
            </a:spcBef>
            <a:spcAft>
              <a:spcPct val="35000"/>
            </a:spcAft>
            <a:buNone/>
          </a:pPr>
          <a:r>
            <a:rPr lang="en-US" sz="1900" b="1" kern="1200"/>
            <a:t>Input Image:</a:t>
          </a:r>
          <a:endParaRPr lang="en-US" sz="1900" kern="1200"/>
        </a:p>
      </dsp:txBody>
      <dsp:txXfrm>
        <a:off x="440892" y="230471"/>
        <a:ext cx="5734408" cy="506120"/>
      </dsp:txXfrm>
    </dsp:sp>
    <dsp:sp modelId="{B7FCF4A4-4587-40D3-8E10-D6009AAD0017}">
      <dsp:nvSpPr>
        <dsp:cNvPr id="0" name=""/>
        <dsp:cNvSpPr/>
      </dsp:nvSpPr>
      <dsp:spPr>
        <a:xfrm>
          <a:off x="0" y="1659583"/>
          <a:ext cx="8270240" cy="1047375"/>
        </a:xfrm>
        <a:prstGeom prst="rect">
          <a:avLst/>
        </a:prstGeom>
        <a:solidFill>
          <a:schemeClr val="lt1">
            <a:alpha val="90000"/>
            <a:hueOff val="0"/>
            <a:satOff val="0"/>
            <a:lumOff val="0"/>
            <a:alphaOff val="0"/>
          </a:schemeClr>
        </a:solidFill>
        <a:ln w="12700" cap="flat" cmpd="sng" algn="ctr">
          <a:solidFill>
            <a:schemeClr val="accent5">
              <a:hueOff val="6336313"/>
              <a:satOff val="-8887"/>
              <a:lumOff val="-9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1863" tIns="395732" rIns="641863"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Use Selective Search to generate around 2,000 region proposals (potential object locations).</a:t>
          </a:r>
        </a:p>
      </dsp:txBody>
      <dsp:txXfrm>
        <a:off x="0" y="1659583"/>
        <a:ext cx="8270240" cy="1047375"/>
      </dsp:txXfrm>
    </dsp:sp>
    <dsp:sp modelId="{E6661CD3-8966-4136-9BFB-3A667FA7181E}">
      <dsp:nvSpPr>
        <dsp:cNvPr id="0" name=""/>
        <dsp:cNvSpPr/>
      </dsp:nvSpPr>
      <dsp:spPr>
        <a:xfrm>
          <a:off x="413512" y="1379143"/>
          <a:ext cx="5789168" cy="560880"/>
        </a:xfrm>
        <a:prstGeom prst="roundRect">
          <a:avLst/>
        </a:prstGeom>
        <a:solidFill>
          <a:schemeClr val="accent5">
            <a:hueOff val="6336313"/>
            <a:satOff val="-8887"/>
            <a:lumOff val="-9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8817" tIns="0" rIns="218817" bIns="0" numCol="1" spcCol="1270" anchor="ctr" anchorCtr="0">
          <a:noAutofit/>
        </a:bodyPr>
        <a:lstStyle/>
        <a:p>
          <a:pPr marL="0" lvl="0" indent="0" algn="l" defTabSz="844550">
            <a:lnSpc>
              <a:spcPct val="90000"/>
            </a:lnSpc>
            <a:spcBef>
              <a:spcPct val="0"/>
            </a:spcBef>
            <a:spcAft>
              <a:spcPct val="35000"/>
            </a:spcAft>
            <a:buNone/>
          </a:pPr>
          <a:r>
            <a:rPr lang="en-US" sz="1900" b="1" kern="1200"/>
            <a:t>Region Proposal Generation: </a:t>
          </a:r>
          <a:endParaRPr lang="en-US" sz="1900" kern="1200"/>
        </a:p>
      </dsp:txBody>
      <dsp:txXfrm>
        <a:off x="440892" y="1406523"/>
        <a:ext cx="5734408" cy="506120"/>
      </dsp:txXfrm>
    </dsp:sp>
    <dsp:sp modelId="{009E7304-2BF9-4D77-BF81-8CA06EBB15EE}">
      <dsp:nvSpPr>
        <dsp:cNvPr id="0" name=""/>
        <dsp:cNvSpPr/>
      </dsp:nvSpPr>
      <dsp:spPr>
        <a:xfrm>
          <a:off x="0" y="3089998"/>
          <a:ext cx="8270240" cy="1047375"/>
        </a:xfrm>
        <a:prstGeom prst="rect">
          <a:avLst/>
        </a:prstGeom>
        <a:solidFill>
          <a:schemeClr val="lt1">
            <a:alpha val="90000"/>
            <a:hueOff val="0"/>
            <a:satOff val="0"/>
            <a:lumOff val="0"/>
            <a:alphaOff val="0"/>
          </a:schemeClr>
        </a:solidFill>
        <a:ln w="12700" cap="flat" cmpd="sng" algn="ctr">
          <a:solidFill>
            <a:schemeClr val="accent5">
              <a:hueOff val="12672627"/>
              <a:satOff val="-17773"/>
              <a:lumOff val="-183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1863" tIns="395732" rIns="641863"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Each proposed region is cropped and resized (warped) to a fixed size. Then pass each region through a CNN to extract feature vectors.</a:t>
          </a:r>
        </a:p>
      </dsp:txBody>
      <dsp:txXfrm>
        <a:off x="0" y="3089998"/>
        <a:ext cx="8270240" cy="1047375"/>
      </dsp:txXfrm>
    </dsp:sp>
    <dsp:sp modelId="{A520D0D7-E6E2-4469-B756-2DABE089F5DB}">
      <dsp:nvSpPr>
        <dsp:cNvPr id="0" name=""/>
        <dsp:cNvSpPr/>
      </dsp:nvSpPr>
      <dsp:spPr>
        <a:xfrm>
          <a:off x="413512" y="2809558"/>
          <a:ext cx="5789168" cy="560880"/>
        </a:xfrm>
        <a:prstGeom prst="roundRect">
          <a:avLst/>
        </a:prstGeom>
        <a:solidFill>
          <a:schemeClr val="accent5">
            <a:hueOff val="12672627"/>
            <a:satOff val="-17773"/>
            <a:lumOff val="-18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8817" tIns="0" rIns="218817" bIns="0" numCol="1" spcCol="1270" anchor="ctr" anchorCtr="0">
          <a:noAutofit/>
        </a:bodyPr>
        <a:lstStyle/>
        <a:p>
          <a:pPr marL="0" lvl="0" indent="0" algn="l" defTabSz="844550">
            <a:lnSpc>
              <a:spcPct val="90000"/>
            </a:lnSpc>
            <a:spcBef>
              <a:spcPct val="0"/>
            </a:spcBef>
            <a:spcAft>
              <a:spcPct val="35000"/>
            </a:spcAft>
            <a:buNone/>
          </a:pPr>
          <a:r>
            <a:rPr lang="en-US" sz="1900" b="1" kern="1200"/>
            <a:t>Warp &amp; Feature Extraction: </a:t>
          </a:r>
          <a:endParaRPr lang="en-US" sz="1900" kern="1200"/>
        </a:p>
      </dsp:txBody>
      <dsp:txXfrm>
        <a:off x="440892" y="2836938"/>
        <a:ext cx="5734408" cy="506120"/>
      </dsp:txXfrm>
    </dsp:sp>
    <dsp:sp modelId="{BC273AD1-18D0-494A-B0E5-94DD40280F31}">
      <dsp:nvSpPr>
        <dsp:cNvPr id="0" name=""/>
        <dsp:cNvSpPr/>
      </dsp:nvSpPr>
      <dsp:spPr>
        <a:xfrm>
          <a:off x="0" y="4520413"/>
          <a:ext cx="8270240" cy="1047375"/>
        </a:xfrm>
        <a:prstGeom prst="rect">
          <a:avLst/>
        </a:prstGeom>
        <a:solidFill>
          <a:schemeClr val="lt1">
            <a:alpha val="90000"/>
            <a:hueOff val="0"/>
            <a:satOff val="0"/>
            <a:lumOff val="0"/>
            <a:alphaOff val="0"/>
          </a:schemeClr>
        </a:solidFill>
        <a:ln w="12700" cap="flat" cmpd="sng" algn="ctr">
          <a:solidFill>
            <a:schemeClr val="accent5">
              <a:hueOff val="19008940"/>
              <a:satOff val="-26660"/>
              <a:lumOff val="-27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1863" tIns="395732" rIns="641863"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Use the extracted features to classify each region using SVMs into object categories (e.g. person, car) or background.</a:t>
          </a:r>
        </a:p>
      </dsp:txBody>
      <dsp:txXfrm>
        <a:off x="0" y="4520413"/>
        <a:ext cx="8270240" cy="1047375"/>
      </dsp:txXfrm>
    </dsp:sp>
    <dsp:sp modelId="{4CE14947-B1AC-4E0C-8D47-8EB05F57F9A5}">
      <dsp:nvSpPr>
        <dsp:cNvPr id="0" name=""/>
        <dsp:cNvSpPr/>
      </dsp:nvSpPr>
      <dsp:spPr>
        <a:xfrm>
          <a:off x="413512" y="4239973"/>
          <a:ext cx="5789168" cy="560880"/>
        </a:xfrm>
        <a:prstGeom prst="roundRect">
          <a:avLst/>
        </a:prstGeom>
        <a:solidFill>
          <a:schemeClr val="accent5">
            <a:hueOff val="19008940"/>
            <a:satOff val="-26660"/>
            <a:lumOff val="-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8817" tIns="0" rIns="218817" bIns="0" numCol="1" spcCol="1270" anchor="ctr" anchorCtr="0">
          <a:noAutofit/>
        </a:bodyPr>
        <a:lstStyle/>
        <a:p>
          <a:pPr marL="0" lvl="0" indent="0" algn="l" defTabSz="844550">
            <a:lnSpc>
              <a:spcPct val="90000"/>
            </a:lnSpc>
            <a:spcBef>
              <a:spcPct val="0"/>
            </a:spcBef>
            <a:spcAft>
              <a:spcPct val="35000"/>
            </a:spcAft>
            <a:buNone/>
          </a:pPr>
          <a:r>
            <a:rPr lang="en-US" sz="1900" b="1" kern="1200"/>
            <a:t>Region Classification: </a:t>
          </a:r>
          <a:endParaRPr lang="en-US" sz="1900" kern="1200"/>
        </a:p>
      </dsp:txBody>
      <dsp:txXfrm>
        <a:off x="440892" y="4267353"/>
        <a:ext cx="5734408"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82825-5452-49BE-9885-A42817668C1C}">
      <dsp:nvSpPr>
        <dsp:cNvPr id="0" name=""/>
        <dsp:cNvSpPr/>
      </dsp:nvSpPr>
      <dsp:spPr>
        <a:xfrm>
          <a:off x="0" y="0"/>
          <a:ext cx="808736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3E9EDB-FEAD-4307-8592-77CB0BC05BEE}">
      <dsp:nvSpPr>
        <dsp:cNvPr id="0" name=""/>
        <dsp:cNvSpPr/>
      </dsp:nvSpPr>
      <dsp:spPr>
        <a:xfrm>
          <a:off x="0" y="0"/>
          <a:ext cx="8087360" cy="2700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The approach is similar to the R-CNN algorithm. But, instead of feeding the region proposals to the CNN, we feed the input image to the CNN to generate a convolutional feature map. From the convolutional feature map, we identify the region of proposals and warp them into squares and by using a </a:t>
          </a:r>
          <a:r>
            <a:rPr lang="en-US" sz="2100" kern="1200" dirty="0" err="1">
              <a:latin typeface="Times New Roman" panose="02020603050405020304" pitchFamily="18" charset="0"/>
              <a:cs typeface="Times New Roman" panose="02020603050405020304" pitchFamily="18" charset="0"/>
            </a:rPr>
            <a:t>RoI</a:t>
          </a:r>
          <a:r>
            <a:rPr lang="en-US" sz="2100" kern="1200" dirty="0">
              <a:latin typeface="Times New Roman" panose="02020603050405020304" pitchFamily="18" charset="0"/>
              <a:cs typeface="Times New Roman" panose="02020603050405020304" pitchFamily="18" charset="0"/>
            </a:rPr>
            <a:t> pooling layer we reshape them into a fixed size so that it can be fed into a fully connected layer. From the </a:t>
          </a:r>
          <a:r>
            <a:rPr lang="en-US" sz="2100" kern="1200" dirty="0" err="1">
              <a:latin typeface="Times New Roman" panose="02020603050405020304" pitchFamily="18" charset="0"/>
              <a:cs typeface="Times New Roman" panose="02020603050405020304" pitchFamily="18" charset="0"/>
            </a:rPr>
            <a:t>RoI</a:t>
          </a:r>
          <a:r>
            <a:rPr lang="en-US" sz="2100" kern="1200" dirty="0">
              <a:latin typeface="Times New Roman" panose="02020603050405020304" pitchFamily="18" charset="0"/>
              <a:cs typeface="Times New Roman" panose="02020603050405020304" pitchFamily="18" charset="0"/>
            </a:rPr>
            <a:t> feature vector, we use a </a:t>
          </a:r>
          <a:r>
            <a:rPr lang="en-US" sz="2100" kern="1200" dirty="0" err="1">
              <a:latin typeface="Times New Roman" panose="02020603050405020304" pitchFamily="18" charset="0"/>
              <a:cs typeface="Times New Roman" panose="02020603050405020304" pitchFamily="18" charset="0"/>
            </a:rPr>
            <a:t>softmax</a:t>
          </a:r>
          <a:r>
            <a:rPr lang="en-US" sz="2100" kern="1200" dirty="0">
              <a:latin typeface="Times New Roman" panose="02020603050405020304" pitchFamily="18" charset="0"/>
              <a:cs typeface="Times New Roman" panose="02020603050405020304" pitchFamily="18" charset="0"/>
            </a:rPr>
            <a:t> layer to predict the class of the proposed region and also the offset values for the bounding box.</a:t>
          </a:r>
        </a:p>
      </dsp:txBody>
      <dsp:txXfrm>
        <a:off x="0" y="0"/>
        <a:ext cx="8087360" cy="2700142"/>
      </dsp:txXfrm>
    </dsp:sp>
    <dsp:sp modelId="{CEA7DE41-6DA4-4203-8EB9-B5C1B9EB336F}">
      <dsp:nvSpPr>
        <dsp:cNvPr id="0" name=""/>
        <dsp:cNvSpPr/>
      </dsp:nvSpPr>
      <dsp:spPr>
        <a:xfrm>
          <a:off x="0" y="2700142"/>
          <a:ext cx="8087360" cy="0"/>
        </a:xfrm>
        <a:prstGeom prst="line">
          <a:avLst/>
        </a:prstGeom>
        <a:solidFill>
          <a:schemeClr val="accent5">
            <a:hueOff val="19008940"/>
            <a:satOff val="-26660"/>
            <a:lumOff val="-2746"/>
            <a:alphaOff val="0"/>
          </a:schemeClr>
        </a:solidFill>
        <a:ln w="12700" cap="flat" cmpd="sng" algn="ctr">
          <a:solidFill>
            <a:schemeClr val="accent5">
              <a:hueOff val="19008940"/>
              <a:satOff val="-26660"/>
              <a:lumOff val="-274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98C2E7-E54A-4FDA-AA31-B6BA409D3DCA}">
      <dsp:nvSpPr>
        <dsp:cNvPr id="0" name=""/>
        <dsp:cNvSpPr/>
      </dsp:nvSpPr>
      <dsp:spPr>
        <a:xfrm>
          <a:off x="0" y="2700142"/>
          <a:ext cx="8087360" cy="2700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The reason “Fast R-CNN” is faster than R-CNN is because you don’t have to feed 2000 region proposals to the convolutional neural network every time. Instead, the convolution operation is done only once per image and a feature map is generated from it.</a:t>
          </a:r>
        </a:p>
      </dsp:txBody>
      <dsp:txXfrm>
        <a:off x="0" y="2700142"/>
        <a:ext cx="8087360" cy="27001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B2CECC-37F9-4145-8EE8-6DE2C8D65CD6}">
      <dsp:nvSpPr>
        <dsp:cNvPr id="0" name=""/>
        <dsp:cNvSpPr/>
      </dsp:nvSpPr>
      <dsp:spPr>
        <a:xfrm>
          <a:off x="0" y="2282"/>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439DCD-1BC4-4BD0-898A-BADE659ACD71}">
      <dsp:nvSpPr>
        <dsp:cNvPr id="0" name=""/>
        <dsp:cNvSpPr/>
      </dsp:nvSpPr>
      <dsp:spPr>
        <a:xfrm>
          <a:off x="349915" y="262549"/>
          <a:ext cx="636209" cy="636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929DC8-786D-4B65-8878-573A728136B4}">
      <dsp:nvSpPr>
        <dsp:cNvPr id="0" name=""/>
        <dsp:cNvSpPr/>
      </dsp:nvSpPr>
      <dsp:spPr>
        <a:xfrm>
          <a:off x="1336039" y="228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Backbone Network</a:t>
          </a:r>
        </a:p>
      </dsp:txBody>
      <dsp:txXfrm>
        <a:off x="1336039" y="2282"/>
        <a:ext cx="4835908" cy="1156744"/>
      </dsp:txXfrm>
    </dsp:sp>
    <dsp:sp modelId="{E7F91AEE-2190-4F74-9E34-5B17108DB966}">
      <dsp:nvSpPr>
        <dsp:cNvPr id="0" name=""/>
        <dsp:cNvSpPr/>
      </dsp:nvSpPr>
      <dsp:spPr>
        <a:xfrm>
          <a:off x="0" y="1448212"/>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E848E8-4E22-46CC-8A23-986EE3913222}">
      <dsp:nvSpPr>
        <dsp:cNvPr id="0" name=""/>
        <dsp:cNvSpPr/>
      </dsp:nvSpPr>
      <dsp:spPr>
        <a:xfrm>
          <a:off x="349915" y="1708480"/>
          <a:ext cx="636209" cy="636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A8637A-53CE-48F4-B62F-00120E9D8E1D}">
      <dsp:nvSpPr>
        <dsp:cNvPr id="0" name=""/>
        <dsp:cNvSpPr/>
      </dsp:nvSpPr>
      <dsp:spPr>
        <a:xfrm>
          <a:off x="1336039" y="144821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Region Proposal Network (RPN)</a:t>
          </a:r>
        </a:p>
      </dsp:txBody>
      <dsp:txXfrm>
        <a:off x="1336039" y="1448212"/>
        <a:ext cx="4835908" cy="1156744"/>
      </dsp:txXfrm>
    </dsp:sp>
    <dsp:sp modelId="{6C61D5DC-A586-4AA3-8D57-27C3CE27BB85}">
      <dsp:nvSpPr>
        <dsp:cNvPr id="0" name=""/>
        <dsp:cNvSpPr/>
      </dsp:nvSpPr>
      <dsp:spPr>
        <a:xfrm>
          <a:off x="0" y="2894143"/>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52CBF8-89B6-447A-89B9-39B1C978B5E0}">
      <dsp:nvSpPr>
        <dsp:cNvPr id="0" name=""/>
        <dsp:cNvSpPr/>
      </dsp:nvSpPr>
      <dsp:spPr>
        <a:xfrm>
          <a:off x="349915" y="3154410"/>
          <a:ext cx="636209" cy="6362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6E2983-8524-4C9D-BB36-4C5E7E5364E6}">
      <dsp:nvSpPr>
        <dsp:cNvPr id="0" name=""/>
        <dsp:cNvSpPr/>
      </dsp:nvSpPr>
      <dsp:spPr>
        <a:xfrm>
          <a:off x="1336039" y="289414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Region of Interest(RoI) Pooling</a:t>
          </a:r>
        </a:p>
      </dsp:txBody>
      <dsp:txXfrm>
        <a:off x="1336039" y="2894143"/>
        <a:ext cx="4835908" cy="1156744"/>
      </dsp:txXfrm>
    </dsp:sp>
    <dsp:sp modelId="{82DA9C41-CC54-43E1-A95B-3D4396AC966A}">
      <dsp:nvSpPr>
        <dsp:cNvPr id="0" name=""/>
        <dsp:cNvSpPr/>
      </dsp:nvSpPr>
      <dsp:spPr>
        <a:xfrm>
          <a:off x="0" y="4340073"/>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047ABE-A942-4D6A-896F-521F72F4EA36}">
      <dsp:nvSpPr>
        <dsp:cNvPr id="0" name=""/>
        <dsp:cNvSpPr/>
      </dsp:nvSpPr>
      <dsp:spPr>
        <a:xfrm>
          <a:off x="349915" y="4600340"/>
          <a:ext cx="636209" cy="6362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BE431B-2931-4C5A-8371-6ECB0347333D}">
      <dsp:nvSpPr>
        <dsp:cNvPr id="0" name=""/>
        <dsp:cNvSpPr/>
      </dsp:nvSpPr>
      <dsp:spPr>
        <a:xfrm>
          <a:off x="1336039" y="434007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Detection Network</a:t>
          </a:r>
        </a:p>
      </dsp:txBody>
      <dsp:txXfrm>
        <a:off x="1336039" y="4340073"/>
        <a:ext cx="4835908" cy="11567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A8439C-3D84-4CA4-BB55-8D5885D86E3F}">
      <dsp:nvSpPr>
        <dsp:cNvPr id="0" name=""/>
        <dsp:cNvSpPr/>
      </dsp:nvSpPr>
      <dsp:spPr>
        <a:xfrm>
          <a:off x="0" y="456"/>
          <a:ext cx="10691265" cy="10682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582A0E-598E-4485-BEB8-2ACCCD490E62}">
      <dsp:nvSpPr>
        <dsp:cNvPr id="0" name=""/>
        <dsp:cNvSpPr/>
      </dsp:nvSpPr>
      <dsp:spPr>
        <a:xfrm>
          <a:off x="323154" y="240819"/>
          <a:ext cx="587554" cy="5875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EC1213-1748-425A-B943-4D0FF3568F8A}">
      <dsp:nvSpPr>
        <dsp:cNvPr id="0" name=""/>
        <dsp:cNvSpPr/>
      </dsp:nvSpPr>
      <dsp:spPr>
        <a:xfrm>
          <a:off x="1233864" y="456"/>
          <a:ext cx="9457400" cy="1068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060" tIns="113060" rIns="113060" bIns="113060" numCol="1" spcCol="1270" anchor="ctr" anchorCtr="0">
          <a:noAutofit/>
        </a:bodyPr>
        <a:lstStyle/>
        <a:p>
          <a:pPr marL="0" lvl="0" indent="0" algn="l" defTabSz="1111250">
            <a:lnSpc>
              <a:spcPct val="100000"/>
            </a:lnSpc>
            <a:spcBef>
              <a:spcPct val="0"/>
            </a:spcBef>
            <a:spcAft>
              <a:spcPct val="35000"/>
            </a:spcAft>
            <a:buNone/>
          </a:pPr>
          <a:r>
            <a:rPr lang="en-US" sz="2500" kern="1200"/>
            <a:t>The backbone is usually a deep CNN like VGG16, ResNet or ResNeXt.</a:t>
          </a:r>
        </a:p>
      </dsp:txBody>
      <dsp:txXfrm>
        <a:off x="1233864" y="456"/>
        <a:ext cx="9457400" cy="1068280"/>
      </dsp:txXfrm>
    </dsp:sp>
    <dsp:sp modelId="{3D6C786B-E6A7-41C3-9028-391CB93ACB38}">
      <dsp:nvSpPr>
        <dsp:cNvPr id="0" name=""/>
        <dsp:cNvSpPr/>
      </dsp:nvSpPr>
      <dsp:spPr>
        <a:xfrm>
          <a:off x="0" y="1335807"/>
          <a:ext cx="10691265" cy="10682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0E1C5F-CD59-46FE-8D10-1E60E096CD7C}">
      <dsp:nvSpPr>
        <dsp:cNvPr id="0" name=""/>
        <dsp:cNvSpPr/>
      </dsp:nvSpPr>
      <dsp:spPr>
        <a:xfrm>
          <a:off x="323154" y="1576170"/>
          <a:ext cx="587554" cy="5875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664F88-1A02-4AC0-8D99-26BFC663ED29}">
      <dsp:nvSpPr>
        <dsp:cNvPr id="0" name=""/>
        <dsp:cNvSpPr/>
      </dsp:nvSpPr>
      <dsp:spPr>
        <a:xfrm>
          <a:off x="1233864" y="1335807"/>
          <a:ext cx="9457400" cy="1068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060" tIns="113060" rIns="113060" bIns="113060" numCol="1" spcCol="1270" anchor="ctr" anchorCtr="0">
          <a:noAutofit/>
        </a:bodyPr>
        <a:lstStyle/>
        <a:p>
          <a:pPr marL="0" lvl="0" indent="0" algn="l" defTabSz="1111250">
            <a:lnSpc>
              <a:spcPct val="100000"/>
            </a:lnSpc>
            <a:spcBef>
              <a:spcPct val="0"/>
            </a:spcBef>
            <a:spcAft>
              <a:spcPct val="35000"/>
            </a:spcAft>
            <a:buNone/>
          </a:pPr>
          <a:r>
            <a:rPr lang="en-US" sz="2500" kern="1200"/>
            <a:t>It extracts feature maps from the input image.</a:t>
          </a:r>
        </a:p>
      </dsp:txBody>
      <dsp:txXfrm>
        <a:off x="1233864" y="1335807"/>
        <a:ext cx="9457400" cy="1068280"/>
      </dsp:txXfrm>
    </dsp:sp>
    <dsp:sp modelId="{022DE5B6-07CF-454E-B0CF-5BD84F79DAE8}">
      <dsp:nvSpPr>
        <dsp:cNvPr id="0" name=""/>
        <dsp:cNvSpPr/>
      </dsp:nvSpPr>
      <dsp:spPr>
        <a:xfrm>
          <a:off x="0" y="2671158"/>
          <a:ext cx="10691265" cy="10682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DCB70B-9DC6-475C-B721-79BA87B6BF64}">
      <dsp:nvSpPr>
        <dsp:cNvPr id="0" name=""/>
        <dsp:cNvSpPr/>
      </dsp:nvSpPr>
      <dsp:spPr>
        <a:xfrm>
          <a:off x="323154" y="2911521"/>
          <a:ext cx="587554" cy="5875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96750C-977E-43CE-B179-10BE1EA52413}">
      <dsp:nvSpPr>
        <dsp:cNvPr id="0" name=""/>
        <dsp:cNvSpPr/>
      </dsp:nvSpPr>
      <dsp:spPr>
        <a:xfrm>
          <a:off x="1233864" y="2671158"/>
          <a:ext cx="9457400" cy="1068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060" tIns="113060" rIns="113060" bIns="113060" numCol="1" spcCol="1270" anchor="ctr" anchorCtr="0">
          <a:noAutofit/>
        </a:bodyPr>
        <a:lstStyle/>
        <a:p>
          <a:pPr marL="0" lvl="0" indent="0" algn="l" defTabSz="1111250">
            <a:lnSpc>
              <a:spcPct val="100000"/>
            </a:lnSpc>
            <a:spcBef>
              <a:spcPct val="0"/>
            </a:spcBef>
            <a:spcAft>
              <a:spcPct val="35000"/>
            </a:spcAft>
            <a:buNone/>
          </a:pPr>
          <a:r>
            <a:rPr lang="en-US" sz="2500" kern="1200"/>
            <a:t>These feature maps are shared by both the RPN and the detection network.</a:t>
          </a:r>
        </a:p>
      </dsp:txBody>
      <dsp:txXfrm>
        <a:off x="1233864" y="2671158"/>
        <a:ext cx="9457400" cy="10682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CABD4-880B-4AB1-B3DF-02275401A3EE}">
      <dsp:nvSpPr>
        <dsp:cNvPr id="0" name=""/>
        <dsp:cNvSpPr/>
      </dsp:nvSpPr>
      <dsp:spPr>
        <a:xfrm>
          <a:off x="0" y="2282"/>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958D6-17F6-4C2B-8258-805664888E17}">
      <dsp:nvSpPr>
        <dsp:cNvPr id="0" name=""/>
        <dsp:cNvSpPr/>
      </dsp:nvSpPr>
      <dsp:spPr>
        <a:xfrm>
          <a:off x="349915" y="262549"/>
          <a:ext cx="636209" cy="636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89CA85-2F6A-42DB-A8EA-1232E0C10C96}">
      <dsp:nvSpPr>
        <dsp:cNvPr id="0" name=""/>
        <dsp:cNvSpPr/>
      </dsp:nvSpPr>
      <dsp:spPr>
        <a:xfrm>
          <a:off x="1336039" y="228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Healthcare</a:t>
          </a:r>
        </a:p>
      </dsp:txBody>
      <dsp:txXfrm>
        <a:off x="1336039" y="2282"/>
        <a:ext cx="4835908" cy="1156744"/>
      </dsp:txXfrm>
    </dsp:sp>
    <dsp:sp modelId="{587C01B3-5A3B-48E0-BD78-50B23E9B10D6}">
      <dsp:nvSpPr>
        <dsp:cNvPr id="0" name=""/>
        <dsp:cNvSpPr/>
      </dsp:nvSpPr>
      <dsp:spPr>
        <a:xfrm>
          <a:off x="0" y="1448212"/>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11C698-D683-4D3A-B1B6-543D2064555C}">
      <dsp:nvSpPr>
        <dsp:cNvPr id="0" name=""/>
        <dsp:cNvSpPr/>
      </dsp:nvSpPr>
      <dsp:spPr>
        <a:xfrm>
          <a:off x="349915" y="1708480"/>
          <a:ext cx="636209" cy="636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288FE5-8199-4251-9243-CA61477A5583}">
      <dsp:nvSpPr>
        <dsp:cNvPr id="0" name=""/>
        <dsp:cNvSpPr/>
      </dsp:nvSpPr>
      <dsp:spPr>
        <a:xfrm>
          <a:off x="1336039" y="144821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Agriculture</a:t>
          </a:r>
        </a:p>
      </dsp:txBody>
      <dsp:txXfrm>
        <a:off x="1336039" y="1448212"/>
        <a:ext cx="4835908" cy="1156744"/>
      </dsp:txXfrm>
    </dsp:sp>
    <dsp:sp modelId="{F78D31CB-FF0C-48CC-A9B3-BF7A19B769B8}">
      <dsp:nvSpPr>
        <dsp:cNvPr id="0" name=""/>
        <dsp:cNvSpPr/>
      </dsp:nvSpPr>
      <dsp:spPr>
        <a:xfrm>
          <a:off x="0" y="2894143"/>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ABDCD4-454F-4B81-B9DF-15534AB73B29}">
      <dsp:nvSpPr>
        <dsp:cNvPr id="0" name=""/>
        <dsp:cNvSpPr/>
      </dsp:nvSpPr>
      <dsp:spPr>
        <a:xfrm>
          <a:off x="349915" y="3154410"/>
          <a:ext cx="636209" cy="6362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74BA55-AB12-4486-88BA-AAEAF2626E3B}">
      <dsp:nvSpPr>
        <dsp:cNvPr id="0" name=""/>
        <dsp:cNvSpPr/>
      </dsp:nvSpPr>
      <dsp:spPr>
        <a:xfrm>
          <a:off x="1336039" y="289414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Security surveillance</a:t>
          </a:r>
        </a:p>
      </dsp:txBody>
      <dsp:txXfrm>
        <a:off x="1336039" y="2894143"/>
        <a:ext cx="4835908" cy="1156744"/>
      </dsp:txXfrm>
    </dsp:sp>
    <dsp:sp modelId="{C2E518E5-C630-494E-8654-7A40F8B406C9}">
      <dsp:nvSpPr>
        <dsp:cNvPr id="0" name=""/>
        <dsp:cNvSpPr/>
      </dsp:nvSpPr>
      <dsp:spPr>
        <a:xfrm>
          <a:off x="0" y="4340073"/>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F060BD-F7A3-4F91-A81E-4A89E5708A7A}">
      <dsp:nvSpPr>
        <dsp:cNvPr id="0" name=""/>
        <dsp:cNvSpPr/>
      </dsp:nvSpPr>
      <dsp:spPr>
        <a:xfrm>
          <a:off x="349915" y="4600340"/>
          <a:ext cx="636209" cy="6362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B672EA-BF3F-4A46-88E7-8C7812D2B1A3}">
      <dsp:nvSpPr>
        <dsp:cNvPr id="0" name=""/>
        <dsp:cNvSpPr/>
      </dsp:nvSpPr>
      <dsp:spPr>
        <a:xfrm>
          <a:off x="1336039" y="434007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77900">
            <a:lnSpc>
              <a:spcPct val="90000"/>
            </a:lnSpc>
            <a:spcBef>
              <a:spcPct val="0"/>
            </a:spcBef>
            <a:spcAft>
              <a:spcPct val="35000"/>
            </a:spcAft>
            <a:buNone/>
          </a:pPr>
          <a:r>
            <a:rPr lang="en-US" sz="2200" kern="1200"/>
            <a:t>Self-driving cars</a:t>
          </a:r>
        </a:p>
      </dsp:txBody>
      <dsp:txXfrm>
        <a:off x="1336039" y="4340073"/>
        <a:ext cx="4835908" cy="115674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9/19/2025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8879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9/19/2025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0233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9/19/2025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82798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9/19/2025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8697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9/19/2025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94765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9/19/2025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25129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9/19/2025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18663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9/19/2025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5344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9/19/2025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18674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9/19/2025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6764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9/19/2025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9261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9/19/2025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15870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22">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2" descr="101010 data lines to infinity">
            <a:extLst>
              <a:ext uri="{FF2B5EF4-FFF2-40B4-BE49-F238E27FC236}">
                <a16:creationId xmlns:a16="http://schemas.microsoft.com/office/drawing/2014/main" id="{86C2DF1D-ACCB-8ECE-528E-B2D2EA8F1877}"/>
              </a:ext>
            </a:extLst>
          </p:cNvPr>
          <p:cNvPicPr>
            <a:picLocks noChangeAspect="1"/>
          </p:cNvPicPr>
          <p:nvPr/>
        </p:nvPicPr>
        <p:blipFill>
          <a:blip r:embed="rId2"/>
          <a:srcRect t="13128"/>
          <a:stretch>
            <a:fillRect/>
          </a:stretch>
        </p:blipFill>
        <p:spPr>
          <a:xfrm>
            <a:off x="1" y="10"/>
            <a:ext cx="12192000" cy="6857989"/>
          </a:xfrm>
          <a:prstGeom prst="rect">
            <a:avLst/>
          </a:prstGeom>
        </p:spPr>
      </p:pic>
      <p:sp>
        <p:nvSpPr>
          <p:cNvPr id="44" name="Rectangle 24">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2A46D6-A1F5-4688-8CD0-E71F938B72F2}"/>
              </a:ext>
            </a:extLst>
          </p:cNvPr>
          <p:cNvSpPr>
            <a:spLocks noGrp="1"/>
          </p:cNvSpPr>
          <p:nvPr>
            <p:ph type="ctrTitle"/>
          </p:nvPr>
        </p:nvSpPr>
        <p:spPr>
          <a:xfrm>
            <a:off x="1833541" y="990599"/>
            <a:ext cx="5619054" cy="4849091"/>
          </a:xfrm>
        </p:spPr>
        <p:txBody>
          <a:bodyPr anchor="ctr">
            <a:normAutofit/>
          </a:bodyPr>
          <a:lstStyle/>
          <a:p>
            <a:pPr algn="r"/>
            <a:r>
              <a:rPr lang="en-US" dirty="0">
                <a:solidFill>
                  <a:srgbClr val="FFFFFF"/>
                </a:solidFill>
              </a:rPr>
              <a:t>Computer Vision</a:t>
            </a:r>
            <a:endParaRPr lang="en-PK" dirty="0">
              <a:solidFill>
                <a:srgbClr val="FFFFFF"/>
              </a:solidFill>
            </a:endParaRPr>
          </a:p>
        </p:txBody>
      </p:sp>
      <p:cxnSp>
        <p:nvCxnSpPr>
          <p:cNvPr id="27" name="Straight Connector 26">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52553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E7C328-7ADE-434F-99D9-45303D253541}"/>
              </a:ext>
            </a:extLst>
          </p:cNvPr>
          <p:cNvSpPr>
            <a:spLocks noGrp="1"/>
          </p:cNvSpPr>
          <p:nvPr>
            <p:ph type="title"/>
          </p:nvPr>
        </p:nvSpPr>
        <p:spPr>
          <a:xfrm>
            <a:off x="5742672" y="909638"/>
            <a:ext cx="5848694" cy="1318062"/>
          </a:xfrm>
        </p:spPr>
        <p:txBody>
          <a:bodyPr>
            <a:normAutofit/>
          </a:bodyPr>
          <a:lstStyle/>
          <a:p>
            <a:r>
              <a:rPr lang="en-US" dirty="0"/>
              <a:t>Computer Vision (CV)</a:t>
            </a:r>
            <a:endParaRPr lang="en-PK" dirty="0"/>
          </a:p>
        </p:txBody>
      </p:sp>
      <p:pic>
        <p:nvPicPr>
          <p:cNvPr id="15" name="Graphic 6" descr="Robot">
            <a:extLst>
              <a:ext uri="{FF2B5EF4-FFF2-40B4-BE49-F238E27FC236}">
                <a16:creationId xmlns:a16="http://schemas.microsoft.com/office/drawing/2014/main" id="{927AF15A-5AD5-ED50-63E4-D0E5B4690B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0101" y="1679090"/>
            <a:ext cx="4455010" cy="4455010"/>
          </a:xfrm>
          <a:prstGeom prst="rect">
            <a:avLst/>
          </a:prstGeom>
        </p:spPr>
      </p:pic>
      <p:cxnSp>
        <p:nvCxnSpPr>
          <p:cNvPr id="16"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80661" y="723900"/>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B65D2ED-98F4-4985-B3FE-43B65402F4F0}"/>
              </a:ext>
            </a:extLst>
          </p:cNvPr>
          <p:cNvSpPr>
            <a:spLocks noGrp="1"/>
          </p:cNvSpPr>
          <p:nvPr>
            <p:ph idx="1"/>
          </p:nvPr>
        </p:nvSpPr>
        <p:spPr>
          <a:xfrm>
            <a:off x="5742672" y="2276474"/>
            <a:ext cx="5848694" cy="3885027"/>
          </a:xfrm>
        </p:spPr>
        <p:txBody>
          <a:bodyPr>
            <a:normAutofit/>
          </a:bodyPr>
          <a:lstStyle/>
          <a:p>
            <a:pPr marL="0" indent="0" algn="just">
              <a:buNone/>
            </a:pPr>
            <a:r>
              <a:rPr lang="en-US" dirty="0"/>
              <a:t>Computer Vision (CV) is a branch of Artificial Intelligence (AI) that helps computers to interpret and understand visual information much like humans. This tutorial is designed for both beginners and experienced professionals and covers key concepts such as Image Processing, Feature Extraction, Object Detection, Image Segmentation and other core techniques in CV</a:t>
            </a:r>
            <a:endParaRPr lang="en-PK" dirty="0"/>
          </a:p>
        </p:txBody>
      </p:sp>
    </p:spTree>
    <p:extLst>
      <p:ext uri="{BB962C8B-B14F-4D97-AF65-F5344CB8AC3E}">
        <p14:creationId xmlns:p14="http://schemas.microsoft.com/office/powerpoint/2010/main" val="429330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E4E1DE-5F0F-4AEA-8793-93964653786D}"/>
              </a:ext>
            </a:extLst>
          </p:cNvPr>
          <p:cNvSpPr>
            <a:spLocks noGrp="1"/>
          </p:cNvSpPr>
          <p:nvPr>
            <p:ph type="title"/>
          </p:nvPr>
        </p:nvSpPr>
        <p:spPr>
          <a:xfrm>
            <a:off x="6181344" y="909637"/>
            <a:ext cx="5315442" cy="1307592"/>
          </a:xfrm>
        </p:spPr>
        <p:txBody>
          <a:bodyPr>
            <a:normAutofit/>
          </a:bodyPr>
          <a:lstStyle/>
          <a:p>
            <a:pPr>
              <a:lnSpc>
                <a:spcPct val="90000"/>
              </a:lnSpc>
            </a:pPr>
            <a:r>
              <a:rPr lang="en-US" sz="2800" dirty="0"/>
              <a:t>R-CNN - Region-Based Convolutional Neural Networks</a:t>
            </a:r>
            <a:endParaRPr lang="en-PK" sz="2800" dirty="0"/>
          </a:p>
        </p:txBody>
      </p:sp>
      <p:pic>
        <p:nvPicPr>
          <p:cNvPr id="5" name="Picture 4" descr="Molecular DNA structure">
            <a:extLst>
              <a:ext uri="{FF2B5EF4-FFF2-40B4-BE49-F238E27FC236}">
                <a16:creationId xmlns:a16="http://schemas.microsoft.com/office/drawing/2014/main" id="{F364036A-E632-5DF3-EECF-9C2E22942DAA}"/>
              </a:ext>
            </a:extLst>
          </p:cNvPr>
          <p:cNvPicPr>
            <a:picLocks noChangeAspect="1"/>
          </p:cNvPicPr>
          <p:nvPr/>
        </p:nvPicPr>
        <p:blipFill>
          <a:blip r:embed="rId2"/>
          <a:srcRect l="15783" r="25387" b="-1"/>
          <a:stretch>
            <a:fillRect/>
          </a:stretch>
        </p:blipFill>
        <p:spPr>
          <a:xfrm>
            <a:off x="20" y="10"/>
            <a:ext cx="6044164" cy="6857990"/>
          </a:xfrm>
          <a:prstGeom prst="rect">
            <a:avLst/>
          </a:prstGeom>
        </p:spPr>
      </p:pic>
      <p:cxnSp>
        <p:nvCxnSpPr>
          <p:cNvPr id="11" name="Straight Connector 10">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E2F3824-D8D9-410B-B1A0-DDAB668820F3}"/>
              </a:ext>
            </a:extLst>
          </p:cNvPr>
          <p:cNvSpPr>
            <a:spLocks noGrp="1"/>
          </p:cNvSpPr>
          <p:nvPr>
            <p:ph idx="1"/>
          </p:nvPr>
        </p:nvSpPr>
        <p:spPr>
          <a:xfrm>
            <a:off x="6089904" y="2221992"/>
            <a:ext cx="5406882" cy="3739896"/>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Traditional Convolutional Neural Networks (CNNs) with fully connected layers often struggle with object detection tasks, especially when dealing with multiple objects of varying sizes and positions within an image. A brute-force method like applying a sliding window across the image to detect objects is highly computationally expensive, as it fails to scale efficiently when object frequency and variation increase.</a:t>
            </a:r>
            <a:endParaRPr lang="en-PK" dirty="0">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030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3CA18-B54B-4BCF-BDB0-E244A0A46A84}"/>
              </a:ext>
            </a:extLst>
          </p:cNvPr>
          <p:cNvSpPr>
            <a:spLocks noGrp="1"/>
          </p:cNvSpPr>
          <p:nvPr>
            <p:ph type="title"/>
          </p:nvPr>
        </p:nvSpPr>
        <p:spPr/>
        <p:txBody>
          <a:bodyPr/>
          <a:lstStyle/>
          <a:p>
            <a:r>
              <a:rPr lang="en-US" dirty="0"/>
              <a:t>R-CNN Working</a:t>
            </a:r>
            <a:endParaRPr lang="en-PK" dirty="0"/>
          </a:p>
        </p:txBody>
      </p:sp>
      <p:pic>
        <p:nvPicPr>
          <p:cNvPr id="1026" name="Picture 2" descr="Lightbox">
            <a:extLst>
              <a:ext uri="{FF2B5EF4-FFF2-40B4-BE49-F238E27FC236}">
                <a16:creationId xmlns:a16="http://schemas.microsoft.com/office/drawing/2014/main" id="{F8C0E576-F1EC-42F3-A12C-7446E7FB89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6700" y="2092960"/>
            <a:ext cx="11339692" cy="346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239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48F4F-A035-4047-9E04-C451A7E208E9}"/>
              </a:ext>
            </a:extLst>
          </p:cNvPr>
          <p:cNvSpPr>
            <a:spLocks noGrp="1"/>
          </p:cNvSpPr>
          <p:nvPr>
            <p:ph type="title"/>
          </p:nvPr>
        </p:nvSpPr>
        <p:spPr>
          <a:xfrm>
            <a:off x="704087" y="609601"/>
            <a:ext cx="2521714" cy="4488878"/>
          </a:xfrm>
        </p:spPr>
        <p:txBody>
          <a:bodyPr>
            <a:normAutofit/>
          </a:bodyPr>
          <a:lstStyle/>
          <a:p>
            <a:r>
              <a:rPr lang="en-US" sz="3200"/>
              <a:t>R-CNN Working</a:t>
            </a:r>
            <a:endParaRPr lang="en-PK" sz="3200"/>
          </a:p>
        </p:txBody>
      </p:sp>
      <p:cxnSp>
        <p:nvCxnSpPr>
          <p:cNvPr id="22" name="Straight Connector 21">
            <a:extLst>
              <a:ext uri="{FF2B5EF4-FFF2-40B4-BE49-F238E27FC236}">
                <a16:creationId xmlns:a16="http://schemas.microsoft.com/office/drawing/2014/main" id="{0ADD27CF-4CE1-2871-1ABA-40FCA4D032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38488"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D319B576-37FB-35EA-6C37-46E90FF2F0C6}"/>
              </a:ext>
            </a:extLst>
          </p:cNvPr>
          <p:cNvGraphicFramePr>
            <a:graphicFrameLocks noGrp="1"/>
          </p:cNvGraphicFramePr>
          <p:nvPr>
            <p:ph idx="1"/>
            <p:extLst>
              <p:ext uri="{D42A27DB-BD31-4B8C-83A1-F6EECF244321}">
                <p14:modId xmlns:p14="http://schemas.microsoft.com/office/powerpoint/2010/main" val="1728753003"/>
              </p:ext>
            </p:extLst>
          </p:nvPr>
        </p:nvGraphicFramePr>
        <p:xfrm>
          <a:off x="3718560" y="731520"/>
          <a:ext cx="8270240" cy="5770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3248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E50CE-9FF9-4722-B252-C33EB2E19A3E}"/>
              </a:ext>
            </a:extLst>
          </p:cNvPr>
          <p:cNvSpPr>
            <a:spLocks noGrp="1"/>
          </p:cNvSpPr>
          <p:nvPr>
            <p:ph type="title"/>
          </p:nvPr>
        </p:nvSpPr>
        <p:spPr>
          <a:xfrm>
            <a:off x="704087" y="609601"/>
            <a:ext cx="2521714" cy="4488878"/>
          </a:xfrm>
        </p:spPr>
        <p:txBody>
          <a:bodyPr>
            <a:normAutofit/>
          </a:bodyPr>
          <a:lstStyle/>
          <a:p>
            <a:r>
              <a:rPr lang="en-US" sz="3200"/>
              <a:t>Fast R-CNN</a:t>
            </a:r>
            <a:endParaRPr lang="en-PK" sz="3200"/>
          </a:p>
        </p:txBody>
      </p:sp>
      <p:cxnSp>
        <p:nvCxnSpPr>
          <p:cNvPr id="25" name="Straight Connector 24">
            <a:extLst>
              <a:ext uri="{FF2B5EF4-FFF2-40B4-BE49-F238E27FC236}">
                <a16:creationId xmlns:a16="http://schemas.microsoft.com/office/drawing/2014/main" id="{0ADD27CF-4CE1-2871-1ABA-40FCA4D032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38488"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8" name="Content Placeholder 2">
            <a:extLst>
              <a:ext uri="{FF2B5EF4-FFF2-40B4-BE49-F238E27FC236}">
                <a16:creationId xmlns:a16="http://schemas.microsoft.com/office/drawing/2014/main" id="{09261B4F-F3DE-3FBC-401A-44AB8CA36B36}"/>
              </a:ext>
            </a:extLst>
          </p:cNvPr>
          <p:cNvGraphicFramePr>
            <a:graphicFrameLocks noGrp="1"/>
          </p:cNvGraphicFramePr>
          <p:nvPr>
            <p:ph idx="1"/>
            <p:extLst>
              <p:ext uri="{D42A27DB-BD31-4B8C-83A1-F6EECF244321}">
                <p14:modId xmlns:p14="http://schemas.microsoft.com/office/powerpoint/2010/main" val="2870310632"/>
              </p:ext>
            </p:extLst>
          </p:nvPr>
        </p:nvGraphicFramePr>
        <p:xfrm>
          <a:off x="3616960" y="723900"/>
          <a:ext cx="8087360" cy="54002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6588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F91C-E1A8-40C9-81AE-AA4C966B5555}"/>
              </a:ext>
            </a:extLst>
          </p:cNvPr>
          <p:cNvSpPr>
            <a:spLocks noGrp="1"/>
          </p:cNvSpPr>
          <p:nvPr>
            <p:ph type="title"/>
          </p:nvPr>
        </p:nvSpPr>
        <p:spPr/>
        <p:txBody>
          <a:bodyPr/>
          <a:lstStyle/>
          <a:p>
            <a:r>
              <a:rPr lang="en-US" dirty="0"/>
              <a:t>Fast R-CNN architecture</a:t>
            </a:r>
            <a:endParaRPr lang="en-PK" dirty="0"/>
          </a:p>
        </p:txBody>
      </p:sp>
      <p:pic>
        <p:nvPicPr>
          <p:cNvPr id="2050" name="Picture 2" descr="Lightbox">
            <a:extLst>
              <a:ext uri="{FF2B5EF4-FFF2-40B4-BE49-F238E27FC236}">
                <a16:creationId xmlns:a16="http://schemas.microsoft.com/office/drawing/2014/main" id="{CD103429-2B04-45B1-8381-1725B80B10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5098" y="1645920"/>
            <a:ext cx="10670814" cy="4335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96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F9E720-8D1D-4C2B-9888-2A6632B6BB1A}"/>
              </a:ext>
            </a:extLst>
          </p:cNvPr>
          <p:cNvSpPr>
            <a:spLocks noGrp="1"/>
          </p:cNvSpPr>
          <p:nvPr>
            <p:ph type="title"/>
          </p:nvPr>
        </p:nvSpPr>
        <p:spPr>
          <a:xfrm>
            <a:off x="5248656" y="914400"/>
            <a:ext cx="6236208" cy="1307592"/>
          </a:xfrm>
        </p:spPr>
        <p:txBody>
          <a:bodyPr>
            <a:normAutofit/>
          </a:bodyPr>
          <a:lstStyle/>
          <a:p>
            <a:r>
              <a:rPr lang="en-US" dirty="0"/>
              <a:t>Faster R-CNN</a:t>
            </a:r>
            <a:endParaRPr lang="en-PK" dirty="0"/>
          </a:p>
        </p:txBody>
      </p:sp>
      <p:pic>
        <p:nvPicPr>
          <p:cNvPr id="15" name="Picture 14" descr="A 3D pattern of ring shapes connected by lines">
            <a:extLst>
              <a:ext uri="{FF2B5EF4-FFF2-40B4-BE49-F238E27FC236}">
                <a16:creationId xmlns:a16="http://schemas.microsoft.com/office/drawing/2014/main" id="{E1661427-9912-DC0A-3E46-3D17390DAA9C}"/>
              </a:ext>
            </a:extLst>
          </p:cNvPr>
          <p:cNvPicPr>
            <a:picLocks noChangeAspect="1"/>
          </p:cNvPicPr>
          <p:nvPr/>
        </p:nvPicPr>
        <p:blipFill>
          <a:blip r:embed="rId2"/>
          <a:srcRect l="14514" r="47236"/>
          <a:stretch>
            <a:fillRect/>
          </a:stretch>
        </p:blipFill>
        <p:spPr>
          <a:xfrm>
            <a:off x="20" y="-1"/>
            <a:ext cx="4663420" cy="6858001"/>
          </a:xfrm>
          <a:prstGeom prst="rect">
            <a:avLst/>
          </a:prstGeom>
        </p:spPr>
      </p:pic>
      <p:cxnSp>
        <p:nvCxnSpPr>
          <p:cNvPr id="21" name="Straight Connector 2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F8FAC2-DD1A-425C-B888-86D98FA3B532}"/>
              </a:ext>
            </a:extLst>
          </p:cNvPr>
          <p:cNvSpPr>
            <a:spLocks noGrp="1"/>
          </p:cNvSpPr>
          <p:nvPr>
            <p:ph idx="1"/>
          </p:nvPr>
        </p:nvSpPr>
        <p:spPr>
          <a:xfrm>
            <a:off x="5248656" y="2221992"/>
            <a:ext cx="6236208" cy="3941064"/>
          </a:xfrm>
        </p:spPr>
        <p:txBody>
          <a:bodyPr>
            <a:normAutofit/>
          </a:bodyPr>
          <a:lstStyle/>
          <a:p>
            <a:pPr marL="0" indent="0" algn="just">
              <a:buNone/>
            </a:pPr>
            <a:r>
              <a:rPr lang="en-US" dirty="0"/>
              <a:t>Faster R-CNN is a popular deep learning model used for object detection which involves identifying and localizing objects within an image. Building on earlier models like R-CNN and Fast R-CNN, Faster R-CNN introduced a significant improvement by incorporating a Region Proposal Network (RPN) that generates object proposals directly within the model. This integration makes it faster and more accurate allowing it to detect multiple objects in real time with high precision.</a:t>
            </a:r>
            <a:endParaRPr lang="en-PK" dirty="0"/>
          </a:p>
        </p:txBody>
      </p:sp>
    </p:spTree>
    <p:extLst>
      <p:ext uri="{BB962C8B-B14F-4D97-AF65-F5344CB8AC3E}">
        <p14:creationId xmlns:p14="http://schemas.microsoft.com/office/powerpoint/2010/main" val="238001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F91E8-9078-43FC-8508-E1C2850A0ABD}"/>
              </a:ext>
            </a:extLst>
          </p:cNvPr>
          <p:cNvSpPr>
            <a:spLocks noGrp="1"/>
          </p:cNvSpPr>
          <p:nvPr>
            <p:ph type="title"/>
          </p:nvPr>
        </p:nvSpPr>
        <p:spPr>
          <a:xfrm>
            <a:off x="700635" y="914400"/>
            <a:ext cx="10691265" cy="786384"/>
          </a:xfrm>
        </p:spPr>
        <p:txBody>
          <a:bodyPr/>
          <a:lstStyle/>
          <a:p>
            <a:r>
              <a:rPr lang="en-US" dirty="0"/>
              <a:t>Faster R-CNN</a:t>
            </a:r>
            <a:endParaRPr lang="en-PK" dirty="0"/>
          </a:p>
        </p:txBody>
      </p:sp>
      <p:pic>
        <p:nvPicPr>
          <p:cNvPr id="9" name="Content Placeholder 8">
            <a:extLst>
              <a:ext uri="{FF2B5EF4-FFF2-40B4-BE49-F238E27FC236}">
                <a16:creationId xmlns:a16="http://schemas.microsoft.com/office/drawing/2014/main" id="{EB587C65-E4BC-4415-8471-A5D7C4374E87}"/>
              </a:ext>
            </a:extLst>
          </p:cNvPr>
          <p:cNvPicPr>
            <a:picLocks noGrp="1" noChangeAspect="1"/>
          </p:cNvPicPr>
          <p:nvPr>
            <p:ph idx="1"/>
          </p:nvPr>
        </p:nvPicPr>
        <p:blipFill>
          <a:blip r:embed="rId2"/>
          <a:stretch>
            <a:fillRect/>
          </a:stretch>
        </p:blipFill>
        <p:spPr>
          <a:xfrm>
            <a:off x="1393952" y="1808480"/>
            <a:ext cx="8993664" cy="4093210"/>
          </a:xfrm>
          <a:prstGeom prst="rect">
            <a:avLst/>
          </a:prstGeom>
        </p:spPr>
      </p:pic>
    </p:spTree>
    <p:extLst>
      <p:ext uri="{BB962C8B-B14F-4D97-AF65-F5344CB8AC3E}">
        <p14:creationId xmlns:p14="http://schemas.microsoft.com/office/powerpoint/2010/main" val="3923848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AD349B-4BCE-402E-8F60-BB743B945F85}"/>
              </a:ext>
            </a:extLst>
          </p:cNvPr>
          <p:cNvSpPr>
            <a:spLocks noGrp="1"/>
          </p:cNvSpPr>
          <p:nvPr>
            <p:ph type="title"/>
          </p:nvPr>
        </p:nvSpPr>
        <p:spPr>
          <a:xfrm>
            <a:off x="704088" y="914400"/>
            <a:ext cx="3914776" cy="3977269"/>
          </a:xfrm>
        </p:spPr>
        <p:txBody>
          <a:bodyPr>
            <a:normAutofit/>
          </a:bodyPr>
          <a:lstStyle/>
          <a:p>
            <a:r>
              <a:rPr lang="en-US" dirty="0"/>
              <a:t>Architecture of Faster</a:t>
            </a:r>
            <a:r>
              <a:rPr lang="en-US" kern="1200" cap="all" spc="30" baseline="0" dirty="0">
                <a:effectLst/>
                <a:latin typeface="Univers Condensed" panose="020B0506020202050204" pitchFamily="34" charset="0"/>
                <a:ea typeface="+mj-ea"/>
                <a:cs typeface="+mj-cs"/>
              </a:rPr>
              <a:t> </a:t>
            </a:r>
            <a:r>
              <a:rPr lang="en-US" dirty="0"/>
              <a:t>R-CNN</a:t>
            </a:r>
            <a:endParaRPr lang="en-PK" dirty="0"/>
          </a:p>
        </p:txBody>
      </p:sp>
      <p:cxnSp>
        <p:nvCxnSpPr>
          <p:cNvPr id="11" name="Straight Connector 10">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A4E46AF-B43E-1BEE-C706-1D7D5C43742D}"/>
              </a:ext>
            </a:extLst>
          </p:cNvPr>
          <p:cNvGraphicFramePr>
            <a:graphicFrameLocks noGrp="1"/>
          </p:cNvGraphicFramePr>
          <p:nvPr>
            <p:ph idx="1"/>
            <p:extLst>
              <p:ext uri="{D42A27DB-BD31-4B8C-83A1-F6EECF244321}">
                <p14:modId xmlns:p14="http://schemas.microsoft.com/office/powerpoint/2010/main" val="1768256106"/>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4943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CA5B9-839A-4737-B114-520249F0AF70}"/>
              </a:ext>
            </a:extLst>
          </p:cNvPr>
          <p:cNvSpPr>
            <a:spLocks noGrp="1"/>
          </p:cNvSpPr>
          <p:nvPr>
            <p:ph type="title"/>
          </p:nvPr>
        </p:nvSpPr>
        <p:spPr/>
        <p:txBody>
          <a:bodyPr/>
          <a:lstStyle/>
          <a:p>
            <a:r>
              <a:rPr lang="en-US" dirty="0"/>
              <a:t>Backbone Network</a:t>
            </a:r>
            <a:endParaRPr lang="en-PK" dirty="0"/>
          </a:p>
        </p:txBody>
      </p:sp>
      <p:graphicFrame>
        <p:nvGraphicFramePr>
          <p:cNvPr id="19" name="Content Placeholder 2">
            <a:extLst>
              <a:ext uri="{FF2B5EF4-FFF2-40B4-BE49-F238E27FC236}">
                <a16:creationId xmlns:a16="http://schemas.microsoft.com/office/drawing/2014/main" id="{25555619-4FED-6F60-455C-8C0DEC6EF7B4}"/>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045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0" name="Straight Connector 9">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168BB97-20B4-4294-918B-F1374780ADD4}"/>
              </a:ext>
            </a:extLst>
          </p:cNvPr>
          <p:cNvSpPr>
            <a:spLocks noGrp="1"/>
          </p:cNvSpPr>
          <p:nvPr>
            <p:ph type="title"/>
          </p:nvPr>
        </p:nvSpPr>
        <p:spPr>
          <a:xfrm>
            <a:off x="702129" y="914760"/>
            <a:ext cx="2806615" cy="3543764"/>
          </a:xfrm>
        </p:spPr>
        <p:txBody>
          <a:bodyPr>
            <a:normAutofit/>
          </a:bodyPr>
          <a:lstStyle/>
          <a:p>
            <a:r>
              <a:rPr lang="en-US" sz="3600" dirty="0"/>
              <a:t>Region Proposal Network (RPN)</a:t>
            </a:r>
            <a:endParaRPr lang="en-PK" sz="3600" dirty="0"/>
          </a:p>
        </p:txBody>
      </p:sp>
      <p:sp>
        <p:nvSpPr>
          <p:cNvPr id="3" name="Content Placeholder 2">
            <a:extLst>
              <a:ext uri="{FF2B5EF4-FFF2-40B4-BE49-F238E27FC236}">
                <a16:creationId xmlns:a16="http://schemas.microsoft.com/office/drawing/2014/main" id="{5BC72255-EC60-40BD-894B-F997993CE448}"/>
              </a:ext>
            </a:extLst>
          </p:cNvPr>
          <p:cNvSpPr>
            <a:spLocks noGrp="1"/>
          </p:cNvSpPr>
          <p:nvPr>
            <p:ph idx="1"/>
          </p:nvPr>
        </p:nvSpPr>
        <p:spPr>
          <a:xfrm>
            <a:off x="3902149" y="978558"/>
            <a:ext cx="7863131" cy="5091495"/>
          </a:xfrm>
        </p:spPr>
        <p:txBody>
          <a:bodyPr>
            <a:normAutofit/>
          </a:bodyPr>
          <a:lstStyle/>
          <a:p>
            <a:pPr marL="0" indent="0" algn="just">
              <a:buNone/>
            </a:pPr>
            <a:r>
              <a:rPr lang="en-US" sz="2400" dirty="0"/>
              <a:t>1. RPN is a small network sliding over the feature map.</a:t>
            </a:r>
          </a:p>
          <a:p>
            <a:pPr marL="0" indent="0" algn="just">
              <a:buNone/>
            </a:pPr>
            <a:r>
              <a:rPr lang="en-US" sz="2400" dirty="0"/>
              <a:t>2. It predicts:</a:t>
            </a:r>
          </a:p>
          <a:p>
            <a:pPr lvl="1" algn="just">
              <a:buFont typeface="Courier New" panose="02070309020205020404" pitchFamily="49" charset="0"/>
              <a:buChar char="o"/>
            </a:pPr>
            <a:r>
              <a:rPr lang="en-US" sz="2400" b="1" dirty="0" err="1"/>
              <a:t>Objectness</a:t>
            </a:r>
            <a:r>
              <a:rPr lang="en-US" sz="2400" b="1" dirty="0"/>
              <a:t> score: </a:t>
            </a:r>
            <a:r>
              <a:rPr lang="en-US" sz="2400" dirty="0"/>
              <a:t>Probability that a region contains an object.</a:t>
            </a:r>
          </a:p>
          <a:p>
            <a:pPr lvl="1" algn="just">
              <a:buFont typeface="Courier New" panose="02070309020205020404" pitchFamily="49" charset="0"/>
              <a:buChar char="o"/>
            </a:pPr>
            <a:r>
              <a:rPr lang="en-US" sz="2400" b="1" dirty="0"/>
              <a:t>Bounding box coordinates: </a:t>
            </a:r>
            <a:r>
              <a:rPr lang="en-US" sz="2400" dirty="0"/>
              <a:t>Refinement of proposed regions.</a:t>
            </a:r>
          </a:p>
          <a:p>
            <a:pPr marL="0" indent="0" algn="just">
              <a:buNone/>
            </a:pPr>
            <a:r>
              <a:rPr lang="en-US" sz="2400" dirty="0"/>
              <a:t>3. Uses anchors (predefined boxes of different scales and aspect ratios) to propose regions efficiently.</a:t>
            </a:r>
          </a:p>
          <a:p>
            <a:pPr marL="0" indent="0" algn="just">
              <a:buNone/>
            </a:pPr>
            <a:r>
              <a:rPr lang="en-US" sz="2400" dirty="0"/>
              <a:t>4. End-to-end training allows RPN and the detection network to share features.</a:t>
            </a:r>
            <a:endParaRPr lang="en-PK" sz="2400" dirty="0"/>
          </a:p>
        </p:txBody>
      </p:sp>
    </p:spTree>
    <p:extLst>
      <p:ext uri="{BB962C8B-B14F-4D97-AF65-F5344CB8AC3E}">
        <p14:creationId xmlns:p14="http://schemas.microsoft.com/office/powerpoint/2010/main" val="1465651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CEEF8-0728-4458-8934-D785C7028527}"/>
              </a:ext>
            </a:extLst>
          </p:cNvPr>
          <p:cNvSpPr>
            <a:spLocks noGrp="1"/>
          </p:cNvSpPr>
          <p:nvPr>
            <p:ph type="title"/>
          </p:nvPr>
        </p:nvSpPr>
        <p:spPr/>
        <p:txBody>
          <a:bodyPr/>
          <a:lstStyle/>
          <a:p>
            <a:r>
              <a:rPr lang="en-US" dirty="0"/>
              <a:t>Region of Interest(</a:t>
            </a:r>
            <a:r>
              <a:rPr lang="en-US" dirty="0" err="1"/>
              <a:t>RoI</a:t>
            </a:r>
            <a:r>
              <a:rPr lang="en-US" dirty="0"/>
              <a:t>) Pooling</a:t>
            </a:r>
            <a:endParaRPr lang="en-PK" dirty="0"/>
          </a:p>
        </p:txBody>
      </p:sp>
      <p:sp>
        <p:nvSpPr>
          <p:cNvPr id="3" name="Content Placeholder 2">
            <a:extLst>
              <a:ext uri="{FF2B5EF4-FFF2-40B4-BE49-F238E27FC236}">
                <a16:creationId xmlns:a16="http://schemas.microsoft.com/office/drawing/2014/main" id="{6CE8D3D4-3477-44DF-BA6D-34CD6996E8E2}"/>
              </a:ext>
            </a:extLst>
          </p:cNvPr>
          <p:cNvSpPr>
            <a:spLocks noGrp="1"/>
          </p:cNvSpPr>
          <p:nvPr>
            <p:ph idx="1"/>
          </p:nvPr>
        </p:nvSpPr>
        <p:spPr>
          <a:xfrm>
            <a:off x="700635" y="2221992"/>
            <a:ext cx="10691265" cy="1289304"/>
          </a:xfrm>
        </p:spPr>
        <p:txBody>
          <a:bodyPr/>
          <a:lstStyle/>
          <a:p>
            <a:r>
              <a:rPr lang="en-US" dirty="0"/>
              <a:t>Converts the proposed regions of varying sizes into a fixed-size feature map for the detection network.</a:t>
            </a:r>
          </a:p>
          <a:p>
            <a:r>
              <a:rPr lang="en-US" dirty="0"/>
              <a:t>Ensures uniform input size for fully connected layers.</a:t>
            </a:r>
            <a:endParaRPr lang="en-PK" dirty="0"/>
          </a:p>
        </p:txBody>
      </p:sp>
      <p:sp>
        <p:nvSpPr>
          <p:cNvPr id="4" name="Title 1">
            <a:extLst>
              <a:ext uri="{FF2B5EF4-FFF2-40B4-BE49-F238E27FC236}">
                <a16:creationId xmlns:a16="http://schemas.microsoft.com/office/drawing/2014/main" id="{BA0C1FCB-1E1C-4E28-9849-48BE79E950F5}"/>
              </a:ext>
            </a:extLst>
          </p:cNvPr>
          <p:cNvSpPr txBox="1">
            <a:spLocks/>
          </p:cNvSpPr>
          <p:nvPr/>
        </p:nvSpPr>
        <p:spPr>
          <a:xfrm>
            <a:off x="798171" y="3517392"/>
            <a:ext cx="10691265" cy="1307592"/>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n-US" dirty="0"/>
              <a:t>Detection Network</a:t>
            </a:r>
            <a:endParaRPr lang="en-PK" dirty="0"/>
          </a:p>
        </p:txBody>
      </p:sp>
      <p:sp>
        <p:nvSpPr>
          <p:cNvPr id="5" name="Content Placeholder 2">
            <a:extLst>
              <a:ext uri="{FF2B5EF4-FFF2-40B4-BE49-F238E27FC236}">
                <a16:creationId xmlns:a16="http://schemas.microsoft.com/office/drawing/2014/main" id="{EB81E612-2142-4F43-975D-4C1F89610BF6}"/>
              </a:ext>
            </a:extLst>
          </p:cNvPr>
          <p:cNvSpPr txBox="1">
            <a:spLocks/>
          </p:cNvSpPr>
          <p:nvPr/>
        </p:nvSpPr>
        <p:spPr>
          <a:xfrm>
            <a:off x="816459" y="4276344"/>
            <a:ext cx="10691265" cy="12893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Classifies each proposed region into object categories.</a:t>
            </a:r>
          </a:p>
          <a:p>
            <a:r>
              <a:rPr lang="en-US" dirty="0"/>
              <a:t>Refines bounding boxes for precise localization.</a:t>
            </a:r>
          </a:p>
          <a:p>
            <a:r>
              <a:rPr lang="en-US" dirty="0"/>
              <a:t>Uses </a:t>
            </a:r>
            <a:r>
              <a:rPr lang="en-US" dirty="0" err="1"/>
              <a:t>softmax</a:t>
            </a:r>
            <a:r>
              <a:rPr lang="en-US" dirty="0"/>
              <a:t> for classification and smooth L1 loss for bounding box regression.</a:t>
            </a:r>
            <a:endParaRPr lang="en-PK" dirty="0"/>
          </a:p>
        </p:txBody>
      </p:sp>
    </p:spTree>
    <p:extLst>
      <p:ext uri="{BB962C8B-B14F-4D97-AF65-F5344CB8AC3E}">
        <p14:creationId xmlns:p14="http://schemas.microsoft.com/office/powerpoint/2010/main" val="14984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6">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BBA2A2B6-4D34-4F53-BA5F-AC0DCA8DC2EE}"/>
              </a:ext>
            </a:extLst>
          </p:cNvPr>
          <p:cNvSpPr>
            <a:spLocks noGrp="1"/>
          </p:cNvSpPr>
          <p:nvPr>
            <p:ph type="title"/>
          </p:nvPr>
        </p:nvSpPr>
        <p:spPr>
          <a:xfrm>
            <a:off x="128588" y="2455250"/>
            <a:ext cx="5386388" cy="1441776"/>
          </a:xfrm>
        </p:spPr>
        <p:txBody>
          <a:bodyPr anchor="t">
            <a:normAutofit/>
          </a:bodyPr>
          <a:lstStyle/>
          <a:p>
            <a:r>
              <a:rPr lang="en-US" sz="3600" dirty="0">
                <a:latin typeface="Times New Roman" panose="02020603050405020304" pitchFamily="18" charset="0"/>
                <a:cs typeface="Times New Roman" panose="02020603050405020304" pitchFamily="18" charset="0"/>
              </a:rPr>
              <a:t>Evolution of R-CNN Models</a:t>
            </a:r>
            <a:endParaRPr lang="en-PK"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B95B4E-5203-4593-9903-1F73922C5082}"/>
              </a:ext>
            </a:extLst>
          </p:cNvPr>
          <p:cNvSpPr>
            <a:spLocks noGrp="1"/>
          </p:cNvSpPr>
          <p:nvPr>
            <p:ph idx="1"/>
          </p:nvPr>
        </p:nvSpPr>
        <p:spPr>
          <a:xfrm>
            <a:off x="5272088" y="548640"/>
            <a:ext cx="6777671" cy="6156960"/>
          </a:xfrm>
        </p:spPr>
        <p:txBody>
          <a:bodyPr>
            <a:noAutofit/>
          </a:bodyPr>
          <a:lstStyle/>
          <a:p>
            <a:pPr marL="0" indent="0" algn="just">
              <a:lnSpc>
                <a:spcPct val="100000"/>
              </a:lnSpc>
              <a:buNone/>
            </a:pPr>
            <a:r>
              <a:rPr lang="en-US" b="1" dirty="0">
                <a:latin typeface="Times New Roman" panose="02020603050405020304" pitchFamily="18" charset="0"/>
                <a:cs typeface="Times New Roman" panose="02020603050405020304" pitchFamily="18" charset="0"/>
              </a:rPr>
              <a:t>R-CNN (2013)</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Used CNN to classify around 2,000 region proposals generated by Selective Search.</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Processed each region separately, causing slow inference.</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Used SVM for classification.</a:t>
            </a:r>
          </a:p>
          <a:p>
            <a:pPr marL="0" indent="0" algn="just">
              <a:lnSpc>
                <a:spcPct val="100000"/>
              </a:lnSpc>
              <a:buNone/>
            </a:pPr>
            <a:r>
              <a:rPr lang="en-US" b="1" dirty="0">
                <a:latin typeface="Times New Roman" panose="02020603050405020304" pitchFamily="18" charset="0"/>
                <a:cs typeface="Times New Roman" panose="02020603050405020304" pitchFamily="18" charset="0"/>
              </a:rPr>
              <a:t>Fast R-CNN (2015)</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Ran CNN once over the full image to produce shared feature maps.</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Used ROI(Region of Interest) Pooling to extract fixed-size features from proposed regions.</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Replaced SVM with neural network classifier.</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Still depended on slow Selective Search for proposals.</a:t>
            </a:r>
          </a:p>
          <a:p>
            <a:pPr marL="0" indent="0" algn="just">
              <a:lnSpc>
                <a:spcPct val="100000"/>
              </a:lnSpc>
              <a:buNone/>
            </a:pPr>
            <a:r>
              <a:rPr lang="en-US" b="1" dirty="0">
                <a:latin typeface="Times New Roman" panose="02020603050405020304" pitchFamily="18" charset="0"/>
                <a:cs typeface="Times New Roman" panose="02020603050405020304" pitchFamily="18" charset="0"/>
              </a:rPr>
              <a:t>Faster R-CNN (2015)</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Introduced Region Proposal Network (RPN) integrated with CNN for fast proposal generation.</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Enabled end-to-end training of both region proposal and detection.</a:t>
            </a:r>
          </a:p>
          <a:p>
            <a:pPr lvl="1" algn="just">
              <a:lnSpc>
                <a:spcPct val="10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Greatly improved speed and accuracy.</a:t>
            </a:r>
          </a:p>
          <a:p>
            <a:pPr marL="0" indent="0" algn="just">
              <a:lnSpc>
                <a:spcPct val="100000"/>
              </a:lnSpc>
              <a:buNone/>
            </a:pPr>
            <a:endParaRPr lang="en-PK" dirty="0">
              <a:latin typeface="Times New Roman" panose="02020603050405020304" pitchFamily="18" charset="0"/>
              <a:cs typeface="Times New Roman" panose="02020603050405020304" pitchFamily="18" charset="0"/>
            </a:endParaRPr>
          </a:p>
        </p:txBody>
      </p:sp>
      <p:cxnSp>
        <p:nvCxnSpPr>
          <p:cNvPr id="24" name="Straight Connector 18">
            <a:extLst>
              <a:ext uri="{FF2B5EF4-FFF2-40B4-BE49-F238E27FC236}">
                <a16:creationId xmlns:a16="http://schemas.microsoft.com/office/drawing/2014/main" id="{78F0A063-5253-8DF5-3B7B-12FE096705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7643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554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96BD88B6-8E4F-4C22-ADFD-26ADF37381BC}"/>
              </a:ext>
            </a:extLst>
          </p:cNvPr>
          <p:cNvSpPr>
            <a:spLocks noGrp="1"/>
          </p:cNvSpPr>
          <p:nvPr>
            <p:ph type="title"/>
          </p:nvPr>
        </p:nvSpPr>
        <p:spPr>
          <a:xfrm>
            <a:off x="954823" y="1705460"/>
            <a:ext cx="4265763" cy="1593185"/>
          </a:xfrm>
        </p:spPr>
        <p:txBody>
          <a:bodyPr anchor="t">
            <a:normAutofit/>
          </a:bodyPr>
          <a:lstStyle/>
          <a:p>
            <a:r>
              <a:rPr lang="en-US" sz="4200" dirty="0"/>
              <a:t>YOLO : You Only Look Once</a:t>
            </a:r>
            <a:endParaRPr lang="en-PK" sz="4200" dirty="0"/>
          </a:p>
        </p:txBody>
      </p:sp>
      <p:sp>
        <p:nvSpPr>
          <p:cNvPr id="3" name="Content Placeholder 2">
            <a:extLst>
              <a:ext uri="{FF2B5EF4-FFF2-40B4-BE49-F238E27FC236}">
                <a16:creationId xmlns:a16="http://schemas.microsoft.com/office/drawing/2014/main" id="{DD5A148D-46C8-4779-8F9A-6E619AF07F5F}"/>
              </a:ext>
            </a:extLst>
          </p:cNvPr>
          <p:cNvSpPr>
            <a:spLocks noGrp="1"/>
          </p:cNvSpPr>
          <p:nvPr>
            <p:ph idx="1"/>
          </p:nvPr>
        </p:nvSpPr>
        <p:spPr>
          <a:xfrm>
            <a:off x="5871353" y="1796458"/>
            <a:ext cx="5879660" cy="4457453"/>
          </a:xfrm>
        </p:spPr>
        <p:txBody>
          <a:bodyPr>
            <a:normAutofit/>
          </a:bodyPr>
          <a:lstStyle/>
          <a:p>
            <a:pPr algn="just"/>
            <a:r>
              <a:rPr lang="en-US" dirty="0"/>
              <a:t>YOLO was proposed by Joseph Redmond et al. in 2015 to deal with the problems faced by the object recognition models at that time, Fast R-CNN was one of the models at that time but it had its own challenges such as that network could not be used in real-time because it took 2-3 seconds to predict an image and therefore could not be used in real-time. Whereas in YOLO we have to look only once in the network i.e. only one forward pass is required through the network to make the final predictions. </a:t>
            </a:r>
            <a:endParaRPr lang="en-PK" dirty="0"/>
          </a:p>
        </p:txBody>
      </p:sp>
      <p:cxnSp>
        <p:nvCxnSpPr>
          <p:cNvPr id="17" name="Straight Connector 16">
            <a:extLst>
              <a:ext uri="{FF2B5EF4-FFF2-40B4-BE49-F238E27FC236}">
                <a16:creationId xmlns:a16="http://schemas.microsoft.com/office/drawing/2014/main" id="{F6DB4BEA-22D1-9BE0-1F06-BAFE567B5E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435170"/>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8182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A6E20-D742-46F2-9513-BE1D157803F9}"/>
              </a:ext>
            </a:extLst>
          </p:cNvPr>
          <p:cNvSpPr>
            <a:spLocks noGrp="1"/>
          </p:cNvSpPr>
          <p:nvPr>
            <p:ph type="title"/>
          </p:nvPr>
        </p:nvSpPr>
        <p:spPr/>
        <p:txBody>
          <a:bodyPr/>
          <a:lstStyle/>
          <a:p>
            <a:r>
              <a:rPr lang="en-US" dirty="0"/>
              <a:t>YOLO Architecture</a:t>
            </a:r>
            <a:endParaRPr lang="en-PK" dirty="0"/>
          </a:p>
        </p:txBody>
      </p:sp>
      <p:pic>
        <p:nvPicPr>
          <p:cNvPr id="5" name="Content Placeholder 4">
            <a:extLst>
              <a:ext uri="{FF2B5EF4-FFF2-40B4-BE49-F238E27FC236}">
                <a16:creationId xmlns:a16="http://schemas.microsoft.com/office/drawing/2014/main" id="{878BCA92-4E3B-45C8-8705-102C744E3FB3}"/>
              </a:ext>
            </a:extLst>
          </p:cNvPr>
          <p:cNvPicPr>
            <a:picLocks noGrp="1" noChangeAspect="1"/>
          </p:cNvPicPr>
          <p:nvPr>
            <p:ph idx="1"/>
          </p:nvPr>
        </p:nvPicPr>
        <p:blipFill>
          <a:blip r:embed="rId2"/>
          <a:stretch>
            <a:fillRect/>
          </a:stretch>
        </p:blipFill>
        <p:spPr>
          <a:xfrm>
            <a:off x="925147" y="1743075"/>
            <a:ext cx="10004773" cy="4226154"/>
          </a:xfrm>
        </p:spPr>
      </p:pic>
    </p:spTree>
    <p:extLst>
      <p:ext uri="{BB962C8B-B14F-4D97-AF65-F5344CB8AC3E}">
        <p14:creationId xmlns:p14="http://schemas.microsoft.com/office/powerpoint/2010/main" val="2768647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97FF-740D-475D-9B42-087CFCA3483B}"/>
              </a:ext>
            </a:extLst>
          </p:cNvPr>
          <p:cNvSpPr>
            <a:spLocks noGrp="1"/>
          </p:cNvSpPr>
          <p:nvPr>
            <p:ph type="title"/>
          </p:nvPr>
        </p:nvSpPr>
        <p:spPr/>
        <p:txBody>
          <a:bodyPr/>
          <a:lstStyle/>
          <a:p>
            <a:r>
              <a:rPr lang="en-US" dirty="0"/>
              <a:t>YOLO Architecture</a:t>
            </a:r>
            <a:endParaRPr lang="en-PK" dirty="0"/>
          </a:p>
        </p:txBody>
      </p:sp>
      <p:sp>
        <p:nvSpPr>
          <p:cNvPr id="3" name="Content Placeholder 2">
            <a:extLst>
              <a:ext uri="{FF2B5EF4-FFF2-40B4-BE49-F238E27FC236}">
                <a16:creationId xmlns:a16="http://schemas.microsoft.com/office/drawing/2014/main" id="{DE071ACE-24B2-4FF6-A7F1-7F604A1A1740}"/>
              </a:ext>
            </a:extLst>
          </p:cNvPr>
          <p:cNvSpPr>
            <a:spLocks noGrp="1"/>
          </p:cNvSpPr>
          <p:nvPr>
            <p:ph idx="1"/>
          </p:nvPr>
        </p:nvSpPr>
        <p:spPr/>
        <p:txBody>
          <a:bodyPr/>
          <a:lstStyle/>
          <a:p>
            <a:pPr marL="0" indent="0">
              <a:buNone/>
            </a:pPr>
            <a:r>
              <a:rPr lang="en-US" dirty="0"/>
              <a:t>1. Input Preprocessing:</a:t>
            </a:r>
          </a:p>
          <a:p>
            <a:pPr lvl="1"/>
            <a:r>
              <a:rPr lang="en-US" dirty="0"/>
              <a:t>The model accepts an image as input. It resizes the input image to 448×448 pixels ensuring that the aspect ratio is preserved using padding. This ensures uniformity of input dimensions across the network which is essential for batch processing in deep learning.</a:t>
            </a:r>
          </a:p>
          <a:p>
            <a:pPr marL="0" indent="0">
              <a:buNone/>
            </a:pPr>
            <a:r>
              <a:rPr lang="en-US" dirty="0"/>
              <a:t>2. Backbone Convolutional Neural Network (CNN):</a:t>
            </a:r>
          </a:p>
          <a:p>
            <a:pPr marL="457200" lvl="1" indent="0">
              <a:buNone/>
            </a:pPr>
            <a:r>
              <a:rPr lang="en-US" dirty="0"/>
              <a:t>After preprocessing the image is passed through a deep CNN architecture designed for object detection:</a:t>
            </a:r>
          </a:p>
          <a:p>
            <a:pPr lvl="2"/>
            <a:r>
              <a:rPr lang="en-US" dirty="0"/>
              <a:t>The model consists of 24 convolutional layers and 4 max-pooling layers.</a:t>
            </a:r>
          </a:p>
          <a:p>
            <a:pPr lvl="2"/>
            <a:r>
              <a:rPr lang="en-US" dirty="0"/>
              <a:t>These layers help in extracting hierarchical spatial features from the image.</a:t>
            </a:r>
          </a:p>
        </p:txBody>
      </p:sp>
    </p:spTree>
    <p:extLst>
      <p:ext uri="{BB962C8B-B14F-4D97-AF65-F5344CB8AC3E}">
        <p14:creationId xmlns:p14="http://schemas.microsoft.com/office/powerpoint/2010/main" val="3383893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79B63-D367-4CF4-98C1-93049425F719}"/>
              </a:ext>
            </a:extLst>
          </p:cNvPr>
          <p:cNvSpPr>
            <a:spLocks noGrp="1"/>
          </p:cNvSpPr>
          <p:nvPr>
            <p:ph type="title"/>
          </p:nvPr>
        </p:nvSpPr>
        <p:spPr/>
        <p:txBody>
          <a:bodyPr/>
          <a:lstStyle/>
          <a:p>
            <a:r>
              <a:rPr lang="en-US" dirty="0"/>
              <a:t>YOLO Architecture</a:t>
            </a:r>
            <a:endParaRPr lang="en-PK" dirty="0"/>
          </a:p>
        </p:txBody>
      </p:sp>
      <p:sp>
        <p:nvSpPr>
          <p:cNvPr id="3" name="Content Placeholder 2">
            <a:extLst>
              <a:ext uri="{FF2B5EF4-FFF2-40B4-BE49-F238E27FC236}">
                <a16:creationId xmlns:a16="http://schemas.microsoft.com/office/drawing/2014/main" id="{76BF7F9E-BB91-4974-B0A3-D7853D3A803B}"/>
              </a:ext>
            </a:extLst>
          </p:cNvPr>
          <p:cNvSpPr>
            <a:spLocks noGrp="1"/>
          </p:cNvSpPr>
          <p:nvPr>
            <p:ph idx="1"/>
          </p:nvPr>
        </p:nvSpPr>
        <p:spPr/>
        <p:txBody>
          <a:bodyPr/>
          <a:lstStyle/>
          <a:p>
            <a:pPr marL="0" indent="0">
              <a:buNone/>
            </a:pPr>
            <a:r>
              <a:rPr lang="en-US" dirty="0"/>
              <a:t>3. Use of 1×1 and 3×3 Convolutions:</a:t>
            </a:r>
          </a:p>
          <a:p>
            <a:pPr lvl="1"/>
            <a:r>
              <a:rPr lang="en-US" dirty="0"/>
              <a:t>To reduce the number of parameters and compress channels, 1×1 convolutions are employed.</a:t>
            </a:r>
          </a:p>
          <a:p>
            <a:pPr lvl="1"/>
            <a:r>
              <a:rPr lang="en-US" dirty="0"/>
              <a:t>These are followed by 3×3 convolutions to capture spatial patterns in the feature maps.</a:t>
            </a:r>
          </a:p>
          <a:p>
            <a:pPr marL="0" indent="0">
              <a:buNone/>
            </a:pPr>
            <a:r>
              <a:rPr lang="en-US" dirty="0"/>
              <a:t>This design pattern </a:t>
            </a:r>
            <a:r>
              <a:rPr lang="en-US" dirty="0" err="1"/>
              <a:t>i.e</a:t>
            </a:r>
            <a:r>
              <a:rPr lang="en-US" dirty="0"/>
              <a:t> 1×1 followed by 3×3 improves computational efficiency while maintaining expressive power.</a:t>
            </a:r>
          </a:p>
          <a:p>
            <a:pPr marL="0" indent="0">
              <a:buNone/>
            </a:pPr>
            <a:r>
              <a:rPr lang="en-US" dirty="0"/>
              <a:t>4. Fully Connected Layers:</a:t>
            </a:r>
          </a:p>
          <a:p>
            <a:pPr lvl="1"/>
            <a:r>
              <a:rPr lang="en-US" dirty="0"/>
              <a:t>Following the convolutional layers, the architecture has 2 fully connected layers. The final fully connected layer produces an output of shape (1, 1470).</a:t>
            </a:r>
            <a:endParaRPr lang="en-PK" dirty="0"/>
          </a:p>
        </p:txBody>
      </p:sp>
    </p:spTree>
    <p:extLst>
      <p:ext uri="{BB962C8B-B14F-4D97-AF65-F5344CB8AC3E}">
        <p14:creationId xmlns:p14="http://schemas.microsoft.com/office/powerpoint/2010/main" val="3989578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8BC3-930E-4F55-B473-251262DF4AD9}"/>
              </a:ext>
            </a:extLst>
          </p:cNvPr>
          <p:cNvSpPr>
            <a:spLocks noGrp="1"/>
          </p:cNvSpPr>
          <p:nvPr>
            <p:ph type="title"/>
          </p:nvPr>
        </p:nvSpPr>
        <p:spPr/>
        <p:txBody>
          <a:bodyPr/>
          <a:lstStyle/>
          <a:p>
            <a:r>
              <a:rPr lang="en-US" dirty="0"/>
              <a:t>YOLO Architecture</a:t>
            </a:r>
            <a:endParaRPr lang="en-PK"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F2FB6A-8D06-43FB-B09D-032D3C4140A6}"/>
                  </a:ext>
                </a:extLst>
              </p:cNvPr>
              <p:cNvSpPr>
                <a:spLocks noGrp="1"/>
              </p:cNvSpPr>
              <p:nvPr>
                <p:ph idx="1"/>
              </p:nvPr>
            </p:nvSpPr>
            <p:spPr>
              <a:xfrm>
                <a:off x="686348" y="2221992"/>
                <a:ext cx="10691265" cy="3739896"/>
              </a:xfrm>
            </p:spPr>
            <p:txBody>
              <a:bodyPr/>
              <a:lstStyle/>
              <a:p>
                <a:pPr marL="0" indent="0">
                  <a:buNone/>
                </a:pPr>
                <a:r>
                  <a:rPr lang="en-US" dirty="0"/>
                  <a:t>5. Cuboidal Prediction Output:</a:t>
                </a:r>
              </a:p>
              <a:p>
                <a:pPr marL="457200" lvl="1" indent="0">
                  <a:buNone/>
                </a:pPr>
                <a:r>
                  <a:rPr lang="en-US" dirty="0"/>
                  <a:t>The output vector of size 1470 is reshaped to (7, 7, 30). Here, 7×7 represents the grid cells, and 30 represents the prediction vector for each cell:</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30=</m:t>
                      </m:r>
                      <m:d>
                        <m:dPr>
                          <m:ctrlPr>
                            <a:rPr lang="en-US" b="0" i="1" smtClean="0">
                              <a:latin typeface="Cambria Math" panose="02040503050406030204" pitchFamily="18" charset="0"/>
                            </a:rPr>
                          </m:ctrlPr>
                        </m:dPr>
                        <m:e>
                          <m:r>
                            <a:rPr lang="en-US" b="0" i="1" smtClean="0">
                              <a:latin typeface="Cambria Math" panose="02040503050406030204" pitchFamily="18" charset="0"/>
                            </a:rPr>
                            <m:t>2 </m:t>
                          </m:r>
                          <m:r>
                            <a:rPr lang="en-US" b="0" i="1" smtClean="0">
                              <a:latin typeface="Cambria Math" panose="02040503050406030204" pitchFamily="18" charset="0"/>
                            </a:rPr>
                            <m:t>𝑏𝑜𝑢𝑛𝑑𝑖𝑛𝑔</m:t>
                          </m:r>
                          <m:r>
                            <a:rPr lang="en-US" b="0" i="1" smtClean="0">
                              <a:latin typeface="Cambria Math" panose="02040503050406030204" pitchFamily="18" charset="0"/>
                            </a:rPr>
                            <m:t> </m:t>
                          </m:r>
                          <m:r>
                            <a:rPr lang="en-US" b="0" i="1" smtClean="0">
                              <a:latin typeface="Cambria Math" panose="02040503050406030204" pitchFamily="18" charset="0"/>
                            </a:rPr>
                            <m:t>𝑏𝑜𝑥𝑒𝑠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5</m:t>
                          </m:r>
                        </m:e>
                      </m:d>
                      <m:r>
                        <a:rPr lang="en-US" b="0" i="1" smtClean="0">
                          <a:latin typeface="Cambria Math" panose="02040503050406030204" pitchFamily="18" charset="0"/>
                        </a:rPr>
                        <m:t>+(20 </m:t>
                      </m:r>
                      <m:r>
                        <a:rPr lang="en-US" b="0" i="1" smtClean="0">
                          <a:latin typeface="Cambria Math" panose="02040503050406030204" pitchFamily="18" charset="0"/>
                        </a:rPr>
                        <m:t>𝑐𝑙𝑎𝑠𝑠</m:t>
                      </m:r>
                      <m:r>
                        <a:rPr lang="en-US" b="0" i="1" smtClean="0">
                          <a:latin typeface="Cambria Math" panose="02040503050406030204" pitchFamily="18" charset="0"/>
                        </a:rPr>
                        <m:t> </m:t>
                      </m:r>
                      <m:r>
                        <a:rPr lang="en-US" b="0" i="1" smtClean="0">
                          <a:latin typeface="Cambria Math" panose="02040503050406030204" pitchFamily="18" charset="0"/>
                        </a:rPr>
                        <m:t>𝑝𝑟𝑜𝑏𝑎𝑏𝑖𝑙𝑖𝑡𝑖𝑒𝑠</m:t>
                      </m:r>
                      <m:r>
                        <a:rPr lang="en-US" b="0" i="1" smtClean="0">
                          <a:latin typeface="Cambria Math" panose="02040503050406030204" pitchFamily="18" charset="0"/>
                        </a:rPr>
                        <m:t>)</m:t>
                      </m:r>
                    </m:oMath>
                  </m:oMathPara>
                </a14:m>
                <a:endParaRPr lang="en-US" dirty="0"/>
              </a:p>
              <a:p>
                <a:pPr marL="0" indent="0">
                  <a:buNone/>
                </a:pPr>
                <a:r>
                  <a:rPr lang="en-US" dirty="0"/>
                  <a:t>6. Activation Functions:</a:t>
                </a:r>
              </a:p>
              <a:p>
                <a:pPr marL="457200" lvl="1" indent="0">
                  <a:buNone/>
                </a:pPr>
                <a:r>
                  <a:rPr lang="en-US" dirty="0"/>
                  <a:t>The architecture predominantly uses Leaky </a:t>
                </a:r>
                <a:r>
                  <a:rPr lang="en-US" dirty="0" err="1"/>
                  <a:t>ReLU</a:t>
                </a:r>
                <a:r>
                  <a:rPr lang="en-US" dirty="0"/>
                  <a:t> as its activation function. The Leaky </a:t>
                </a:r>
                <a:r>
                  <a:rPr lang="en-US" dirty="0" err="1"/>
                  <a:t>ReLU</a:t>
                </a:r>
                <a:r>
                  <a:rPr lang="en-US" dirty="0"/>
                  <a:t> is defined as:</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dirty="0" smtClean="0">
                              <a:solidFill>
                                <a:srgbClr val="836967"/>
                              </a:solidFill>
                              <a:latin typeface="Cambria Math" panose="02040503050406030204" pitchFamily="18" charset="0"/>
                            </a:rPr>
                          </m:ctrlPr>
                        </m:dPr>
                        <m:e>
                          <m:m>
                            <m:mPr>
                              <m:plcHide m:val="on"/>
                              <m:mcs>
                                <m:mc>
                                  <m:mcPr>
                                    <m:count m:val="1"/>
                                    <m:mcJc m:val="center"/>
                                  </m:mcPr>
                                </m:mc>
                              </m:mcs>
                              <m:ctrlPr>
                                <a:rPr lang="en-US" dirty="0" smtClean="0">
                                  <a:solidFill>
                                    <a:srgbClr val="836967"/>
                                  </a:solidFill>
                                  <a:latin typeface="Cambria Math" panose="02040503050406030204" pitchFamily="18" charset="0"/>
                                </a:rPr>
                              </m:ctrlPr>
                            </m:mPr>
                            <m:mr>
                              <m:e>
                                <m:r>
                                  <a:rPr lang="en-US" b="0" i="0" dirty="0" smtClean="0">
                                    <a:solidFill>
                                      <a:srgbClr val="836967"/>
                                    </a:solidFill>
                                    <a:latin typeface="Cambria Math" panose="02040503050406030204" pitchFamily="18" charset="0"/>
                                  </a:rPr>
                                  <m:t> </m:t>
                                </m:r>
                                <m:r>
                                  <m:rPr>
                                    <m:sty m:val="p"/>
                                  </m:rPr>
                                  <a:rPr lang="en-US" b="0" i="0" dirty="0" smtClean="0">
                                    <a:solidFill>
                                      <a:srgbClr val="836967"/>
                                    </a:solidFill>
                                    <a:latin typeface="Cambria Math" panose="02040503050406030204" pitchFamily="18" charset="0"/>
                                  </a:rPr>
                                  <m:t>x</m:t>
                                </m:r>
                                <m:r>
                                  <a:rPr lang="en-US" b="0" i="0" dirty="0" smtClean="0">
                                    <a:solidFill>
                                      <a:srgbClr val="836967"/>
                                    </a:solidFill>
                                    <a:latin typeface="Cambria Math" panose="02040503050406030204" pitchFamily="18" charset="0"/>
                                  </a:rPr>
                                  <m:t>,                      </m:t>
                                </m:r>
                                <m:r>
                                  <m:rPr>
                                    <m:sty m:val="p"/>
                                  </m:rPr>
                                  <a:rPr lang="en-US" b="0" i="0" dirty="0" smtClean="0">
                                    <a:solidFill>
                                      <a:srgbClr val="836967"/>
                                    </a:solidFill>
                                    <a:latin typeface="Cambria Math" panose="02040503050406030204" pitchFamily="18" charset="0"/>
                                  </a:rPr>
                                  <m:t>if</m:t>
                                </m:r>
                                <m:r>
                                  <a:rPr lang="en-US" b="0" i="0" dirty="0" smtClean="0">
                                    <a:solidFill>
                                      <a:srgbClr val="836967"/>
                                    </a:solidFill>
                                    <a:latin typeface="Cambria Math" panose="02040503050406030204" pitchFamily="18" charset="0"/>
                                  </a:rPr>
                                  <m:t> </m:t>
                                </m:r>
                                <m:r>
                                  <a:rPr lang="en-US" i="1" dirty="0" smtClean="0">
                                    <a:latin typeface="Cambria Math" panose="02040503050406030204" pitchFamily="18" charset="0"/>
                                  </a:rPr>
                                  <m:t>𝑥</m:t>
                                </m:r>
                                <m:r>
                                  <a:rPr lang="en-US" i="0" dirty="0" smtClean="0">
                                    <a:latin typeface="Cambria Math" panose="02040503050406030204" pitchFamily="18" charset="0"/>
                                  </a:rPr>
                                  <m:t>&gt;0</m:t>
                                </m:r>
                              </m:e>
                            </m:mr>
                            <m:mr>
                              <m:e>
                                <m:r>
                                  <a:rPr lang="en-US" i="0" dirty="0" smtClean="0">
                                    <a:latin typeface="Cambria Math" panose="02040503050406030204" pitchFamily="18" charset="0"/>
                                  </a:rPr>
                                  <m:t>0.01</m:t>
                                </m:r>
                                <m:r>
                                  <m:rPr>
                                    <m:sty m:val="p"/>
                                  </m:rPr>
                                  <a:rPr lang="en-US" b="0" i="0" dirty="0" smtClean="0">
                                    <a:latin typeface="Cambria Math" panose="02040503050406030204" pitchFamily="18" charset="0"/>
                                  </a:rPr>
                                  <m:t>x</m:t>
                                </m:r>
                                <m:r>
                                  <a:rPr lang="en-US" b="0" i="0" dirty="0" smtClean="0">
                                    <a:latin typeface="Cambria Math" panose="02040503050406030204" pitchFamily="18" charset="0"/>
                                  </a:rPr>
                                  <m:t>,                </m:t>
                                </m:r>
                                <m:r>
                                  <a:rPr lang="en-US" i="1" dirty="0" smtClean="0">
                                    <a:latin typeface="Cambria Math" panose="02040503050406030204" pitchFamily="18" charset="0"/>
                                  </a:rPr>
                                  <m:t>𝑖</m:t>
                                </m:r>
                                <m:sSup>
                                  <m:sSupPr>
                                    <m:ctrlPr>
                                      <a:rPr lang="en-US" i="1" dirty="0" smtClean="0">
                                        <a:solidFill>
                                          <a:srgbClr val="836967"/>
                                        </a:solidFill>
                                        <a:latin typeface="Cambria Math" panose="02040503050406030204" pitchFamily="18" charset="0"/>
                                      </a:rPr>
                                    </m:ctrlPr>
                                  </m:sSupPr>
                                  <m:e>
                                    <m:r>
                                      <a:rPr lang="en-US" i="1" dirty="0" smtClean="0">
                                        <a:latin typeface="Cambria Math" panose="02040503050406030204" pitchFamily="18" charset="0"/>
                                      </a:rPr>
                                      <m:t>𝑓</m:t>
                                    </m:r>
                                  </m:e>
                                  <m:sup>
                                    <m:r>
                                      <a:rPr lang="en-US" i="1" dirty="0" smtClean="0">
                                        <a:latin typeface="Cambria Math" panose="02040503050406030204" pitchFamily="18" charset="0"/>
                                      </a:rPr>
                                      <m:t>𝑥</m:t>
                                    </m:r>
                                  </m:sup>
                                </m:sSup>
                                <m:r>
                                  <a:rPr lang="en-US" i="0" dirty="0" smtClean="0">
                                    <a:latin typeface="Cambria Math" panose="02040503050406030204" pitchFamily="18" charset="0"/>
                                  </a:rPr>
                                  <m:t>≤0</m:t>
                                </m:r>
                              </m:e>
                            </m:mr>
                          </m:m>
                        </m:e>
                      </m:d>
                    </m:oMath>
                  </m:oMathPara>
                </a14:m>
                <a:endParaRPr lang="en-US" dirty="0"/>
              </a:p>
              <a:p>
                <a:pPr marL="457200" lvl="1" indent="0">
                  <a:buNone/>
                </a:pPr>
                <a:endParaRPr lang="en-PK" dirty="0"/>
              </a:p>
            </p:txBody>
          </p:sp>
        </mc:Choice>
        <mc:Fallback>
          <p:sp>
            <p:nvSpPr>
              <p:cNvPr id="3" name="Content Placeholder 2">
                <a:extLst>
                  <a:ext uri="{FF2B5EF4-FFF2-40B4-BE49-F238E27FC236}">
                    <a16:creationId xmlns:a16="http://schemas.microsoft.com/office/drawing/2014/main" id="{B3F2FB6A-8D06-43FB-B09D-032D3C4140A6}"/>
                  </a:ext>
                </a:extLst>
              </p:cNvPr>
              <p:cNvSpPr>
                <a:spLocks noGrp="1" noRot="1" noChangeAspect="1" noMove="1" noResize="1" noEditPoints="1" noAdjustHandles="1" noChangeArrowheads="1" noChangeShapeType="1" noTextEdit="1"/>
              </p:cNvSpPr>
              <p:nvPr>
                <p:ph idx="1"/>
              </p:nvPr>
            </p:nvSpPr>
            <p:spPr>
              <a:xfrm>
                <a:off x="686348" y="2221992"/>
                <a:ext cx="10691265" cy="3739896"/>
              </a:xfrm>
              <a:blipFill>
                <a:blip r:embed="rId2"/>
                <a:stretch>
                  <a:fillRect l="-627" t="-816" r="-627"/>
                </a:stretch>
              </a:blipFill>
            </p:spPr>
            <p:txBody>
              <a:bodyPr/>
              <a:lstStyle/>
              <a:p>
                <a:r>
                  <a:rPr lang="en-PK">
                    <a:noFill/>
                  </a:rPr>
                  <a:t> </a:t>
                </a:r>
              </a:p>
            </p:txBody>
          </p:sp>
        </mc:Fallback>
      </mc:AlternateContent>
    </p:spTree>
    <p:extLst>
      <p:ext uri="{BB962C8B-B14F-4D97-AF65-F5344CB8AC3E}">
        <p14:creationId xmlns:p14="http://schemas.microsoft.com/office/powerpoint/2010/main" val="1610446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6CED-7EC8-4679-B8B9-7C32D25EBE31}"/>
              </a:ext>
            </a:extLst>
          </p:cNvPr>
          <p:cNvSpPr>
            <a:spLocks noGrp="1"/>
          </p:cNvSpPr>
          <p:nvPr>
            <p:ph type="title"/>
          </p:nvPr>
        </p:nvSpPr>
        <p:spPr/>
        <p:txBody>
          <a:bodyPr/>
          <a:lstStyle/>
          <a:p>
            <a:r>
              <a:rPr lang="en-US" dirty="0"/>
              <a:t>YOLO Architecture</a:t>
            </a:r>
            <a:endParaRPr lang="en-PK" dirty="0"/>
          </a:p>
        </p:txBody>
      </p:sp>
      <p:sp>
        <p:nvSpPr>
          <p:cNvPr id="3" name="Content Placeholder 2">
            <a:extLst>
              <a:ext uri="{FF2B5EF4-FFF2-40B4-BE49-F238E27FC236}">
                <a16:creationId xmlns:a16="http://schemas.microsoft.com/office/drawing/2014/main" id="{B4E3D2EA-38D0-414B-A8A2-BCB7A8F75ABC}"/>
              </a:ext>
            </a:extLst>
          </p:cNvPr>
          <p:cNvSpPr>
            <a:spLocks noGrp="1"/>
          </p:cNvSpPr>
          <p:nvPr>
            <p:ph idx="1"/>
          </p:nvPr>
        </p:nvSpPr>
        <p:spPr/>
        <p:txBody>
          <a:bodyPr/>
          <a:lstStyle/>
          <a:p>
            <a:pPr marL="0" indent="0">
              <a:buNone/>
            </a:pPr>
            <a:r>
              <a:rPr lang="en-US" dirty="0"/>
              <a:t>7. Output Layer Activation:</a:t>
            </a:r>
          </a:p>
          <a:p>
            <a:pPr lvl="1">
              <a:buFont typeface="Courier New" panose="02070309020205020404" pitchFamily="49" charset="0"/>
              <a:buChar char="o"/>
            </a:pPr>
            <a:r>
              <a:rPr lang="en-US" dirty="0"/>
              <a:t>The last layer uses a linear activation function, suitable for making raw predictions like bounding box coordinates and confidence scores.</a:t>
            </a:r>
          </a:p>
          <a:p>
            <a:pPr marL="0" indent="0">
              <a:buNone/>
            </a:pPr>
            <a:r>
              <a:rPr lang="en-US" dirty="0"/>
              <a:t>8. Regularization Techniques:</a:t>
            </a:r>
          </a:p>
          <a:p>
            <a:pPr lvl="1">
              <a:buFont typeface="Courier New" panose="02070309020205020404" pitchFamily="49" charset="0"/>
              <a:buChar char="o"/>
            </a:pPr>
            <a:r>
              <a:rPr lang="en-US" b="1" dirty="0"/>
              <a:t>Batch Normalization </a:t>
            </a:r>
            <a:r>
              <a:rPr lang="en-US" dirty="0"/>
              <a:t>is employed across layers to stabilize and accelerate training.</a:t>
            </a:r>
          </a:p>
          <a:p>
            <a:pPr lvl="1">
              <a:buFont typeface="Courier New" panose="02070309020205020404" pitchFamily="49" charset="0"/>
              <a:buChar char="o"/>
            </a:pPr>
            <a:r>
              <a:rPr lang="en-US" b="1" dirty="0"/>
              <a:t>Dropout</a:t>
            </a:r>
            <a:r>
              <a:rPr lang="en-US" dirty="0"/>
              <a:t> is also incorporated to prevent overfitting by randomly deactivating neurons during training, encouraging the network to learn more robust features.</a:t>
            </a:r>
            <a:endParaRPr lang="en-PK" dirty="0"/>
          </a:p>
        </p:txBody>
      </p:sp>
    </p:spTree>
    <p:extLst>
      <p:ext uri="{BB962C8B-B14F-4D97-AF65-F5344CB8AC3E}">
        <p14:creationId xmlns:p14="http://schemas.microsoft.com/office/powerpoint/2010/main" val="733265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97DE74-CFE9-43B1-91D1-535EB948108E}"/>
              </a:ext>
            </a:extLst>
          </p:cNvPr>
          <p:cNvSpPr>
            <a:spLocks noGrp="1"/>
          </p:cNvSpPr>
          <p:nvPr>
            <p:ph type="title"/>
          </p:nvPr>
        </p:nvSpPr>
        <p:spPr>
          <a:xfrm>
            <a:off x="704088" y="914400"/>
            <a:ext cx="3914776" cy="3977269"/>
          </a:xfrm>
        </p:spPr>
        <p:txBody>
          <a:bodyPr>
            <a:normAutofit/>
          </a:bodyPr>
          <a:lstStyle/>
          <a:p>
            <a:r>
              <a:rPr lang="en-US" dirty="0"/>
              <a:t>YOLO Applications</a:t>
            </a:r>
            <a:endParaRPr lang="en-PK" dirty="0"/>
          </a:p>
        </p:txBody>
      </p:sp>
      <p:cxnSp>
        <p:nvCxnSpPr>
          <p:cNvPr id="11" name="Straight Connector 10">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3D955FE-98B4-46FB-CF60-9A3EDD5298E5}"/>
              </a:ext>
            </a:extLst>
          </p:cNvPr>
          <p:cNvGraphicFramePr>
            <a:graphicFrameLocks noGrp="1"/>
          </p:cNvGraphicFramePr>
          <p:nvPr>
            <p:ph idx="1"/>
            <p:extLst>
              <p:ext uri="{D42A27DB-BD31-4B8C-83A1-F6EECF244321}">
                <p14:modId xmlns:p14="http://schemas.microsoft.com/office/powerpoint/2010/main" val="969331363"/>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654120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102</TotalTime>
  <Words>1256</Words>
  <Application>Microsoft Office PowerPoint</Application>
  <PresentationFormat>Widescreen</PresentationFormat>
  <Paragraphs>94</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Bierstadt</vt:lpstr>
      <vt:lpstr>Calisto MT</vt:lpstr>
      <vt:lpstr>Cambria Math</vt:lpstr>
      <vt:lpstr>Courier New</vt:lpstr>
      <vt:lpstr>Times New Roman</vt:lpstr>
      <vt:lpstr>Univers Condensed</vt:lpstr>
      <vt:lpstr>ChronicleVTI</vt:lpstr>
      <vt:lpstr>Computer Vision</vt:lpstr>
      <vt:lpstr>Computer Vision (CV)</vt:lpstr>
      <vt:lpstr>R-CNN - Region-Based Convolutional Neural Networks</vt:lpstr>
      <vt:lpstr>R-CNN Working</vt:lpstr>
      <vt:lpstr>R-CNN Working</vt:lpstr>
      <vt:lpstr>Fast R-CNN</vt:lpstr>
      <vt:lpstr>Fast R-CNN architecture</vt:lpstr>
      <vt:lpstr>Faster R-CNN</vt:lpstr>
      <vt:lpstr>Faster R-CNN</vt:lpstr>
      <vt:lpstr>Architecture of Faster R-CNN</vt:lpstr>
      <vt:lpstr>Backbone Network</vt:lpstr>
      <vt:lpstr>Region Proposal Network (RPN)</vt:lpstr>
      <vt:lpstr>Region of Interest(RoI) Pooling</vt:lpstr>
      <vt:lpstr>Evolution of R-CNN Models</vt:lpstr>
      <vt:lpstr>YOLO : You Only Look Once</vt:lpstr>
      <vt:lpstr>YOLO Architecture</vt:lpstr>
      <vt:lpstr>YOLO Architecture</vt:lpstr>
      <vt:lpstr>YOLO Architecture</vt:lpstr>
      <vt:lpstr>YOLO Architecture</vt:lpstr>
      <vt:lpstr>YOLO Architecture</vt:lpstr>
      <vt:lpstr>YOLO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dc:title>
  <dc:creator>Muhammad Jahanzaib Khan</dc:creator>
  <cp:lastModifiedBy>Muhammad Jahanzaib Khan</cp:lastModifiedBy>
  <cp:revision>11</cp:revision>
  <dcterms:created xsi:type="dcterms:W3CDTF">2025-09-18T19:17:24Z</dcterms:created>
  <dcterms:modified xsi:type="dcterms:W3CDTF">2025-09-18T20:59:50Z</dcterms:modified>
</cp:coreProperties>
</file>