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snapToGrid="0">
      <p:cViewPr varScale="1">
        <p:scale>
          <a:sx n="67" d="100"/>
          <a:sy n="67" d="100"/>
        </p:scale>
        <p:origin x="102"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6356D6-AB1A-44E5-AED2-608CD059302A}"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E42E1CEC-B64A-4519-8721-F1DAFAF3AD2B}">
      <dgm:prSet/>
      <dgm:spPr/>
      <dgm:t>
        <a:bodyPr/>
        <a:lstStyle/>
        <a:p>
          <a:r>
            <a:rPr lang="en-US" dirty="0"/>
            <a:t>Long Short-Term Memory (LSTM) is an enhanced version of the Recurrent Neural Network (RNN) designed by </a:t>
          </a:r>
          <a:r>
            <a:rPr lang="en-US" dirty="0" err="1"/>
            <a:t>Hochreiter</a:t>
          </a:r>
          <a:r>
            <a:rPr lang="en-US" dirty="0"/>
            <a:t> and </a:t>
          </a:r>
          <a:r>
            <a:rPr lang="en-US" dirty="0" err="1"/>
            <a:t>Schmidhuber</a:t>
          </a:r>
          <a:r>
            <a:rPr lang="en-US" dirty="0"/>
            <a:t>. LSTMs can capture long-term dependencies in sequential data making them ideal for tasks like language translation, speech recognition and time series forecasting.</a:t>
          </a:r>
        </a:p>
      </dgm:t>
    </dgm:pt>
    <dgm:pt modelId="{65FE9767-1406-47AD-9343-CCEFB9049DE2}" type="parTrans" cxnId="{86F9672E-B918-4290-B764-93B7745E340A}">
      <dgm:prSet/>
      <dgm:spPr/>
      <dgm:t>
        <a:bodyPr/>
        <a:lstStyle/>
        <a:p>
          <a:endParaRPr lang="en-US"/>
        </a:p>
      </dgm:t>
    </dgm:pt>
    <dgm:pt modelId="{9BC12B7F-E016-4A62-B2AD-99A62F50FB08}" type="sibTrans" cxnId="{86F9672E-B918-4290-B764-93B7745E340A}">
      <dgm:prSet/>
      <dgm:spPr/>
      <dgm:t>
        <a:bodyPr/>
        <a:lstStyle/>
        <a:p>
          <a:endParaRPr lang="en-US"/>
        </a:p>
      </dgm:t>
    </dgm:pt>
    <dgm:pt modelId="{1EA7BEC7-9FBB-42C4-9E8D-3A13ED06E159}">
      <dgm:prSet/>
      <dgm:spPr/>
      <dgm:t>
        <a:bodyPr/>
        <a:lstStyle/>
        <a:p>
          <a:r>
            <a:rPr lang="en-US"/>
            <a:t>Unlike traditional RNNs which use a single hidden state passed through time LSTMs introduce a memory cell that holds information over extended periods addressing the challenge of learning long-term dependencies.</a:t>
          </a:r>
        </a:p>
      </dgm:t>
    </dgm:pt>
    <dgm:pt modelId="{74E3F8AD-B299-4FD2-BA2E-DE6FE59DC115}" type="parTrans" cxnId="{1EB64FA2-E950-4D5A-9140-9D543B6D3BA4}">
      <dgm:prSet/>
      <dgm:spPr/>
      <dgm:t>
        <a:bodyPr/>
        <a:lstStyle/>
        <a:p>
          <a:endParaRPr lang="en-US"/>
        </a:p>
      </dgm:t>
    </dgm:pt>
    <dgm:pt modelId="{4DDE202D-DB73-45EA-825A-2D7B233AFD1D}" type="sibTrans" cxnId="{1EB64FA2-E950-4D5A-9140-9D543B6D3BA4}">
      <dgm:prSet/>
      <dgm:spPr/>
      <dgm:t>
        <a:bodyPr/>
        <a:lstStyle/>
        <a:p>
          <a:endParaRPr lang="en-US"/>
        </a:p>
      </dgm:t>
    </dgm:pt>
    <dgm:pt modelId="{02798E5D-B0DC-41DD-8C54-E2D763FB5BCC}" type="pres">
      <dgm:prSet presAssocID="{7E6356D6-AB1A-44E5-AED2-608CD059302A}" presName="root" presStyleCnt="0">
        <dgm:presLayoutVars>
          <dgm:dir/>
          <dgm:resizeHandles val="exact"/>
        </dgm:presLayoutVars>
      </dgm:prSet>
      <dgm:spPr/>
    </dgm:pt>
    <dgm:pt modelId="{D5669498-215A-41AA-AA29-962767F1F151}" type="pres">
      <dgm:prSet presAssocID="{E42E1CEC-B64A-4519-8721-F1DAFAF3AD2B}" presName="compNode" presStyleCnt="0"/>
      <dgm:spPr/>
    </dgm:pt>
    <dgm:pt modelId="{58EEB627-1EB9-4D0A-B713-BEA6442FFB9A}" type="pres">
      <dgm:prSet presAssocID="{E42E1CEC-B64A-4519-8721-F1DAFAF3AD2B}" presName="bgRect" presStyleLbl="bgShp" presStyleIdx="0" presStyleCnt="2"/>
      <dgm:spPr/>
    </dgm:pt>
    <dgm:pt modelId="{EA731FB1-1AF0-4F68-8159-FC5A85107637}" type="pres">
      <dgm:prSet presAssocID="{E42E1CEC-B64A-4519-8721-F1DAFAF3AD2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a:ext>
      </dgm:extLst>
    </dgm:pt>
    <dgm:pt modelId="{946C852A-5A82-4342-A6C5-6393D5353EFC}" type="pres">
      <dgm:prSet presAssocID="{E42E1CEC-B64A-4519-8721-F1DAFAF3AD2B}" presName="spaceRect" presStyleCnt="0"/>
      <dgm:spPr/>
    </dgm:pt>
    <dgm:pt modelId="{C91A81EC-38CD-475B-A3A5-FEBABFEBB30E}" type="pres">
      <dgm:prSet presAssocID="{E42E1CEC-B64A-4519-8721-F1DAFAF3AD2B}" presName="parTx" presStyleLbl="revTx" presStyleIdx="0" presStyleCnt="2">
        <dgm:presLayoutVars>
          <dgm:chMax val="0"/>
          <dgm:chPref val="0"/>
        </dgm:presLayoutVars>
      </dgm:prSet>
      <dgm:spPr/>
    </dgm:pt>
    <dgm:pt modelId="{D5095095-D742-420D-AD10-970FD2D0FD20}" type="pres">
      <dgm:prSet presAssocID="{9BC12B7F-E016-4A62-B2AD-99A62F50FB08}" presName="sibTrans" presStyleCnt="0"/>
      <dgm:spPr/>
    </dgm:pt>
    <dgm:pt modelId="{3DB3FB3C-C2CC-4399-A32B-1F3FB22886F3}" type="pres">
      <dgm:prSet presAssocID="{1EA7BEC7-9FBB-42C4-9E8D-3A13ED06E159}" presName="compNode" presStyleCnt="0"/>
      <dgm:spPr/>
    </dgm:pt>
    <dgm:pt modelId="{A5F1E3AB-204F-4F5C-96D2-E8BE99029CF6}" type="pres">
      <dgm:prSet presAssocID="{1EA7BEC7-9FBB-42C4-9E8D-3A13ED06E159}" presName="bgRect" presStyleLbl="bgShp" presStyleIdx="1" presStyleCnt="2"/>
      <dgm:spPr/>
    </dgm:pt>
    <dgm:pt modelId="{AA734361-FB7F-4E9F-93F3-E4192984511D}" type="pres">
      <dgm:prSet presAssocID="{1EA7BEC7-9FBB-42C4-9E8D-3A13ED06E15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5607BD3-F92D-4655-8186-0646FAA48B27}" type="pres">
      <dgm:prSet presAssocID="{1EA7BEC7-9FBB-42C4-9E8D-3A13ED06E159}" presName="spaceRect" presStyleCnt="0"/>
      <dgm:spPr/>
    </dgm:pt>
    <dgm:pt modelId="{773D9BE4-FB00-4BA7-87D5-CF432180C355}" type="pres">
      <dgm:prSet presAssocID="{1EA7BEC7-9FBB-42C4-9E8D-3A13ED06E159}" presName="parTx" presStyleLbl="revTx" presStyleIdx="1" presStyleCnt="2">
        <dgm:presLayoutVars>
          <dgm:chMax val="0"/>
          <dgm:chPref val="0"/>
        </dgm:presLayoutVars>
      </dgm:prSet>
      <dgm:spPr/>
    </dgm:pt>
  </dgm:ptLst>
  <dgm:cxnLst>
    <dgm:cxn modelId="{A893FA15-8EC5-4868-AFC9-D615B98CE244}" type="presOf" srcId="{E42E1CEC-B64A-4519-8721-F1DAFAF3AD2B}" destId="{C91A81EC-38CD-475B-A3A5-FEBABFEBB30E}" srcOrd="0" destOrd="0" presId="urn:microsoft.com/office/officeart/2018/2/layout/IconVerticalSolidList"/>
    <dgm:cxn modelId="{86F9672E-B918-4290-B764-93B7745E340A}" srcId="{7E6356D6-AB1A-44E5-AED2-608CD059302A}" destId="{E42E1CEC-B64A-4519-8721-F1DAFAF3AD2B}" srcOrd="0" destOrd="0" parTransId="{65FE9767-1406-47AD-9343-CCEFB9049DE2}" sibTransId="{9BC12B7F-E016-4A62-B2AD-99A62F50FB08}"/>
    <dgm:cxn modelId="{BA3D6051-54C0-4104-B029-3C2456EF5F63}" type="presOf" srcId="{7E6356D6-AB1A-44E5-AED2-608CD059302A}" destId="{02798E5D-B0DC-41DD-8C54-E2D763FB5BCC}" srcOrd="0" destOrd="0" presId="urn:microsoft.com/office/officeart/2018/2/layout/IconVerticalSolidList"/>
    <dgm:cxn modelId="{452C5457-DFF1-49FA-8F08-A9541308B4AB}" type="presOf" srcId="{1EA7BEC7-9FBB-42C4-9E8D-3A13ED06E159}" destId="{773D9BE4-FB00-4BA7-87D5-CF432180C355}" srcOrd="0" destOrd="0" presId="urn:microsoft.com/office/officeart/2018/2/layout/IconVerticalSolidList"/>
    <dgm:cxn modelId="{1EB64FA2-E950-4D5A-9140-9D543B6D3BA4}" srcId="{7E6356D6-AB1A-44E5-AED2-608CD059302A}" destId="{1EA7BEC7-9FBB-42C4-9E8D-3A13ED06E159}" srcOrd="1" destOrd="0" parTransId="{74E3F8AD-B299-4FD2-BA2E-DE6FE59DC115}" sibTransId="{4DDE202D-DB73-45EA-825A-2D7B233AFD1D}"/>
    <dgm:cxn modelId="{3461D597-3E4F-4912-BDE2-20024863A65B}" type="presParOf" srcId="{02798E5D-B0DC-41DD-8C54-E2D763FB5BCC}" destId="{D5669498-215A-41AA-AA29-962767F1F151}" srcOrd="0" destOrd="0" presId="urn:microsoft.com/office/officeart/2018/2/layout/IconVerticalSolidList"/>
    <dgm:cxn modelId="{ABD16C69-C9F2-427B-99B4-AC17A4C104FB}" type="presParOf" srcId="{D5669498-215A-41AA-AA29-962767F1F151}" destId="{58EEB627-1EB9-4D0A-B713-BEA6442FFB9A}" srcOrd="0" destOrd="0" presId="urn:microsoft.com/office/officeart/2018/2/layout/IconVerticalSolidList"/>
    <dgm:cxn modelId="{A014F604-9820-42A9-87EF-1B518F9FD742}" type="presParOf" srcId="{D5669498-215A-41AA-AA29-962767F1F151}" destId="{EA731FB1-1AF0-4F68-8159-FC5A85107637}" srcOrd="1" destOrd="0" presId="urn:microsoft.com/office/officeart/2018/2/layout/IconVerticalSolidList"/>
    <dgm:cxn modelId="{D22E24DB-1BBA-42C7-BB0F-E5B353543E99}" type="presParOf" srcId="{D5669498-215A-41AA-AA29-962767F1F151}" destId="{946C852A-5A82-4342-A6C5-6393D5353EFC}" srcOrd="2" destOrd="0" presId="urn:microsoft.com/office/officeart/2018/2/layout/IconVerticalSolidList"/>
    <dgm:cxn modelId="{DA5D80CC-FDD0-4796-88A2-1C46757A54D5}" type="presParOf" srcId="{D5669498-215A-41AA-AA29-962767F1F151}" destId="{C91A81EC-38CD-475B-A3A5-FEBABFEBB30E}" srcOrd="3" destOrd="0" presId="urn:microsoft.com/office/officeart/2018/2/layout/IconVerticalSolidList"/>
    <dgm:cxn modelId="{1AD1F471-C543-4CC2-8151-23EFB10DF241}" type="presParOf" srcId="{02798E5D-B0DC-41DD-8C54-E2D763FB5BCC}" destId="{D5095095-D742-420D-AD10-970FD2D0FD20}" srcOrd="1" destOrd="0" presId="urn:microsoft.com/office/officeart/2018/2/layout/IconVerticalSolidList"/>
    <dgm:cxn modelId="{16963ED9-4DED-4AE3-AFEC-50EE6559CC2C}" type="presParOf" srcId="{02798E5D-B0DC-41DD-8C54-E2D763FB5BCC}" destId="{3DB3FB3C-C2CC-4399-A32B-1F3FB22886F3}" srcOrd="2" destOrd="0" presId="urn:microsoft.com/office/officeart/2018/2/layout/IconVerticalSolidList"/>
    <dgm:cxn modelId="{514E49ED-2640-48F7-BC8A-4A00DF95E6CE}" type="presParOf" srcId="{3DB3FB3C-C2CC-4399-A32B-1F3FB22886F3}" destId="{A5F1E3AB-204F-4F5C-96D2-E8BE99029CF6}" srcOrd="0" destOrd="0" presId="urn:microsoft.com/office/officeart/2018/2/layout/IconVerticalSolidList"/>
    <dgm:cxn modelId="{02F835A5-FB58-4431-89FE-B55CDCA0F99C}" type="presParOf" srcId="{3DB3FB3C-C2CC-4399-A32B-1F3FB22886F3}" destId="{AA734361-FB7F-4E9F-93F3-E4192984511D}" srcOrd="1" destOrd="0" presId="urn:microsoft.com/office/officeart/2018/2/layout/IconVerticalSolidList"/>
    <dgm:cxn modelId="{14A244C9-D90C-4BD0-AC5B-2054D8B50BD3}" type="presParOf" srcId="{3DB3FB3C-C2CC-4399-A32B-1F3FB22886F3}" destId="{D5607BD3-F92D-4655-8186-0646FAA48B27}" srcOrd="2" destOrd="0" presId="urn:microsoft.com/office/officeart/2018/2/layout/IconVerticalSolidList"/>
    <dgm:cxn modelId="{D09D8E28-9D8A-4F89-AA17-05C3F08CA853}" type="presParOf" srcId="{3DB3FB3C-C2CC-4399-A32B-1F3FB22886F3}" destId="{773D9BE4-FB00-4BA7-87D5-CF432180C35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D69738-1EE2-4A43-A8F2-AB4AF80D6579}"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F9F47737-0E07-4475-B6A4-C2CC5856F9D7}">
      <dgm:prSet/>
      <dgm:spPr/>
      <dgm:t>
        <a:bodyPr/>
        <a:lstStyle/>
        <a:p>
          <a:pPr algn="just"/>
          <a:r>
            <a:rPr lang="en-US" dirty="0"/>
            <a:t>Recurrent Neural Networks (RNNs) are designed to handle sequential data by maintaining a hidden state that captures information from previous time steps. However they often face challenges in learning long-term dependencies where information from distant time steps becomes crucial for making accurate predictions for current state. This problem is known as the vanishing gradient or exploding gradient problem.</a:t>
          </a:r>
        </a:p>
      </dgm:t>
    </dgm:pt>
    <dgm:pt modelId="{854A9DBC-24B2-4549-AFC4-BFE97F4F3B40}" type="parTrans" cxnId="{2618F173-67E4-4CA5-B4CD-1F6639987BD7}">
      <dgm:prSet/>
      <dgm:spPr/>
      <dgm:t>
        <a:bodyPr/>
        <a:lstStyle/>
        <a:p>
          <a:endParaRPr lang="en-US"/>
        </a:p>
      </dgm:t>
    </dgm:pt>
    <dgm:pt modelId="{01D6A90A-E491-4451-8F56-5E9173FA7C50}" type="sibTrans" cxnId="{2618F173-67E4-4CA5-B4CD-1F6639987BD7}">
      <dgm:prSet/>
      <dgm:spPr/>
      <dgm:t>
        <a:bodyPr/>
        <a:lstStyle/>
        <a:p>
          <a:endParaRPr lang="en-US"/>
        </a:p>
      </dgm:t>
    </dgm:pt>
    <dgm:pt modelId="{8FBD3EDD-43B4-44CB-AA8B-28E8639E6442}">
      <dgm:prSet/>
      <dgm:spPr/>
      <dgm:t>
        <a:bodyPr/>
        <a:lstStyle/>
        <a:p>
          <a:r>
            <a:rPr lang="en-US"/>
            <a:t>Vanishing Gradient</a:t>
          </a:r>
        </a:p>
      </dgm:t>
    </dgm:pt>
    <dgm:pt modelId="{57EA222F-5BD5-4504-98FD-FDA265EDF1B5}" type="parTrans" cxnId="{8B8DA846-4102-4A8A-9AFD-3A46A0D3E7E5}">
      <dgm:prSet/>
      <dgm:spPr/>
      <dgm:t>
        <a:bodyPr/>
        <a:lstStyle/>
        <a:p>
          <a:endParaRPr lang="en-US"/>
        </a:p>
      </dgm:t>
    </dgm:pt>
    <dgm:pt modelId="{6E278317-8304-42E1-A2E6-0DD019F971F9}" type="sibTrans" cxnId="{8B8DA846-4102-4A8A-9AFD-3A46A0D3E7E5}">
      <dgm:prSet/>
      <dgm:spPr/>
      <dgm:t>
        <a:bodyPr/>
        <a:lstStyle/>
        <a:p>
          <a:endParaRPr lang="en-US"/>
        </a:p>
      </dgm:t>
    </dgm:pt>
    <dgm:pt modelId="{C248DE5A-A742-4F3F-833A-0D9107EA7477}">
      <dgm:prSet/>
      <dgm:spPr/>
      <dgm:t>
        <a:bodyPr/>
        <a:lstStyle/>
        <a:p>
          <a:r>
            <a:rPr lang="en-US"/>
            <a:t>Exploding Gradient</a:t>
          </a:r>
        </a:p>
      </dgm:t>
    </dgm:pt>
    <dgm:pt modelId="{918D1C21-57A0-49CB-B083-2C6AA4144A71}" type="parTrans" cxnId="{15EF2D74-894E-4C35-AAB1-854B3BADBDD7}">
      <dgm:prSet/>
      <dgm:spPr/>
      <dgm:t>
        <a:bodyPr/>
        <a:lstStyle/>
        <a:p>
          <a:endParaRPr lang="en-US"/>
        </a:p>
      </dgm:t>
    </dgm:pt>
    <dgm:pt modelId="{20B46DD8-AFEA-49A0-8F16-CF170CDB482F}" type="sibTrans" cxnId="{15EF2D74-894E-4C35-AAB1-854B3BADBDD7}">
      <dgm:prSet/>
      <dgm:spPr/>
      <dgm:t>
        <a:bodyPr/>
        <a:lstStyle/>
        <a:p>
          <a:endParaRPr lang="en-US"/>
        </a:p>
      </dgm:t>
    </dgm:pt>
    <dgm:pt modelId="{64BCEEE6-BAD6-4E2C-A553-0AD183BFBE17}" type="pres">
      <dgm:prSet presAssocID="{8AD69738-1EE2-4A43-A8F2-AB4AF80D6579}" presName="Name0" presStyleCnt="0">
        <dgm:presLayoutVars>
          <dgm:dir/>
          <dgm:animLvl val="lvl"/>
          <dgm:resizeHandles val="exact"/>
        </dgm:presLayoutVars>
      </dgm:prSet>
      <dgm:spPr/>
    </dgm:pt>
    <dgm:pt modelId="{76A3CAC7-8CB4-4246-8B59-4E4BB877D76B}" type="pres">
      <dgm:prSet presAssocID="{F9F47737-0E07-4475-B6A4-C2CC5856F9D7}" presName="boxAndChildren" presStyleCnt="0"/>
      <dgm:spPr/>
    </dgm:pt>
    <dgm:pt modelId="{868F6362-219F-42B2-9F32-9F7527DA56FA}" type="pres">
      <dgm:prSet presAssocID="{F9F47737-0E07-4475-B6A4-C2CC5856F9D7}" presName="parentTextBox" presStyleLbl="node1" presStyleIdx="0" presStyleCnt="1"/>
      <dgm:spPr/>
    </dgm:pt>
    <dgm:pt modelId="{362CAE9B-D27A-4D08-8A2C-BD2216628739}" type="pres">
      <dgm:prSet presAssocID="{F9F47737-0E07-4475-B6A4-C2CC5856F9D7}" presName="entireBox" presStyleLbl="node1" presStyleIdx="0" presStyleCnt="1"/>
      <dgm:spPr/>
    </dgm:pt>
    <dgm:pt modelId="{B87440FC-C713-4179-9575-D772EE9CEA6B}" type="pres">
      <dgm:prSet presAssocID="{F9F47737-0E07-4475-B6A4-C2CC5856F9D7}" presName="descendantBox" presStyleCnt="0"/>
      <dgm:spPr/>
    </dgm:pt>
    <dgm:pt modelId="{0BEA0E4D-5E02-4883-AA13-C7B3CFC18D6C}" type="pres">
      <dgm:prSet presAssocID="{8FBD3EDD-43B4-44CB-AA8B-28E8639E6442}" presName="childTextBox" presStyleLbl="fgAccFollowNode1" presStyleIdx="0" presStyleCnt="2">
        <dgm:presLayoutVars>
          <dgm:bulletEnabled val="1"/>
        </dgm:presLayoutVars>
      </dgm:prSet>
      <dgm:spPr/>
    </dgm:pt>
    <dgm:pt modelId="{4EF2C25A-96A0-4300-AD66-7AABAA76EE74}" type="pres">
      <dgm:prSet presAssocID="{C248DE5A-A742-4F3F-833A-0D9107EA7477}" presName="childTextBox" presStyleLbl="fgAccFollowNode1" presStyleIdx="1" presStyleCnt="2">
        <dgm:presLayoutVars>
          <dgm:bulletEnabled val="1"/>
        </dgm:presLayoutVars>
      </dgm:prSet>
      <dgm:spPr/>
    </dgm:pt>
  </dgm:ptLst>
  <dgm:cxnLst>
    <dgm:cxn modelId="{654D5E16-2C68-41D0-8F45-F6DB4AD525D3}" type="presOf" srcId="{F9F47737-0E07-4475-B6A4-C2CC5856F9D7}" destId="{362CAE9B-D27A-4D08-8A2C-BD2216628739}" srcOrd="1" destOrd="0" presId="urn:microsoft.com/office/officeart/2005/8/layout/process4"/>
    <dgm:cxn modelId="{6706EE45-4753-4312-BEAF-68324C9775C2}" type="presOf" srcId="{8FBD3EDD-43B4-44CB-AA8B-28E8639E6442}" destId="{0BEA0E4D-5E02-4883-AA13-C7B3CFC18D6C}" srcOrd="0" destOrd="0" presId="urn:microsoft.com/office/officeart/2005/8/layout/process4"/>
    <dgm:cxn modelId="{8B8DA846-4102-4A8A-9AFD-3A46A0D3E7E5}" srcId="{F9F47737-0E07-4475-B6A4-C2CC5856F9D7}" destId="{8FBD3EDD-43B4-44CB-AA8B-28E8639E6442}" srcOrd="0" destOrd="0" parTransId="{57EA222F-5BD5-4504-98FD-FDA265EDF1B5}" sibTransId="{6E278317-8304-42E1-A2E6-0DD019F971F9}"/>
    <dgm:cxn modelId="{362FA567-A425-4C91-9C15-2CA55F9AD6FE}" type="presOf" srcId="{C248DE5A-A742-4F3F-833A-0D9107EA7477}" destId="{4EF2C25A-96A0-4300-AD66-7AABAA76EE74}" srcOrd="0" destOrd="0" presId="urn:microsoft.com/office/officeart/2005/8/layout/process4"/>
    <dgm:cxn modelId="{2618F173-67E4-4CA5-B4CD-1F6639987BD7}" srcId="{8AD69738-1EE2-4A43-A8F2-AB4AF80D6579}" destId="{F9F47737-0E07-4475-B6A4-C2CC5856F9D7}" srcOrd="0" destOrd="0" parTransId="{854A9DBC-24B2-4549-AFC4-BFE97F4F3B40}" sibTransId="{01D6A90A-E491-4451-8F56-5E9173FA7C50}"/>
    <dgm:cxn modelId="{15EF2D74-894E-4C35-AAB1-854B3BADBDD7}" srcId="{F9F47737-0E07-4475-B6A4-C2CC5856F9D7}" destId="{C248DE5A-A742-4F3F-833A-0D9107EA7477}" srcOrd="1" destOrd="0" parTransId="{918D1C21-57A0-49CB-B083-2C6AA4144A71}" sibTransId="{20B46DD8-AFEA-49A0-8F16-CF170CDB482F}"/>
    <dgm:cxn modelId="{4266FCB6-70ED-4E44-9AD5-1F9785161401}" type="presOf" srcId="{F9F47737-0E07-4475-B6A4-C2CC5856F9D7}" destId="{868F6362-219F-42B2-9F32-9F7527DA56FA}" srcOrd="0" destOrd="0" presId="urn:microsoft.com/office/officeart/2005/8/layout/process4"/>
    <dgm:cxn modelId="{9E4AF6EF-E6BC-41CE-974D-E19B7EB0F077}" type="presOf" srcId="{8AD69738-1EE2-4A43-A8F2-AB4AF80D6579}" destId="{64BCEEE6-BAD6-4E2C-A553-0AD183BFBE17}" srcOrd="0" destOrd="0" presId="urn:microsoft.com/office/officeart/2005/8/layout/process4"/>
    <dgm:cxn modelId="{6EED015C-420A-464E-AC3A-F9210E6D95D4}" type="presParOf" srcId="{64BCEEE6-BAD6-4E2C-A553-0AD183BFBE17}" destId="{76A3CAC7-8CB4-4246-8B59-4E4BB877D76B}" srcOrd="0" destOrd="0" presId="urn:microsoft.com/office/officeart/2005/8/layout/process4"/>
    <dgm:cxn modelId="{1C52B1D0-BCE1-4FEF-9D66-29020574E53D}" type="presParOf" srcId="{76A3CAC7-8CB4-4246-8B59-4E4BB877D76B}" destId="{868F6362-219F-42B2-9F32-9F7527DA56FA}" srcOrd="0" destOrd="0" presId="urn:microsoft.com/office/officeart/2005/8/layout/process4"/>
    <dgm:cxn modelId="{F2094D94-CD20-42F2-A2C3-BC6709C94FE8}" type="presParOf" srcId="{76A3CAC7-8CB4-4246-8B59-4E4BB877D76B}" destId="{362CAE9B-D27A-4D08-8A2C-BD2216628739}" srcOrd="1" destOrd="0" presId="urn:microsoft.com/office/officeart/2005/8/layout/process4"/>
    <dgm:cxn modelId="{457289E6-FCC1-4B4F-B40C-CAF8C4C38C9C}" type="presParOf" srcId="{76A3CAC7-8CB4-4246-8B59-4E4BB877D76B}" destId="{B87440FC-C713-4179-9575-D772EE9CEA6B}" srcOrd="2" destOrd="0" presId="urn:microsoft.com/office/officeart/2005/8/layout/process4"/>
    <dgm:cxn modelId="{77E3BD66-AB8C-4EB4-BECB-96BE1C5DC7CA}" type="presParOf" srcId="{B87440FC-C713-4179-9575-D772EE9CEA6B}" destId="{0BEA0E4D-5E02-4883-AA13-C7B3CFC18D6C}" srcOrd="0" destOrd="0" presId="urn:microsoft.com/office/officeart/2005/8/layout/process4"/>
    <dgm:cxn modelId="{CF63D322-F2AF-4F04-9511-00C349D264DC}" type="presParOf" srcId="{B87440FC-C713-4179-9575-D772EE9CEA6B}" destId="{4EF2C25A-96A0-4300-AD66-7AABAA76EE74}" srcOrd="1"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C1C8A4-329C-41BA-847C-18932AAEF3DB}"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664563E-1C9A-49B1-B5A5-C52B0EB5B792}">
      <dgm:prSet/>
      <dgm:spPr/>
      <dgm:t>
        <a:bodyPr/>
        <a:lstStyle/>
        <a:p>
          <a:r>
            <a:rPr lang="en-US" b="1"/>
            <a:t>Vanishing Gradient: </a:t>
          </a:r>
          <a:r>
            <a:rPr lang="en-US"/>
            <a:t>When training a model over time, the gradients which help the model learn can shrink as they pass through many steps. This makes it hard for the model to learn long-term patterns since earlier information becomes almost irrelevant.</a:t>
          </a:r>
        </a:p>
      </dgm:t>
    </dgm:pt>
    <dgm:pt modelId="{3F7171F1-3987-4DC9-96A2-65008FBC6193}" type="parTrans" cxnId="{5BB23C5E-E90C-4E37-BE2B-5A22A8DE32CF}">
      <dgm:prSet/>
      <dgm:spPr/>
      <dgm:t>
        <a:bodyPr/>
        <a:lstStyle/>
        <a:p>
          <a:endParaRPr lang="en-US"/>
        </a:p>
      </dgm:t>
    </dgm:pt>
    <dgm:pt modelId="{531EADF6-0A6E-4E1F-9FF5-446DE25F1D96}" type="sibTrans" cxnId="{5BB23C5E-E90C-4E37-BE2B-5A22A8DE32CF}">
      <dgm:prSet/>
      <dgm:spPr/>
      <dgm:t>
        <a:bodyPr/>
        <a:lstStyle/>
        <a:p>
          <a:endParaRPr lang="en-US"/>
        </a:p>
      </dgm:t>
    </dgm:pt>
    <dgm:pt modelId="{7B9A33A4-B683-4B35-8466-96506F055E29}">
      <dgm:prSet/>
      <dgm:spPr/>
      <dgm:t>
        <a:bodyPr/>
        <a:lstStyle/>
        <a:p>
          <a:r>
            <a:rPr lang="en-US" b="1"/>
            <a:t>Exploding Gradient: </a:t>
          </a:r>
          <a:r>
            <a:rPr lang="en-US"/>
            <a:t>Sometimes gradients can grow too large causing instability. This makes it difficult for the model to learn properly as the updates to the model become erratic and unpredictable.</a:t>
          </a:r>
        </a:p>
      </dgm:t>
    </dgm:pt>
    <dgm:pt modelId="{D237F62D-D9FB-4EC1-98B1-B6AD996EF136}" type="parTrans" cxnId="{E7B776CE-FE9E-44BB-916A-8869C22E0FB8}">
      <dgm:prSet/>
      <dgm:spPr/>
      <dgm:t>
        <a:bodyPr/>
        <a:lstStyle/>
        <a:p>
          <a:endParaRPr lang="en-US"/>
        </a:p>
      </dgm:t>
    </dgm:pt>
    <dgm:pt modelId="{D1AA3B82-2E96-4002-978F-8F3EE1EA3EC9}" type="sibTrans" cxnId="{E7B776CE-FE9E-44BB-916A-8869C22E0FB8}">
      <dgm:prSet/>
      <dgm:spPr/>
      <dgm:t>
        <a:bodyPr/>
        <a:lstStyle/>
        <a:p>
          <a:endParaRPr lang="en-US"/>
        </a:p>
      </dgm:t>
    </dgm:pt>
    <dgm:pt modelId="{EC86F36F-9279-4928-9D00-3BEBD1257FA9}" type="pres">
      <dgm:prSet presAssocID="{B8C1C8A4-329C-41BA-847C-18932AAEF3DB}" presName="hierChild1" presStyleCnt="0">
        <dgm:presLayoutVars>
          <dgm:chPref val="1"/>
          <dgm:dir/>
          <dgm:animOne val="branch"/>
          <dgm:animLvl val="lvl"/>
          <dgm:resizeHandles/>
        </dgm:presLayoutVars>
      </dgm:prSet>
      <dgm:spPr/>
    </dgm:pt>
    <dgm:pt modelId="{B7FC6035-C539-4700-A9C9-2DB597B93D9D}" type="pres">
      <dgm:prSet presAssocID="{8664563E-1C9A-49B1-B5A5-C52B0EB5B792}" presName="hierRoot1" presStyleCnt="0"/>
      <dgm:spPr/>
    </dgm:pt>
    <dgm:pt modelId="{00E54857-FF77-48EB-8898-ADAF6CDBCDD9}" type="pres">
      <dgm:prSet presAssocID="{8664563E-1C9A-49B1-B5A5-C52B0EB5B792}" presName="composite" presStyleCnt="0"/>
      <dgm:spPr/>
    </dgm:pt>
    <dgm:pt modelId="{463668A9-4A7D-4F44-A08E-27ABB35D71B6}" type="pres">
      <dgm:prSet presAssocID="{8664563E-1C9A-49B1-B5A5-C52B0EB5B792}" presName="background" presStyleLbl="node0" presStyleIdx="0" presStyleCnt="2"/>
      <dgm:spPr/>
    </dgm:pt>
    <dgm:pt modelId="{B1DFD238-78EA-4FE0-8DA0-FADF18F3F262}" type="pres">
      <dgm:prSet presAssocID="{8664563E-1C9A-49B1-B5A5-C52B0EB5B792}" presName="text" presStyleLbl="fgAcc0" presStyleIdx="0" presStyleCnt="2">
        <dgm:presLayoutVars>
          <dgm:chPref val="3"/>
        </dgm:presLayoutVars>
      </dgm:prSet>
      <dgm:spPr/>
    </dgm:pt>
    <dgm:pt modelId="{E2C0E535-3581-4131-89AD-0DD907DF0959}" type="pres">
      <dgm:prSet presAssocID="{8664563E-1C9A-49B1-B5A5-C52B0EB5B792}" presName="hierChild2" presStyleCnt="0"/>
      <dgm:spPr/>
    </dgm:pt>
    <dgm:pt modelId="{4B8AEE00-B994-4C87-904B-009A09AC575C}" type="pres">
      <dgm:prSet presAssocID="{7B9A33A4-B683-4B35-8466-96506F055E29}" presName="hierRoot1" presStyleCnt="0"/>
      <dgm:spPr/>
    </dgm:pt>
    <dgm:pt modelId="{22B32D71-5F11-445F-A600-5020B11C7CFA}" type="pres">
      <dgm:prSet presAssocID="{7B9A33A4-B683-4B35-8466-96506F055E29}" presName="composite" presStyleCnt="0"/>
      <dgm:spPr/>
    </dgm:pt>
    <dgm:pt modelId="{AF537D22-3AC5-457F-9777-92D8C8A2FD2D}" type="pres">
      <dgm:prSet presAssocID="{7B9A33A4-B683-4B35-8466-96506F055E29}" presName="background" presStyleLbl="node0" presStyleIdx="1" presStyleCnt="2"/>
      <dgm:spPr/>
    </dgm:pt>
    <dgm:pt modelId="{1EACFFAA-FDCC-464A-81C8-5D2CBAE93C70}" type="pres">
      <dgm:prSet presAssocID="{7B9A33A4-B683-4B35-8466-96506F055E29}" presName="text" presStyleLbl="fgAcc0" presStyleIdx="1" presStyleCnt="2">
        <dgm:presLayoutVars>
          <dgm:chPref val="3"/>
        </dgm:presLayoutVars>
      </dgm:prSet>
      <dgm:spPr/>
    </dgm:pt>
    <dgm:pt modelId="{1EC4A2B8-A35E-4967-AF6A-6D997467306B}" type="pres">
      <dgm:prSet presAssocID="{7B9A33A4-B683-4B35-8466-96506F055E29}" presName="hierChild2" presStyleCnt="0"/>
      <dgm:spPr/>
    </dgm:pt>
  </dgm:ptLst>
  <dgm:cxnLst>
    <dgm:cxn modelId="{CF9B9B3A-3669-4425-90A9-FF8A052F1851}" type="presOf" srcId="{7B9A33A4-B683-4B35-8466-96506F055E29}" destId="{1EACFFAA-FDCC-464A-81C8-5D2CBAE93C70}" srcOrd="0" destOrd="0" presId="urn:microsoft.com/office/officeart/2005/8/layout/hierarchy1"/>
    <dgm:cxn modelId="{5BB23C5E-E90C-4E37-BE2B-5A22A8DE32CF}" srcId="{B8C1C8A4-329C-41BA-847C-18932AAEF3DB}" destId="{8664563E-1C9A-49B1-B5A5-C52B0EB5B792}" srcOrd="0" destOrd="0" parTransId="{3F7171F1-3987-4DC9-96A2-65008FBC6193}" sibTransId="{531EADF6-0A6E-4E1F-9FF5-446DE25F1D96}"/>
    <dgm:cxn modelId="{F486CF6A-FC8F-4C65-9B22-2B7FA27D91B1}" type="presOf" srcId="{B8C1C8A4-329C-41BA-847C-18932AAEF3DB}" destId="{EC86F36F-9279-4928-9D00-3BEBD1257FA9}" srcOrd="0" destOrd="0" presId="urn:microsoft.com/office/officeart/2005/8/layout/hierarchy1"/>
    <dgm:cxn modelId="{ADCD49BC-2215-4492-A68B-A3AAFFBE1DBD}" type="presOf" srcId="{8664563E-1C9A-49B1-B5A5-C52B0EB5B792}" destId="{B1DFD238-78EA-4FE0-8DA0-FADF18F3F262}" srcOrd="0" destOrd="0" presId="urn:microsoft.com/office/officeart/2005/8/layout/hierarchy1"/>
    <dgm:cxn modelId="{E7B776CE-FE9E-44BB-916A-8869C22E0FB8}" srcId="{B8C1C8A4-329C-41BA-847C-18932AAEF3DB}" destId="{7B9A33A4-B683-4B35-8466-96506F055E29}" srcOrd="1" destOrd="0" parTransId="{D237F62D-D9FB-4EC1-98B1-B6AD996EF136}" sibTransId="{D1AA3B82-2E96-4002-978F-8F3EE1EA3EC9}"/>
    <dgm:cxn modelId="{94DD3B79-9B0F-44C2-B4CA-39A0BECB013E}" type="presParOf" srcId="{EC86F36F-9279-4928-9D00-3BEBD1257FA9}" destId="{B7FC6035-C539-4700-A9C9-2DB597B93D9D}" srcOrd="0" destOrd="0" presId="urn:microsoft.com/office/officeart/2005/8/layout/hierarchy1"/>
    <dgm:cxn modelId="{0B8F551A-3E2F-4AAD-A266-42680CE245C4}" type="presParOf" srcId="{B7FC6035-C539-4700-A9C9-2DB597B93D9D}" destId="{00E54857-FF77-48EB-8898-ADAF6CDBCDD9}" srcOrd="0" destOrd="0" presId="urn:microsoft.com/office/officeart/2005/8/layout/hierarchy1"/>
    <dgm:cxn modelId="{952B9847-B0D4-44B2-9F19-5AB24981807E}" type="presParOf" srcId="{00E54857-FF77-48EB-8898-ADAF6CDBCDD9}" destId="{463668A9-4A7D-4F44-A08E-27ABB35D71B6}" srcOrd="0" destOrd="0" presId="urn:microsoft.com/office/officeart/2005/8/layout/hierarchy1"/>
    <dgm:cxn modelId="{A7C2BEFC-9CC5-4870-BF33-4DCAC56EF50F}" type="presParOf" srcId="{00E54857-FF77-48EB-8898-ADAF6CDBCDD9}" destId="{B1DFD238-78EA-4FE0-8DA0-FADF18F3F262}" srcOrd="1" destOrd="0" presId="urn:microsoft.com/office/officeart/2005/8/layout/hierarchy1"/>
    <dgm:cxn modelId="{CE63FC7B-A783-4E36-A0AF-0E5614FBB205}" type="presParOf" srcId="{B7FC6035-C539-4700-A9C9-2DB597B93D9D}" destId="{E2C0E535-3581-4131-89AD-0DD907DF0959}" srcOrd="1" destOrd="0" presId="urn:microsoft.com/office/officeart/2005/8/layout/hierarchy1"/>
    <dgm:cxn modelId="{3DF216FA-75E6-4E83-8A8F-CBEF0FB19FD5}" type="presParOf" srcId="{EC86F36F-9279-4928-9D00-3BEBD1257FA9}" destId="{4B8AEE00-B994-4C87-904B-009A09AC575C}" srcOrd="1" destOrd="0" presId="urn:microsoft.com/office/officeart/2005/8/layout/hierarchy1"/>
    <dgm:cxn modelId="{5F3D5C42-5DC6-49B5-8BA8-FB092E646627}" type="presParOf" srcId="{4B8AEE00-B994-4C87-904B-009A09AC575C}" destId="{22B32D71-5F11-445F-A600-5020B11C7CFA}" srcOrd="0" destOrd="0" presId="urn:microsoft.com/office/officeart/2005/8/layout/hierarchy1"/>
    <dgm:cxn modelId="{9D9841CB-8D22-4BBE-9303-CA76D1C0F118}" type="presParOf" srcId="{22B32D71-5F11-445F-A600-5020B11C7CFA}" destId="{AF537D22-3AC5-457F-9777-92D8C8A2FD2D}" srcOrd="0" destOrd="0" presId="urn:microsoft.com/office/officeart/2005/8/layout/hierarchy1"/>
    <dgm:cxn modelId="{9BC5CD09-A9A6-4A6B-BD49-712CF3AFEA80}" type="presParOf" srcId="{22B32D71-5F11-445F-A600-5020B11C7CFA}" destId="{1EACFFAA-FDCC-464A-81C8-5D2CBAE93C70}" srcOrd="1" destOrd="0" presId="urn:microsoft.com/office/officeart/2005/8/layout/hierarchy1"/>
    <dgm:cxn modelId="{9A392B29-AC42-49AE-91A0-1D7AE22C0006}" type="presParOf" srcId="{4B8AEE00-B994-4C87-904B-009A09AC575C}" destId="{1EC4A2B8-A35E-4967-AF6A-6D997467306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DE5AF5D-C8C1-474D-B30D-489F4171CF2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99D05C3-4B56-432C-87F5-5DE9C4920F6A}">
      <dgm:prSet/>
      <dgm:spPr/>
      <dgm:t>
        <a:bodyPr/>
        <a:lstStyle/>
        <a:p>
          <a:pPr>
            <a:lnSpc>
              <a:spcPct val="100000"/>
            </a:lnSpc>
          </a:pPr>
          <a:r>
            <a:rPr lang="en-US"/>
            <a:t>Language Modeling</a:t>
          </a:r>
        </a:p>
      </dgm:t>
    </dgm:pt>
    <dgm:pt modelId="{474FBD9E-6B6C-4A70-8289-6A7AE38189FF}" type="parTrans" cxnId="{B9BFB30A-AB74-470B-8175-F54B36F53487}">
      <dgm:prSet/>
      <dgm:spPr/>
      <dgm:t>
        <a:bodyPr/>
        <a:lstStyle/>
        <a:p>
          <a:endParaRPr lang="en-US"/>
        </a:p>
      </dgm:t>
    </dgm:pt>
    <dgm:pt modelId="{B5AD58F8-6606-4D27-90B0-86A57885D4F9}" type="sibTrans" cxnId="{B9BFB30A-AB74-470B-8175-F54B36F53487}">
      <dgm:prSet/>
      <dgm:spPr/>
      <dgm:t>
        <a:bodyPr/>
        <a:lstStyle/>
        <a:p>
          <a:pPr>
            <a:lnSpc>
              <a:spcPct val="100000"/>
            </a:lnSpc>
          </a:pPr>
          <a:endParaRPr lang="en-US"/>
        </a:p>
      </dgm:t>
    </dgm:pt>
    <dgm:pt modelId="{E4B4FD77-8F53-4D6C-8800-5EC7F7F118A8}">
      <dgm:prSet/>
      <dgm:spPr/>
      <dgm:t>
        <a:bodyPr/>
        <a:lstStyle/>
        <a:p>
          <a:pPr>
            <a:lnSpc>
              <a:spcPct val="100000"/>
            </a:lnSpc>
          </a:pPr>
          <a:r>
            <a:rPr lang="en-US"/>
            <a:t>Speech Recognition</a:t>
          </a:r>
        </a:p>
      </dgm:t>
    </dgm:pt>
    <dgm:pt modelId="{9ACFEA1E-16C3-412C-8225-658E8C17027D}" type="parTrans" cxnId="{BA56662D-C7B6-4EF3-947D-A65924E512F4}">
      <dgm:prSet/>
      <dgm:spPr/>
      <dgm:t>
        <a:bodyPr/>
        <a:lstStyle/>
        <a:p>
          <a:endParaRPr lang="en-US"/>
        </a:p>
      </dgm:t>
    </dgm:pt>
    <dgm:pt modelId="{1CB44651-2BD1-4C1B-A079-865ACBD0AF4A}" type="sibTrans" cxnId="{BA56662D-C7B6-4EF3-947D-A65924E512F4}">
      <dgm:prSet/>
      <dgm:spPr/>
      <dgm:t>
        <a:bodyPr/>
        <a:lstStyle/>
        <a:p>
          <a:pPr>
            <a:lnSpc>
              <a:spcPct val="100000"/>
            </a:lnSpc>
          </a:pPr>
          <a:endParaRPr lang="en-US"/>
        </a:p>
      </dgm:t>
    </dgm:pt>
    <dgm:pt modelId="{076A4D7B-C47A-4675-8A6D-26D3E597D867}">
      <dgm:prSet/>
      <dgm:spPr/>
      <dgm:t>
        <a:bodyPr/>
        <a:lstStyle/>
        <a:p>
          <a:pPr>
            <a:lnSpc>
              <a:spcPct val="100000"/>
            </a:lnSpc>
          </a:pPr>
          <a:r>
            <a:rPr lang="en-US"/>
            <a:t>Time Series Forecasting</a:t>
          </a:r>
        </a:p>
      </dgm:t>
    </dgm:pt>
    <dgm:pt modelId="{94B907EB-9CD1-4CFC-85F3-CFBB130B650A}" type="parTrans" cxnId="{843A696F-0E64-4417-8735-D5FB08960D89}">
      <dgm:prSet/>
      <dgm:spPr/>
      <dgm:t>
        <a:bodyPr/>
        <a:lstStyle/>
        <a:p>
          <a:endParaRPr lang="en-US"/>
        </a:p>
      </dgm:t>
    </dgm:pt>
    <dgm:pt modelId="{41B2AF9B-15EC-4DD7-8DF5-FB60472771E6}" type="sibTrans" cxnId="{843A696F-0E64-4417-8735-D5FB08960D89}">
      <dgm:prSet/>
      <dgm:spPr/>
      <dgm:t>
        <a:bodyPr/>
        <a:lstStyle/>
        <a:p>
          <a:pPr>
            <a:lnSpc>
              <a:spcPct val="100000"/>
            </a:lnSpc>
          </a:pPr>
          <a:endParaRPr lang="en-US"/>
        </a:p>
      </dgm:t>
    </dgm:pt>
    <dgm:pt modelId="{73A154C5-541F-43CC-B374-AC6496B0050F}">
      <dgm:prSet/>
      <dgm:spPr/>
      <dgm:t>
        <a:bodyPr/>
        <a:lstStyle/>
        <a:p>
          <a:pPr>
            <a:lnSpc>
              <a:spcPct val="100000"/>
            </a:lnSpc>
          </a:pPr>
          <a:r>
            <a:rPr lang="en-US"/>
            <a:t>Anomaly Detection</a:t>
          </a:r>
        </a:p>
      </dgm:t>
    </dgm:pt>
    <dgm:pt modelId="{FE42EFB7-C36D-45B0-9932-98625AA63DEE}" type="parTrans" cxnId="{72441B27-F409-4594-8438-5519F647E552}">
      <dgm:prSet/>
      <dgm:spPr/>
      <dgm:t>
        <a:bodyPr/>
        <a:lstStyle/>
        <a:p>
          <a:endParaRPr lang="en-US"/>
        </a:p>
      </dgm:t>
    </dgm:pt>
    <dgm:pt modelId="{17E22563-CA1C-436D-9A0B-3003D20F655A}" type="sibTrans" cxnId="{72441B27-F409-4594-8438-5519F647E552}">
      <dgm:prSet/>
      <dgm:spPr/>
      <dgm:t>
        <a:bodyPr/>
        <a:lstStyle/>
        <a:p>
          <a:pPr>
            <a:lnSpc>
              <a:spcPct val="100000"/>
            </a:lnSpc>
          </a:pPr>
          <a:endParaRPr lang="en-US"/>
        </a:p>
      </dgm:t>
    </dgm:pt>
    <dgm:pt modelId="{D1A1612C-0738-4099-B1D4-C5E84F80364F}">
      <dgm:prSet/>
      <dgm:spPr/>
      <dgm:t>
        <a:bodyPr/>
        <a:lstStyle/>
        <a:p>
          <a:pPr>
            <a:lnSpc>
              <a:spcPct val="100000"/>
            </a:lnSpc>
          </a:pPr>
          <a:r>
            <a:rPr lang="en-US"/>
            <a:t>Recommender Systems</a:t>
          </a:r>
        </a:p>
      </dgm:t>
    </dgm:pt>
    <dgm:pt modelId="{FC377253-D8AB-42DF-8187-DE7266534511}" type="parTrans" cxnId="{3F863C15-3C1F-4A14-9463-773FE0425F73}">
      <dgm:prSet/>
      <dgm:spPr/>
      <dgm:t>
        <a:bodyPr/>
        <a:lstStyle/>
        <a:p>
          <a:endParaRPr lang="en-US"/>
        </a:p>
      </dgm:t>
    </dgm:pt>
    <dgm:pt modelId="{97C8B17D-2B35-4E0C-A87F-5A64EF16ADD6}" type="sibTrans" cxnId="{3F863C15-3C1F-4A14-9463-773FE0425F73}">
      <dgm:prSet/>
      <dgm:spPr/>
      <dgm:t>
        <a:bodyPr/>
        <a:lstStyle/>
        <a:p>
          <a:pPr>
            <a:lnSpc>
              <a:spcPct val="100000"/>
            </a:lnSpc>
          </a:pPr>
          <a:endParaRPr lang="en-US"/>
        </a:p>
      </dgm:t>
    </dgm:pt>
    <dgm:pt modelId="{C158CB24-CA91-43EF-BCC5-5F0987208042}">
      <dgm:prSet/>
      <dgm:spPr/>
      <dgm:t>
        <a:bodyPr/>
        <a:lstStyle/>
        <a:p>
          <a:pPr>
            <a:lnSpc>
              <a:spcPct val="100000"/>
            </a:lnSpc>
          </a:pPr>
          <a:r>
            <a:rPr lang="en-US"/>
            <a:t>Video Analysis</a:t>
          </a:r>
        </a:p>
      </dgm:t>
    </dgm:pt>
    <dgm:pt modelId="{1BD7F263-005C-4E09-B928-692E7B97D67C}" type="parTrans" cxnId="{47EFEC6B-715F-4511-9AB0-D191E35AD813}">
      <dgm:prSet/>
      <dgm:spPr/>
      <dgm:t>
        <a:bodyPr/>
        <a:lstStyle/>
        <a:p>
          <a:endParaRPr lang="en-US"/>
        </a:p>
      </dgm:t>
    </dgm:pt>
    <dgm:pt modelId="{92B60FFE-0F6D-4DF4-BC43-BAB5BC0B984D}" type="sibTrans" cxnId="{47EFEC6B-715F-4511-9AB0-D191E35AD813}">
      <dgm:prSet/>
      <dgm:spPr/>
      <dgm:t>
        <a:bodyPr/>
        <a:lstStyle/>
        <a:p>
          <a:endParaRPr lang="en-US"/>
        </a:p>
      </dgm:t>
    </dgm:pt>
    <dgm:pt modelId="{9B68ABD8-4132-4C51-A190-5F3FAAC96A55}" type="pres">
      <dgm:prSet presAssocID="{6DE5AF5D-C8C1-474D-B30D-489F4171CF21}" presName="root" presStyleCnt="0">
        <dgm:presLayoutVars>
          <dgm:dir/>
          <dgm:resizeHandles val="exact"/>
        </dgm:presLayoutVars>
      </dgm:prSet>
      <dgm:spPr/>
    </dgm:pt>
    <dgm:pt modelId="{64A26392-0C4A-449A-83E6-9DF4B01C62E0}" type="pres">
      <dgm:prSet presAssocID="{6DE5AF5D-C8C1-474D-B30D-489F4171CF21}" presName="container" presStyleCnt="0">
        <dgm:presLayoutVars>
          <dgm:dir/>
          <dgm:resizeHandles val="exact"/>
        </dgm:presLayoutVars>
      </dgm:prSet>
      <dgm:spPr/>
    </dgm:pt>
    <dgm:pt modelId="{498FC0EA-803D-4E31-87ED-88075CBA359E}" type="pres">
      <dgm:prSet presAssocID="{599D05C3-4B56-432C-87F5-5DE9C4920F6A}" presName="compNode" presStyleCnt="0"/>
      <dgm:spPr/>
    </dgm:pt>
    <dgm:pt modelId="{315D031D-75D6-4A12-9DA6-29D9D0E86F19}" type="pres">
      <dgm:prSet presAssocID="{599D05C3-4B56-432C-87F5-5DE9C4920F6A}" presName="iconBgRect" presStyleLbl="bgShp" presStyleIdx="0" presStyleCnt="6"/>
      <dgm:spPr/>
    </dgm:pt>
    <dgm:pt modelId="{2A891EF4-5E71-4CCA-B804-151D2D80289B}" type="pres">
      <dgm:prSet presAssocID="{599D05C3-4B56-432C-87F5-5DE9C4920F6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EB2520BC-9E68-4099-BD41-434B007428C3}" type="pres">
      <dgm:prSet presAssocID="{599D05C3-4B56-432C-87F5-5DE9C4920F6A}" presName="spaceRect" presStyleCnt="0"/>
      <dgm:spPr/>
    </dgm:pt>
    <dgm:pt modelId="{C2105F0E-B510-4CC4-8DA2-4193C69C3CDA}" type="pres">
      <dgm:prSet presAssocID="{599D05C3-4B56-432C-87F5-5DE9C4920F6A}" presName="textRect" presStyleLbl="revTx" presStyleIdx="0" presStyleCnt="6">
        <dgm:presLayoutVars>
          <dgm:chMax val="1"/>
          <dgm:chPref val="1"/>
        </dgm:presLayoutVars>
      </dgm:prSet>
      <dgm:spPr/>
    </dgm:pt>
    <dgm:pt modelId="{45DF75BD-A249-4D4C-9AEF-20D9DDB20090}" type="pres">
      <dgm:prSet presAssocID="{B5AD58F8-6606-4D27-90B0-86A57885D4F9}" presName="sibTrans" presStyleLbl="sibTrans2D1" presStyleIdx="0" presStyleCnt="0"/>
      <dgm:spPr/>
    </dgm:pt>
    <dgm:pt modelId="{994E989E-50DC-401F-804D-A7DCD0E15AB1}" type="pres">
      <dgm:prSet presAssocID="{E4B4FD77-8F53-4D6C-8800-5EC7F7F118A8}" presName="compNode" presStyleCnt="0"/>
      <dgm:spPr/>
    </dgm:pt>
    <dgm:pt modelId="{483D9904-C527-4EF8-AB7D-DEFB2DD8EBB7}" type="pres">
      <dgm:prSet presAssocID="{E4B4FD77-8F53-4D6C-8800-5EC7F7F118A8}" presName="iconBgRect" presStyleLbl="bgShp" presStyleIdx="1" presStyleCnt="6"/>
      <dgm:spPr/>
    </dgm:pt>
    <dgm:pt modelId="{509BE010-5918-4751-ACBE-90257DE567DD}" type="pres">
      <dgm:prSet presAssocID="{E4B4FD77-8F53-4D6C-8800-5EC7F7F118A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dio microphone"/>
        </a:ext>
      </dgm:extLst>
    </dgm:pt>
    <dgm:pt modelId="{4B3F18DA-0785-4D47-BEA6-E9888B1E9FE9}" type="pres">
      <dgm:prSet presAssocID="{E4B4FD77-8F53-4D6C-8800-5EC7F7F118A8}" presName="spaceRect" presStyleCnt="0"/>
      <dgm:spPr/>
    </dgm:pt>
    <dgm:pt modelId="{96A1F045-96F6-4E4A-8167-613F4360B768}" type="pres">
      <dgm:prSet presAssocID="{E4B4FD77-8F53-4D6C-8800-5EC7F7F118A8}" presName="textRect" presStyleLbl="revTx" presStyleIdx="1" presStyleCnt="6">
        <dgm:presLayoutVars>
          <dgm:chMax val="1"/>
          <dgm:chPref val="1"/>
        </dgm:presLayoutVars>
      </dgm:prSet>
      <dgm:spPr/>
    </dgm:pt>
    <dgm:pt modelId="{B6013F0C-29AB-4225-AF6A-3AFA381C3484}" type="pres">
      <dgm:prSet presAssocID="{1CB44651-2BD1-4C1B-A079-865ACBD0AF4A}" presName="sibTrans" presStyleLbl="sibTrans2D1" presStyleIdx="0" presStyleCnt="0"/>
      <dgm:spPr/>
    </dgm:pt>
    <dgm:pt modelId="{4188768C-E41C-4F48-B9D6-5AB60C7593B2}" type="pres">
      <dgm:prSet presAssocID="{076A4D7B-C47A-4675-8A6D-26D3E597D867}" presName="compNode" presStyleCnt="0"/>
      <dgm:spPr/>
    </dgm:pt>
    <dgm:pt modelId="{DD251DEB-1643-4A1F-8D53-8EECFCA00E85}" type="pres">
      <dgm:prSet presAssocID="{076A4D7B-C47A-4675-8A6D-26D3E597D867}" presName="iconBgRect" presStyleLbl="bgShp" presStyleIdx="2" presStyleCnt="6"/>
      <dgm:spPr/>
    </dgm:pt>
    <dgm:pt modelId="{51C57920-A5AC-4166-89FC-B7001C2541AE}" type="pres">
      <dgm:prSet presAssocID="{076A4D7B-C47A-4675-8A6D-26D3E597D867}"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3D3DAED7-1ECF-404E-9880-03D7AB45F31C}" type="pres">
      <dgm:prSet presAssocID="{076A4D7B-C47A-4675-8A6D-26D3E597D867}" presName="spaceRect" presStyleCnt="0"/>
      <dgm:spPr/>
    </dgm:pt>
    <dgm:pt modelId="{18216E40-3572-4E4B-9494-40CA77FE7979}" type="pres">
      <dgm:prSet presAssocID="{076A4D7B-C47A-4675-8A6D-26D3E597D867}" presName="textRect" presStyleLbl="revTx" presStyleIdx="2" presStyleCnt="6">
        <dgm:presLayoutVars>
          <dgm:chMax val="1"/>
          <dgm:chPref val="1"/>
        </dgm:presLayoutVars>
      </dgm:prSet>
      <dgm:spPr/>
    </dgm:pt>
    <dgm:pt modelId="{AB38DD6F-A166-4347-8A4A-6C91E1511E57}" type="pres">
      <dgm:prSet presAssocID="{41B2AF9B-15EC-4DD7-8DF5-FB60472771E6}" presName="sibTrans" presStyleLbl="sibTrans2D1" presStyleIdx="0" presStyleCnt="0"/>
      <dgm:spPr/>
    </dgm:pt>
    <dgm:pt modelId="{37ACB65C-C0BA-42A7-8042-F26E7C397F56}" type="pres">
      <dgm:prSet presAssocID="{73A154C5-541F-43CC-B374-AC6496B0050F}" presName="compNode" presStyleCnt="0"/>
      <dgm:spPr/>
    </dgm:pt>
    <dgm:pt modelId="{2A99B07F-565D-40AE-8BDB-50A0FBF584DB}" type="pres">
      <dgm:prSet presAssocID="{73A154C5-541F-43CC-B374-AC6496B0050F}" presName="iconBgRect" presStyleLbl="bgShp" presStyleIdx="3" presStyleCnt="6"/>
      <dgm:spPr/>
    </dgm:pt>
    <dgm:pt modelId="{A689A197-1FF5-4D92-9237-CBE91E12A4B6}" type="pres">
      <dgm:prSet presAssocID="{73A154C5-541F-43CC-B374-AC6496B0050F}"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gnifying glass"/>
        </a:ext>
      </dgm:extLst>
    </dgm:pt>
    <dgm:pt modelId="{C51A17BA-1FC6-499C-B682-E9E70C2900B7}" type="pres">
      <dgm:prSet presAssocID="{73A154C5-541F-43CC-B374-AC6496B0050F}" presName="spaceRect" presStyleCnt="0"/>
      <dgm:spPr/>
    </dgm:pt>
    <dgm:pt modelId="{34691DA1-A265-49A0-97A4-CAD65312D9CE}" type="pres">
      <dgm:prSet presAssocID="{73A154C5-541F-43CC-B374-AC6496B0050F}" presName="textRect" presStyleLbl="revTx" presStyleIdx="3" presStyleCnt="6">
        <dgm:presLayoutVars>
          <dgm:chMax val="1"/>
          <dgm:chPref val="1"/>
        </dgm:presLayoutVars>
      </dgm:prSet>
      <dgm:spPr/>
    </dgm:pt>
    <dgm:pt modelId="{D07B9386-D029-4071-B9DB-7F189384C012}" type="pres">
      <dgm:prSet presAssocID="{17E22563-CA1C-436D-9A0B-3003D20F655A}" presName="sibTrans" presStyleLbl="sibTrans2D1" presStyleIdx="0" presStyleCnt="0"/>
      <dgm:spPr/>
    </dgm:pt>
    <dgm:pt modelId="{10F3A94E-3BE1-49B7-B06D-53A8D29F10EC}" type="pres">
      <dgm:prSet presAssocID="{D1A1612C-0738-4099-B1D4-C5E84F80364F}" presName="compNode" presStyleCnt="0"/>
      <dgm:spPr/>
    </dgm:pt>
    <dgm:pt modelId="{4B25297F-1CFD-46AA-A7D5-640BDE9CB7C8}" type="pres">
      <dgm:prSet presAssocID="{D1A1612C-0738-4099-B1D4-C5E84F80364F}" presName="iconBgRect" presStyleLbl="bgShp" presStyleIdx="4" presStyleCnt="6"/>
      <dgm:spPr/>
    </dgm:pt>
    <dgm:pt modelId="{DD6CD35A-F367-441A-B9F6-4423B40A0E19}" type="pres">
      <dgm:prSet presAssocID="{D1A1612C-0738-4099-B1D4-C5E84F80364F}"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mputer"/>
        </a:ext>
      </dgm:extLst>
    </dgm:pt>
    <dgm:pt modelId="{5DCA1AC1-7123-4B4A-AABE-11844ADF0D86}" type="pres">
      <dgm:prSet presAssocID="{D1A1612C-0738-4099-B1D4-C5E84F80364F}" presName="spaceRect" presStyleCnt="0"/>
      <dgm:spPr/>
    </dgm:pt>
    <dgm:pt modelId="{A62E31D8-C1E9-414F-AB25-8F72856D4449}" type="pres">
      <dgm:prSet presAssocID="{D1A1612C-0738-4099-B1D4-C5E84F80364F}" presName="textRect" presStyleLbl="revTx" presStyleIdx="4" presStyleCnt="6">
        <dgm:presLayoutVars>
          <dgm:chMax val="1"/>
          <dgm:chPref val="1"/>
        </dgm:presLayoutVars>
      </dgm:prSet>
      <dgm:spPr/>
    </dgm:pt>
    <dgm:pt modelId="{5FD5F28D-D2CD-4FE5-8ABD-43BA235F63C8}" type="pres">
      <dgm:prSet presAssocID="{97C8B17D-2B35-4E0C-A87F-5A64EF16ADD6}" presName="sibTrans" presStyleLbl="sibTrans2D1" presStyleIdx="0" presStyleCnt="0"/>
      <dgm:spPr/>
    </dgm:pt>
    <dgm:pt modelId="{E974933A-3FE8-4435-A096-AE781FB0CEF8}" type="pres">
      <dgm:prSet presAssocID="{C158CB24-CA91-43EF-BCC5-5F0987208042}" presName="compNode" presStyleCnt="0"/>
      <dgm:spPr/>
    </dgm:pt>
    <dgm:pt modelId="{F14408F2-692A-41B8-A61D-86698957A521}" type="pres">
      <dgm:prSet presAssocID="{C158CB24-CA91-43EF-BCC5-5F0987208042}" presName="iconBgRect" presStyleLbl="bgShp" presStyleIdx="5" presStyleCnt="6"/>
      <dgm:spPr/>
    </dgm:pt>
    <dgm:pt modelId="{DBEFA704-8650-48EE-8BF9-C0BEAA6C0EE6}" type="pres">
      <dgm:prSet presAssocID="{C158CB24-CA91-43EF-BCC5-5F098720804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Video camera"/>
        </a:ext>
      </dgm:extLst>
    </dgm:pt>
    <dgm:pt modelId="{EC899795-C7BF-4EA6-802D-9DC8845E194C}" type="pres">
      <dgm:prSet presAssocID="{C158CB24-CA91-43EF-BCC5-5F0987208042}" presName="spaceRect" presStyleCnt="0"/>
      <dgm:spPr/>
    </dgm:pt>
    <dgm:pt modelId="{E59E899D-8CE9-47E2-9C29-EB85927AA9AD}" type="pres">
      <dgm:prSet presAssocID="{C158CB24-CA91-43EF-BCC5-5F0987208042}" presName="textRect" presStyleLbl="revTx" presStyleIdx="5" presStyleCnt="6">
        <dgm:presLayoutVars>
          <dgm:chMax val="1"/>
          <dgm:chPref val="1"/>
        </dgm:presLayoutVars>
      </dgm:prSet>
      <dgm:spPr/>
    </dgm:pt>
  </dgm:ptLst>
  <dgm:cxnLst>
    <dgm:cxn modelId="{B9BFB30A-AB74-470B-8175-F54B36F53487}" srcId="{6DE5AF5D-C8C1-474D-B30D-489F4171CF21}" destId="{599D05C3-4B56-432C-87F5-5DE9C4920F6A}" srcOrd="0" destOrd="0" parTransId="{474FBD9E-6B6C-4A70-8289-6A7AE38189FF}" sibTransId="{B5AD58F8-6606-4D27-90B0-86A57885D4F9}"/>
    <dgm:cxn modelId="{3F863C15-3C1F-4A14-9463-773FE0425F73}" srcId="{6DE5AF5D-C8C1-474D-B30D-489F4171CF21}" destId="{D1A1612C-0738-4099-B1D4-C5E84F80364F}" srcOrd="4" destOrd="0" parTransId="{FC377253-D8AB-42DF-8187-DE7266534511}" sibTransId="{97C8B17D-2B35-4E0C-A87F-5A64EF16ADD6}"/>
    <dgm:cxn modelId="{72441B27-F409-4594-8438-5519F647E552}" srcId="{6DE5AF5D-C8C1-474D-B30D-489F4171CF21}" destId="{73A154C5-541F-43CC-B374-AC6496B0050F}" srcOrd="3" destOrd="0" parTransId="{FE42EFB7-C36D-45B0-9932-98625AA63DEE}" sibTransId="{17E22563-CA1C-436D-9A0B-3003D20F655A}"/>
    <dgm:cxn modelId="{265D222B-BE94-4519-8003-F386757CF539}" type="presOf" srcId="{B5AD58F8-6606-4D27-90B0-86A57885D4F9}" destId="{45DF75BD-A249-4D4C-9AEF-20D9DDB20090}" srcOrd="0" destOrd="0" presId="urn:microsoft.com/office/officeart/2018/2/layout/IconCircleList"/>
    <dgm:cxn modelId="{B0D0152D-122F-4ED7-8988-B468D8D3E257}" type="presOf" srcId="{E4B4FD77-8F53-4D6C-8800-5EC7F7F118A8}" destId="{96A1F045-96F6-4E4A-8167-613F4360B768}" srcOrd="0" destOrd="0" presId="urn:microsoft.com/office/officeart/2018/2/layout/IconCircleList"/>
    <dgm:cxn modelId="{BA56662D-C7B6-4EF3-947D-A65924E512F4}" srcId="{6DE5AF5D-C8C1-474D-B30D-489F4171CF21}" destId="{E4B4FD77-8F53-4D6C-8800-5EC7F7F118A8}" srcOrd="1" destOrd="0" parTransId="{9ACFEA1E-16C3-412C-8225-658E8C17027D}" sibTransId="{1CB44651-2BD1-4C1B-A079-865ACBD0AF4A}"/>
    <dgm:cxn modelId="{B86D5831-C353-4822-B8DC-C04B1CAD3DF1}" type="presOf" srcId="{1CB44651-2BD1-4C1B-A079-865ACBD0AF4A}" destId="{B6013F0C-29AB-4225-AF6A-3AFA381C3484}" srcOrd="0" destOrd="0" presId="urn:microsoft.com/office/officeart/2018/2/layout/IconCircleList"/>
    <dgm:cxn modelId="{24344F3C-532B-44E5-84EF-8896E38B0E94}" type="presOf" srcId="{C158CB24-CA91-43EF-BCC5-5F0987208042}" destId="{E59E899D-8CE9-47E2-9C29-EB85927AA9AD}" srcOrd="0" destOrd="0" presId="urn:microsoft.com/office/officeart/2018/2/layout/IconCircleList"/>
    <dgm:cxn modelId="{C5EAE64A-7BAB-4088-8B6B-9420AF16D209}" type="presOf" srcId="{076A4D7B-C47A-4675-8A6D-26D3E597D867}" destId="{18216E40-3572-4E4B-9494-40CA77FE7979}" srcOrd="0" destOrd="0" presId="urn:microsoft.com/office/officeart/2018/2/layout/IconCircleList"/>
    <dgm:cxn modelId="{062AFB6A-9FD4-48A0-B01A-58C2C1DBDF7B}" type="presOf" srcId="{41B2AF9B-15EC-4DD7-8DF5-FB60472771E6}" destId="{AB38DD6F-A166-4347-8A4A-6C91E1511E57}" srcOrd="0" destOrd="0" presId="urn:microsoft.com/office/officeart/2018/2/layout/IconCircleList"/>
    <dgm:cxn modelId="{47EFEC6B-715F-4511-9AB0-D191E35AD813}" srcId="{6DE5AF5D-C8C1-474D-B30D-489F4171CF21}" destId="{C158CB24-CA91-43EF-BCC5-5F0987208042}" srcOrd="5" destOrd="0" parTransId="{1BD7F263-005C-4E09-B928-692E7B97D67C}" sibTransId="{92B60FFE-0F6D-4DF4-BC43-BAB5BC0B984D}"/>
    <dgm:cxn modelId="{7E7E0F6D-D623-4EFA-A293-BEDA27B097F0}" type="presOf" srcId="{599D05C3-4B56-432C-87F5-5DE9C4920F6A}" destId="{C2105F0E-B510-4CC4-8DA2-4193C69C3CDA}" srcOrd="0" destOrd="0" presId="urn:microsoft.com/office/officeart/2018/2/layout/IconCircleList"/>
    <dgm:cxn modelId="{843A696F-0E64-4417-8735-D5FB08960D89}" srcId="{6DE5AF5D-C8C1-474D-B30D-489F4171CF21}" destId="{076A4D7B-C47A-4675-8A6D-26D3E597D867}" srcOrd="2" destOrd="0" parTransId="{94B907EB-9CD1-4CFC-85F3-CFBB130B650A}" sibTransId="{41B2AF9B-15EC-4DD7-8DF5-FB60472771E6}"/>
    <dgm:cxn modelId="{0C437674-4B4C-47D3-9EC1-F5E7EEF11B3E}" type="presOf" srcId="{17E22563-CA1C-436D-9A0B-3003D20F655A}" destId="{D07B9386-D029-4071-B9DB-7F189384C012}" srcOrd="0" destOrd="0" presId="urn:microsoft.com/office/officeart/2018/2/layout/IconCircleList"/>
    <dgm:cxn modelId="{72A3597B-ED4C-4494-BDAD-956663E0C0C0}" type="presOf" srcId="{D1A1612C-0738-4099-B1D4-C5E84F80364F}" destId="{A62E31D8-C1E9-414F-AB25-8F72856D4449}" srcOrd="0" destOrd="0" presId="urn:microsoft.com/office/officeart/2018/2/layout/IconCircleList"/>
    <dgm:cxn modelId="{90EF068E-F62D-4984-9287-14C4673AB4A2}" type="presOf" srcId="{6DE5AF5D-C8C1-474D-B30D-489F4171CF21}" destId="{9B68ABD8-4132-4C51-A190-5F3FAAC96A55}" srcOrd="0" destOrd="0" presId="urn:microsoft.com/office/officeart/2018/2/layout/IconCircleList"/>
    <dgm:cxn modelId="{924DB4ED-4CDD-4DD3-8601-FA832310CB85}" type="presOf" srcId="{73A154C5-541F-43CC-B374-AC6496B0050F}" destId="{34691DA1-A265-49A0-97A4-CAD65312D9CE}" srcOrd="0" destOrd="0" presId="urn:microsoft.com/office/officeart/2018/2/layout/IconCircleList"/>
    <dgm:cxn modelId="{90F7FBF2-A098-4747-AB4C-6E323AEED750}" type="presOf" srcId="{97C8B17D-2B35-4E0C-A87F-5A64EF16ADD6}" destId="{5FD5F28D-D2CD-4FE5-8ABD-43BA235F63C8}" srcOrd="0" destOrd="0" presId="urn:microsoft.com/office/officeart/2018/2/layout/IconCircleList"/>
    <dgm:cxn modelId="{2B9F58EC-C478-4EFD-867C-324F2F992476}" type="presParOf" srcId="{9B68ABD8-4132-4C51-A190-5F3FAAC96A55}" destId="{64A26392-0C4A-449A-83E6-9DF4B01C62E0}" srcOrd="0" destOrd="0" presId="urn:microsoft.com/office/officeart/2018/2/layout/IconCircleList"/>
    <dgm:cxn modelId="{F61D6C95-AC13-479B-9FCE-E81E43621335}" type="presParOf" srcId="{64A26392-0C4A-449A-83E6-9DF4B01C62E0}" destId="{498FC0EA-803D-4E31-87ED-88075CBA359E}" srcOrd="0" destOrd="0" presId="urn:microsoft.com/office/officeart/2018/2/layout/IconCircleList"/>
    <dgm:cxn modelId="{BA5D033A-C033-466E-9B15-5D534BC2CA9C}" type="presParOf" srcId="{498FC0EA-803D-4E31-87ED-88075CBA359E}" destId="{315D031D-75D6-4A12-9DA6-29D9D0E86F19}" srcOrd="0" destOrd="0" presId="urn:microsoft.com/office/officeart/2018/2/layout/IconCircleList"/>
    <dgm:cxn modelId="{91F2F71F-2C46-4955-B201-3C2FA119A8F2}" type="presParOf" srcId="{498FC0EA-803D-4E31-87ED-88075CBA359E}" destId="{2A891EF4-5E71-4CCA-B804-151D2D80289B}" srcOrd="1" destOrd="0" presId="urn:microsoft.com/office/officeart/2018/2/layout/IconCircleList"/>
    <dgm:cxn modelId="{334E421A-77D1-4534-82F2-FA8674754DF9}" type="presParOf" srcId="{498FC0EA-803D-4E31-87ED-88075CBA359E}" destId="{EB2520BC-9E68-4099-BD41-434B007428C3}" srcOrd="2" destOrd="0" presId="urn:microsoft.com/office/officeart/2018/2/layout/IconCircleList"/>
    <dgm:cxn modelId="{B102A4A8-4B1A-4220-A025-58F10BF63407}" type="presParOf" srcId="{498FC0EA-803D-4E31-87ED-88075CBA359E}" destId="{C2105F0E-B510-4CC4-8DA2-4193C69C3CDA}" srcOrd="3" destOrd="0" presId="urn:microsoft.com/office/officeart/2018/2/layout/IconCircleList"/>
    <dgm:cxn modelId="{48D2B5C6-714D-4FD3-9F9A-38D0CCB52998}" type="presParOf" srcId="{64A26392-0C4A-449A-83E6-9DF4B01C62E0}" destId="{45DF75BD-A249-4D4C-9AEF-20D9DDB20090}" srcOrd="1" destOrd="0" presId="urn:microsoft.com/office/officeart/2018/2/layout/IconCircleList"/>
    <dgm:cxn modelId="{7326FDC8-3C96-468B-95D7-1148F22A9793}" type="presParOf" srcId="{64A26392-0C4A-449A-83E6-9DF4B01C62E0}" destId="{994E989E-50DC-401F-804D-A7DCD0E15AB1}" srcOrd="2" destOrd="0" presId="urn:microsoft.com/office/officeart/2018/2/layout/IconCircleList"/>
    <dgm:cxn modelId="{7CA7AAD3-A7F2-48B6-A60F-781CC635C1B9}" type="presParOf" srcId="{994E989E-50DC-401F-804D-A7DCD0E15AB1}" destId="{483D9904-C527-4EF8-AB7D-DEFB2DD8EBB7}" srcOrd="0" destOrd="0" presId="urn:microsoft.com/office/officeart/2018/2/layout/IconCircleList"/>
    <dgm:cxn modelId="{32972FC6-9898-4332-B700-C7BF45436CE8}" type="presParOf" srcId="{994E989E-50DC-401F-804D-A7DCD0E15AB1}" destId="{509BE010-5918-4751-ACBE-90257DE567DD}" srcOrd="1" destOrd="0" presId="urn:microsoft.com/office/officeart/2018/2/layout/IconCircleList"/>
    <dgm:cxn modelId="{619C2577-9D2F-4E6D-BB9E-514CCED06776}" type="presParOf" srcId="{994E989E-50DC-401F-804D-A7DCD0E15AB1}" destId="{4B3F18DA-0785-4D47-BEA6-E9888B1E9FE9}" srcOrd="2" destOrd="0" presId="urn:microsoft.com/office/officeart/2018/2/layout/IconCircleList"/>
    <dgm:cxn modelId="{F37719BE-D0A3-4B12-B82D-2D4C6B24CB80}" type="presParOf" srcId="{994E989E-50DC-401F-804D-A7DCD0E15AB1}" destId="{96A1F045-96F6-4E4A-8167-613F4360B768}" srcOrd="3" destOrd="0" presId="urn:microsoft.com/office/officeart/2018/2/layout/IconCircleList"/>
    <dgm:cxn modelId="{71777429-3CCE-47E0-91AA-9390E2F7E9DF}" type="presParOf" srcId="{64A26392-0C4A-449A-83E6-9DF4B01C62E0}" destId="{B6013F0C-29AB-4225-AF6A-3AFA381C3484}" srcOrd="3" destOrd="0" presId="urn:microsoft.com/office/officeart/2018/2/layout/IconCircleList"/>
    <dgm:cxn modelId="{B39698C7-CE52-4DE4-88C0-B7397D0D34F3}" type="presParOf" srcId="{64A26392-0C4A-449A-83E6-9DF4B01C62E0}" destId="{4188768C-E41C-4F48-B9D6-5AB60C7593B2}" srcOrd="4" destOrd="0" presId="urn:microsoft.com/office/officeart/2018/2/layout/IconCircleList"/>
    <dgm:cxn modelId="{8E159AB2-3093-487E-8296-DB79F9B48253}" type="presParOf" srcId="{4188768C-E41C-4F48-B9D6-5AB60C7593B2}" destId="{DD251DEB-1643-4A1F-8D53-8EECFCA00E85}" srcOrd="0" destOrd="0" presId="urn:microsoft.com/office/officeart/2018/2/layout/IconCircleList"/>
    <dgm:cxn modelId="{ABD2E4DA-4430-4D97-B16A-F7CFFB773A65}" type="presParOf" srcId="{4188768C-E41C-4F48-B9D6-5AB60C7593B2}" destId="{51C57920-A5AC-4166-89FC-B7001C2541AE}" srcOrd="1" destOrd="0" presId="urn:microsoft.com/office/officeart/2018/2/layout/IconCircleList"/>
    <dgm:cxn modelId="{230301F9-1690-46C3-BAF1-1DFAF9645556}" type="presParOf" srcId="{4188768C-E41C-4F48-B9D6-5AB60C7593B2}" destId="{3D3DAED7-1ECF-404E-9880-03D7AB45F31C}" srcOrd="2" destOrd="0" presId="urn:microsoft.com/office/officeart/2018/2/layout/IconCircleList"/>
    <dgm:cxn modelId="{B26925B0-8EC8-49B8-A684-9DDB558D2244}" type="presParOf" srcId="{4188768C-E41C-4F48-B9D6-5AB60C7593B2}" destId="{18216E40-3572-4E4B-9494-40CA77FE7979}" srcOrd="3" destOrd="0" presId="urn:microsoft.com/office/officeart/2018/2/layout/IconCircleList"/>
    <dgm:cxn modelId="{30817B4E-01E3-4604-997F-18B93B335D01}" type="presParOf" srcId="{64A26392-0C4A-449A-83E6-9DF4B01C62E0}" destId="{AB38DD6F-A166-4347-8A4A-6C91E1511E57}" srcOrd="5" destOrd="0" presId="urn:microsoft.com/office/officeart/2018/2/layout/IconCircleList"/>
    <dgm:cxn modelId="{38C5BB53-28EE-4971-8E1E-09D7A7674C1F}" type="presParOf" srcId="{64A26392-0C4A-449A-83E6-9DF4B01C62E0}" destId="{37ACB65C-C0BA-42A7-8042-F26E7C397F56}" srcOrd="6" destOrd="0" presId="urn:microsoft.com/office/officeart/2018/2/layout/IconCircleList"/>
    <dgm:cxn modelId="{CE496916-D704-46C7-A836-FFFCABF3B872}" type="presParOf" srcId="{37ACB65C-C0BA-42A7-8042-F26E7C397F56}" destId="{2A99B07F-565D-40AE-8BDB-50A0FBF584DB}" srcOrd="0" destOrd="0" presId="urn:microsoft.com/office/officeart/2018/2/layout/IconCircleList"/>
    <dgm:cxn modelId="{96922E35-9AC9-41DB-B3A9-7219B75CDED2}" type="presParOf" srcId="{37ACB65C-C0BA-42A7-8042-F26E7C397F56}" destId="{A689A197-1FF5-4D92-9237-CBE91E12A4B6}" srcOrd="1" destOrd="0" presId="urn:microsoft.com/office/officeart/2018/2/layout/IconCircleList"/>
    <dgm:cxn modelId="{14C5FA89-051D-4589-B72E-B63623B0899D}" type="presParOf" srcId="{37ACB65C-C0BA-42A7-8042-F26E7C397F56}" destId="{C51A17BA-1FC6-499C-B682-E9E70C2900B7}" srcOrd="2" destOrd="0" presId="urn:microsoft.com/office/officeart/2018/2/layout/IconCircleList"/>
    <dgm:cxn modelId="{216CB53A-BB26-4A37-BA47-872FF04840FE}" type="presParOf" srcId="{37ACB65C-C0BA-42A7-8042-F26E7C397F56}" destId="{34691DA1-A265-49A0-97A4-CAD65312D9CE}" srcOrd="3" destOrd="0" presId="urn:microsoft.com/office/officeart/2018/2/layout/IconCircleList"/>
    <dgm:cxn modelId="{84322D97-D33E-4318-B023-86E40985D81D}" type="presParOf" srcId="{64A26392-0C4A-449A-83E6-9DF4B01C62E0}" destId="{D07B9386-D029-4071-B9DB-7F189384C012}" srcOrd="7" destOrd="0" presId="urn:microsoft.com/office/officeart/2018/2/layout/IconCircleList"/>
    <dgm:cxn modelId="{125CAFC8-554D-4BAD-90C2-D48B95339255}" type="presParOf" srcId="{64A26392-0C4A-449A-83E6-9DF4B01C62E0}" destId="{10F3A94E-3BE1-49B7-B06D-53A8D29F10EC}" srcOrd="8" destOrd="0" presId="urn:microsoft.com/office/officeart/2018/2/layout/IconCircleList"/>
    <dgm:cxn modelId="{825DC0A4-3AA2-497B-84C9-8C9DBAF73CD9}" type="presParOf" srcId="{10F3A94E-3BE1-49B7-B06D-53A8D29F10EC}" destId="{4B25297F-1CFD-46AA-A7D5-640BDE9CB7C8}" srcOrd="0" destOrd="0" presId="urn:microsoft.com/office/officeart/2018/2/layout/IconCircleList"/>
    <dgm:cxn modelId="{DF478BAE-D8C2-4ABF-BB26-7E80E79B5AAF}" type="presParOf" srcId="{10F3A94E-3BE1-49B7-B06D-53A8D29F10EC}" destId="{DD6CD35A-F367-441A-B9F6-4423B40A0E19}" srcOrd="1" destOrd="0" presId="urn:microsoft.com/office/officeart/2018/2/layout/IconCircleList"/>
    <dgm:cxn modelId="{92DA1EEC-839D-4292-A4AD-B3561B4F9A41}" type="presParOf" srcId="{10F3A94E-3BE1-49B7-B06D-53A8D29F10EC}" destId="{5DCA1AC1-7123-4B4A-AABE-11844ADF0D86}" srcOrd="2" destOrd="0" presId="urn:microsoft.com/office/officeart/2018/2/layout/IconCircleList"/>
    <dgm:cxn modelId="{26E208E2-7A02-4DF5-846F-DE6FE8766630}" type="presParOf" srcId="{10F3A94E-3BE1-49B7-B06D-53A8D29F10EC}" destId="{A62E31D8-C1E9-414F-AB25-8F72856D4449}" srcOrd="3" destOrd="0" presId="urn:microsoft.com/office/officeart/2018/2/layout/IconCircleList"/>
    <dgm:cxn modelId="{8AF10909-AC55-4EF1-B7E6-0CCCBD2C8E23}" type="presParOf" srcId="{64A26392-0C4A-449A-83E6-9DF4B01C62E0}" destId="{5FD5F28D-D2CD-4FE5-8ABD-43BA235F63C8}" srcOrd="9" destOrd="0" presId="urn:microsoft.com/office/officeart/2018/2/layout/IconCircleList"/>
    <dgm:cxn modelId="{F4E2581E-27AD-448A-9109-A28A8917C824}" type="presParOf" srcId="{64A26392-0C4A-449A-83E6-9DF4B01C62E0}" destId="{E974933A-3FE8-4435-A096-AE781FB0CEF8}" srcOrd="10" destOrd="0" presId="urn:microsoft.com/office/officeart/2018/2/layout/IconCircleList"/>
    <dgm:cxn modelId="{EB31E2D0-5459-40B6-8145-DA342ADA87C8}" type="presParOf" srcId="{E974933A-3FE8-4435-A096-AE781FB0CEF8}" destId="{F14408F2-692A-41B8-A61D-86698957A521}" srcOrd="0" destOrd="0" presId="urn:microsoft.com/office/officeart/2018/2/layout/IconCircleList"/>
    <dgm:cxn modelId="{A9D9DD6E-BC79-4FAD-AA9C-EA1440498539}" type="presParOf" srcId="{E974933A-3FE8-4435-A096-AE781FB0CEF8}" destId="{DBEFA704-8650-48EE-8BF9-C0BEAA6C0EE6}" srcOrd="1" destOrd="0" presId="urn:microsoft.com/office/officeart/2018/2/layout/IconCircleList"/>
    <dgm:cxn modelId="{35AC2125-9C9D-4D3B-BA24-C4E27F49FFB2}" type="presParOf" srcId="{E974933A-3FE8-4435-A096-AE781FB0CEF8}" destId="{EC899795-C7BF-4EA6-802D-9DC8845E194C}" srcOrd="2" destOrd="0" presId="urn:microsoft.com/office/officeart/2018/2/layout/IconCircleList"/>
    <dgm:cxn modelId="{CA89B3EC-5D8D-4F62-B30D-7E2F209C9919}" type="presParOf" srcId="{E974933A-3FE8-4435-A096-AE781FB0CEF8}" destId="{E59E899D-8CE9-47E2-9C29-EB85927AA9A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EEB627-1EB9-4D0A-B713-BEA6442FFB9A}">
      <dsp:nvSpPr>
        <dsp:cNvPr id="0" name=""/>
        <dsp:cNvSpPr/>
      </dsp:nvSpPr>
      <dsp:spPr>
        <a:xfrm>
          <a:off x="0" y="817244"/>
          <a:ext cx="8419338" cy="15087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731FB1-1AF0-4F68-8159-FC5A85107637}">
      <dsp:nvSpPr>
        <dsp:cNvPr id="0" name=""/>
        <dsp:cNvSpPr/>
      </dsp:nvSpPr>
      <dsp:spPr>
        <a:xfrm>
          <a:off x="456399" y="1156715"/>
          <a:ext cx="829818" cy="8298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1A81EC-38CD-475B-A3A5-FEBABFEBB30E}">
      <dsp:nvSpPr>
        <dsp:cNvPr id="0" name=""/>
        <dsp:cNvSpPr/>
      </dsp:nvSpPr>
      <dsp:spPr>
        <a:xfrm>
          <a:off x="1742617" y="817244"/>
          <a:ext cx="6676720" cy="150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77" tIns="159677" rIns="159677" bIns="159677" numCol="1" spcCol="1270" anchor="ctr" anchorCtr="0">
          <a:noAutofit/>
        </a:bodyPr>
        <a:lstStyle/>
        <a:p>
          <a:pPr marL="0" lvl="0" indent="0" algn="l" defTabSz="755650">
            <a:lnSpc>
              <a:spcPct val="90000"/>
            </a:lnSpc>
            <a:spcBef>
              <a:spcPct val="0"/>
            </a:spcBef>
            <a:spcAft>
              <a:spcPct val="35000"/>
            </a:spcAft>
            <a:buNone/>
          </a:pPr>
          <a:r>
            <a:rPr lang="en-US" sz="1700" kern="1200" dirty="0"/>
            <a:t>Long Short-Term Memory (LSTM) is an enhanced version of the Recurrent Neural Network (RNN) designed by </a:t>
          </a:r>
          <a:r>
            <a:rPr lang="en-US" sz="1700" kern="1200" dirty="0" err="1"/>
            <a:t>Hochreiter</a:t>
          </a:r>
          <a:r>
            <a:rPr lang="en-US" sz="1700" kern="1200" dirty="0"/>
            <a:t> and </a:t>
          </a:r>
          <a:r>
            <a:rPr lang="en-US" sz="1700" kern="1200" dirty="0" err="1"/>
            <a:t>Schmidhuber</a:t>
          </a:r>
          <a:r>
            <a:rPr lang="en-US" sz="1700" kern="1200" dirty="0"/>
            <a:t>. LSTMs can capture long-term dependencies in sequential data making them ideal for tasks like language translation, speech recognition and time series forecasting.</a:t>
          </a:r>
        </a:p>
      </dsp:txBody>
      <dsp:txXfrm>
        <a:off x="1742617" y="817244"/>
        <a:ext cx="6676720" cy="1508760"/>
      </dsp:txXfrm>
    </dsp:sp>
    <dsp:sp modelId="{A5F1E3AB-204F-4F5C-96D2-E8BE99029CF6}">
      <dsp:nvSpPr>
        <dsp:cNvPr id="0" name=""/>
        <dsp:cNvSpPr/>
      </dsp:nvSpPr>
      <dsp:spPr>
        <a:xfrm>
          <a:off x="0" y="2703194"/>
          <a:ext cx="8419338" cy="15087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734361-FB7F-4E9F-93F3-E4192984511D}">
      <dsp:nvSpPr>
        <dsp:cNvPr id="0" name=""/>
        <dsp:cNvSpPr/>
      </dsp:nvSpPr>
      <dsp:spPr>
        <a:xfrm>
          <a:off x="456399" y="3042665"/>
          <a:ext cx="829818" cy="8298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3D9BE4-FB00-4BA7-87D5-CF432180C355}">
      <dsp:nvSpPr>
        <dsp:cNvPr id="0" name=""/>
        <dsp:cNvSpPr/>
      </dsp:nvSpPr>
      <dsp:spPr>
        <a:xfrm>
          <a:off x="1742617" y="2703194"/>
          <a:ext cx="6676720" cy="150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77" tIns="159677" rIns="159677" bIns="159677" numCol="1" spcCol="1270" anchor="ctr" anchorCtr="0">
          <a:noAutofit/>
        </a:bodyPr>
        <a:lstStyle/>
        <a:p>
          <a:pPr marL="0" lvl="0" indent="0" algn="l" defTabSz="755650">
            <a:lnSpc>
              <a:spcPct val="90000"/>
            </a:lnSpc>
            <a:spcBef>
              <a:spcPct val="0"/>
            </a:spcBef>
            <a:spcAft>
              <a:spcPct val="35000"/>
            </a:spcAft>
            <a:buNone/>
          </a:pPr>
          <a:r>
            <a:rPr lang="en-US" sz="1700" kern="1200"/>
            <a:t>Unlike traditional RNNs which use a single hidden state passed through time LSTMs introduce a memory cell that holds information over extended periods addressing the challenge of learning long-term dependencies.</a:t>
          </a:r>
        </a:p>
      </dsp:txBody>
      <dsp:txXfrm>
        <a:off x="1742617" y="2703194"/>
        <a:ext cx="6676720" cy="15087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CAE9B-D27A-4D08-8A2C-BD2216628739}">
      <dsp:nvSpPr>
        <dsp:cNvPr id="0" name=""/>
        <dsp:cNvSpPr/>
      </dsp:nvSpPr>
      <dsp:spPr>
        <a:xfrm>
          <a:off x="0" y="0"/>
          <a:ext cx="6592823" cy="53126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just" defTabSz="933450">
            <a:lnSpc>
              <a:spcPct val="90000"/>
            </a:lnSpc>
            <a:spcBef>
              <a:spcPct val="0"/>
            </a:spcBef>
            <a:spcAft>
              <a:spcPct val="35000"/>
            </a:spcAft>
            <a:buNone/>
          </a:pPr>
          <a:r>
            <a:rPr lang="en-US" sz="2100" kern="1200" dirty="0"/>
            <a:t>Recurrent Neural Networks (RNNs) are designed to handle sequential data by maintaining a hidden state that captures information from previous time steps. However they often face challenges in learning long-term dependencies where information from distant time steps becomes crucial for making accurate predictions for current state. This problem is known as the vanishing gradient or exploding gradient problem.</a:t>
          </a:r>
        </a:p>
      </dsp:txBody>
      <dsp:txXfrm>
        <a:off x="0" y="0"/>
        <a:ext cx="6592823" cy="2868838"/>
      </dsp:txXfrm>
    </dsp:sp>
    <dsp:sp modelId="{0BEA0E4D-5E02-4883-AA13-C7B3CFC18D6C}">
      <dsp:nvSpPr>
        <dsp:cNvPr id="0" name=""/>
        <dsp:cNvSpPr/>
      </dsp:nvSpPr>
      <dsp:spPr>
        <a:xfrm>
          <a:off x="0" y="2762585"/>
          <a:ext cx="3296411" cy="24438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1376" tIns="60960" rIns="341376" bIns="60960" numCol="1" spcCol="1270" anchor="ctr" anchorCtr="0">
          <a:noAutofit/>
        </a:bodyPr>
        <a:lstStyle/>
        <a:p>
          <a:pPr marL="0" lvl="0" indent="0" algn="ctr" defTabSz="2133600">
            <a:lnSpc>
              <a:spcPct val="90000"/>
            </a:lnSpc>
            <a:spcBef>
              <a:spcPct val="0"/>
            </a:spcBef>
            <a:spcAft>
              <a:spcPct val="35000"/>
            </a:spcAft>
            <a:buNone/>
          </a:pPr>
          <a:r>
            <a:rPr lang="en-US" sz="4800" kern="1200"/>
            <a:t>Vanishing Gradient</a:t>
          </a:r>
        </a:p>
      </dsp:txBody>
      <dsp:txXfrm>
        <a:off x="0" y="2762585"/>
        <a:ext cx="3296411" cy="2443825"/>
      </dsp:txXfrm>
    </dsp:sp>
    <dsp:sp modelId="{4EF2C25A-96A0-4300-AD66-7AABAA76EE74}">
      <dsp:nvSpPr>
        <dsp:cNvPr id="0" name=""/>
        <dsp:cNvSpPr/>
      </dsp:nvSpPr>
      <dsp:spPr>
        <a:xfrm>
          <a:off x="3296411" y="2762585"/>
          <a:ext cx="3296411" cy="24438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1376" tIns="60960" rIns="341376" bIns="60960" numCol="1" spcCol="1270" anchor="ctr" anchorCtr="0">
          <a:noAutofit/>
        </a:bodyPr>
        <a:lstStyle/>
        <a:p>
          <a:pPr marL="0" lvl="0" indent="0" algn="ctr" defTabSz="2133600">
            <a:lnSpc>
              <a:spcPct val="90000"/>
            </a:lnSpc>
            <a:spcBef>
              <a:spcPct val="0"/>
            </a:spcBef>
            <a:spcAft>
              <a:spcPct val="35000"/>
            </a:spcAft>
            <a:buNone/>
          </a:pPr>
          <a:r>
            <a:rPr lang="en-US" sz="4800" kern="1200"/>
            <a:t>Exploding Gradient</a:t>
          </a:r>
        </a:p>
      </dsp:txBody>
      <dsp:txXfrm>
        <a:off x="3296411" y="2762585"/>
        <a:ext cx="3296411" cy="24438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668A9-4A7D-4F44-A08E-27ABB35D71B6}">
      <dsp:nvSpPr>
        <dsp:cNvPr id="0" name=""/>
        <dsp:cNvSpPr/>
      </dsp:nvSpPr>
      <dsp:spPr>
        <a:xfrm>
          <a:off x="1361" y="113796"/>
          <a:ext cx="4779838" cy="30351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DFD238-78EA-4FE0-8DA0-FADF18F3F262}">
      <dsp:nvSpPr>
        <dsp:cNvPr id="0" name=""/>
        <dsp:cNvSpPr/>
      </dsp:nvSpPr>
      <dsp:spPr>
        <a:xfrm>
          <a:off x="532454" y="618334"/>
          <a:ext cx="4779838" cy="30351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Vanishing Gradient: </a:t>
          </a:r>
          <a:r>
            <a:rPr lang="en-US" sz="2200" kern="1200"/>
            <a:t>When training a model over time, the gradients which help the model learn can shrink as they pass through many steps. This makes it hard for the model to learn long-term patterns since earlier information becomes almost irrelevant.</a:t>
          </a:r>
        </a:p>
      </dsp:txBody>
      <dsp:txXfrm>
        <a:off x="621352" y="707232"/>
        <a:ext cx="4602042" cy="2857401"/>
      </dsp:txXfrm>
    </dsp:sp>
    <dsp:sp modelId="{AF537D22-3AC5-457F-9777-92D8C8A2FD2D}">
      <dsp:nvSpPr>
        <dsp:cNvPr id="0" name=""/>
        <dsp:cNvSpPr/>
      </dsp:nvSpPr>
      <dsp:spPr>
        <a:xfrm>
          <a:off x="5843386" y="113796"/>
          <a:ext cx="4779838" cy="303519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ACFFAA-FDCC-464A-81C8-5D2CBAE93C70}">
      <dsp:nvSpPr>
        <dsp:cNvPr id="0" name=""/>
        <dsp:cNvSpPr/>
      </dsp:nvSpPr>
      <dsp:spPr>
        <a:xfrm>
          <a:off x="6374479" y="618334"/>
          <a:ext cx="4779838" cy="303519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Exploding Gradient: </a:t>
          </a:r>
          <a:r>
            <a:rPr lang="en-US" sz="2200" kern="1200"/>
            <a:t>Sometimes gradients can grow too large causing instability. This makes it difficult for the model to learn properly as the updates to the model become erratic and unpredictable.</a:t>
          </a:r>
        </a:p>
      </dsp:txBody>
      <dsp:txXfrm>
        <a:off x="6463377" y="707232"/>
        <a:ext cx="4602042" cy="28574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D031D-75D6-4A12-9DA6-29D9D0E86F19}">
      <dsp:nvSpPr>
        <dsp:cNvPr id="0" name=""/>
        <dsp:cNvSpPr/>
      </dsp:nvSpPr>
      <dsp:spPr>
        <a:xfrm>
          <a:off x="273437" y="643792"/>
          <a:ext cx="919648" cy="9196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891EF4-5E71-4CCA-B804-151D2D80289B}">
      <dsp:nvSpPr>
        <dsp:cNvPr id="0" name=""/>
        <dsp:cNvSpPr/>
      </dsp:nvSpPr>
      <dsp:spPr>
        <a:xfrm>
          <a:off x="466563" y="836918"/>
          <a:ext cx="533396" cy="5333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105F0E-B510-4CC4-8DA2-4193C69C3CDA}">
      <dsp:nvSpPr>
        <dsp:cNvPr id="0" name=""/>
        <dsp:cNvSpPr/>
      </dsp:nvSpPr>
      <dsp:spPr>
        <a:xfrm>
          <a:off x="1390153" y="643792"/>
          <a:ext cx="2167743" cy="919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Language Modeling</a:t>
          </a:r>
        </a:p>
      </dsp:txBody>
      <dsp:txXfrm>
        <a:off x="1390153" y="643792"/>
        <a:ext cx="2167743" cy="919648"/>
      </dsp:txXfrm>
    </dsp:sp>
    <dsp:sp modelId="{483D9904-C527-4EF8-AB7D-DEFB2DD8EBB7}">
      <dsp:nvSpPr>
        <dsp:cNvPr id="0" name=""/>
        <dsp:cNvSpPr/>
      </dsp:nvSpPr>
      <dsp:spPr>
        <a:xfrm>
          <a:off x="3935610" y="643792"/>
          <a:ext cx="919648" cy="9196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9BE010-5918-4751-ACBE-90257DE567DD}">
      <dsp:nvSpPr>
        <dsp:cNvPr id="0" name=""/>
        <dsp:cNvSpPr/>
      </dsp:nvSpPr>
      <dsp:spPr>
        <a:xfrm>
          <a:off x="4128736" y="836918"/>
          <a:ext cx="533396" cy="5333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A1F045-96F6-4E4A-8167-613F4360B768}">
      <dsp:nvSpPr>
        <dsp:cNvPr id="0" name=""/>
        <dsp:cNvSpPr/>
      </dsp:nvSpPr>
      <dsp:spPr>
        <a:xfrm>
          <a:off x="5052326" y="643792"/>
          <a:ext cx="2167743" cy="919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Speech Recognition</a:t>
          </a:r>
        </a:p>
      </dsp:txBody>
      <dsp:txXfrm>
        <a:off x="5052326" y="643792"/>
        <a:ext cx="2167743" cy="919648"/>
      </dsp:txXfrm>
    </dsp:sp>
    <dsp:sp modelId="{DD251DEB-1643-4A1F-8D53-8EECFCA00E85}">
      <dsp:nvSpPr>
        <dsp:cNvPr id="0" name=""/>
        <dsp:cNvSpPr/>
      </dsp:nvSpPr>
      <dsp:spPr>
        <a:xfrm>
          <a:off x="7597782" y="643792"/>
          <a:ext cx="919648" cy="9196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C57920-A5AC-4166-89FC-B7001C2541AE}">
      <dsp:nvSpPr>
        <dsp:cNvPr id="0" name=""/>
        <dsp:cNvSpPr/>
      </dsp:nvSpPr>
      <dsp:spPr>
        <a:xfrm>
          <a:off x="7790909" y="836918"/>
          <a:ext cx="533396" cy="5333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216E40-3572-4E4B-9494-40CA77FE7979}">
      <dsp:nvSpPr>
        <dsp:cNvPr id="0" name=""/>
        <dsp:cNvSpPr/>
      </dsp:nvSpPr>
      <dsp:spPr>
        <a:xfrm>
          <a:off x="8714499" y="643792"/>
          <a:ext cx="2167743" cy="919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Time Series Forecasting</a:t>
          </a:r>
        </a:p>
      </dsp:txBody>
      <dsp:txXfrm>
        <a:off x="8714499" y="643792"/>
        <a:ext cx="2167743" cy="919648"/>
      </dsp:txXfrm>
    </dsp:sp>
    <dsp:sp modelId="{2A99B07F-565D-40AE-8BDB-50A0FBF584DB}">
      <dsp:nvSpPr>
        <dsp:cNvPr id="0" name=""/>
        <dsp:cNvSpPr/>
      </dsp:nvSpPr>
      <dsp:spPr>
        <a:xfrm>
          <a:off x="273437" y="2203886"/>
          <a:ext cx="919648" cy="9196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89A197-1FF5-4D92-9237-CBE91E12A4B6}">
      <dsp:nvSpPr>
        <dsp:cNvPr id="0" name=""/>
        <dsp:cNvSpPr/>
      </dsp:nvSpPr>
      <dsp:spPr>
        <a:xfrm>
          <a:off x="466563" y="2397013"/>
          <a:ext cx="533396" cy="5333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691DA1-A265-49A0-97A4-CAD65312D9CE}">
      <dsp:nvSpPr>
        <dsp:cNvPr id="0" name=""/>
        <dsp:cNvSpPr/>
      </dsp:nvSpPr>
      <dsp:spPr>
        <a:xfrm>
          <a:off x="1390153" y="2203886"/>
          <a:ext cx="2167743" cy="919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Anomaly Detection</a:t>
          </a:r>
        </a:p>
      </dsp:txBody>
      <dsp:txXfrm>
        <a:off x="1390153" y="2203886"/>
        <a:ext cx="2167743" cy="919648"/>
      </dsp:txXfrm>
    </dsp:sp>
    <dsp:sp modelId="{4B25297F-1CFD-46AA-A7D5-640BDE9CB7C8}">
      <dsp:nvSpPr>
        <dsp:cNvPr id="0" name=""/>
        <dsp:cNvSpPr/>
      </dsp:nvSpPr>
      <dsp:spPr>
        <a:xfrm>
          <a:off x="3935610" y="2203886"/>
          <a:ext cx="919648" cy="9196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6CD35A-F367-441A-B9F6-4423B40A0E19}">
      <dsp:nvSpPr>
        <dsp:cNvPr id="0" name=""/>
        <dsp:cNvSpPr/>
      </dsp:nvSpPr>
      <dsp:spPr>
        <a:xfrm>
          <a:off x="4128736" y="2397013"/>
          <a:ext cx="533396" cy="53339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2E31D8-C1E9-414F-AB25-8F72856D4449}">
      <dsp:nvSpPr>
        <dsp:cNvPr id="0" name=""/>
        <dsp:cNvSpPr/>
      </dsp:nvSpPr>
      <dsp:spPr>
        <a:xfrm>
          <a:off x="5052326" y="2203886"/>
          <a:ext cx="2167743" cy="919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Recommender Systems</a:t>
          </a:r>
        </a:p>
      </dsp:txBody>
      <dsp:txXfrm>
        <a:off x="5052326" y="2203886"/>
        <a:ext cx="2167743" cy="919648"/>
      </dsp:txXfrm>
    </dsp:sp>
    <dsp:sp modelId="{F14408F2-692A-41B8-A61D-86698957A521}">
      <dsp:nvSpPr>
        <dsp:cNvPr id="0" name=""/>
        <dsp:cNvSpPr/>
      </dsp:nvSpPr>
      <dsp:spPr>
        <a:xfrm>
          <a:off x="7597782" y="2203886"/>
          <a:ext cx="919648" cy="919648"/>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EFA704-8650-48EE-8BF9-C0BEAA6C0EE6}">
      <dsp:nvSpPr>
        <dsp:cNvPr id="0" name=""/>
        <dsp:cNvSpPr/>
      </dsp:nvSpPr>
      <dsp:spPr>
        <a:xfrm>
          <a:off x="7790909" y="2397013"/>
          <a:ext cx="533396" cy="53339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9E899D-8CE9-47E2-9C29-EB85927AA9AD}">
      <dsp:nvSpPr>
        <dsp:cNvPr id="0" name=""/>
        <dsp:cNvSpPr/>
      </dsp:nvSpPr>
      <dsp:spPr>
        <a:xfrm>
          <a:off x="8714499" y="2203886"/>
          <a:ext cx="2167743" cy="919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Video Analysis</a:t>
          </a:r>
        </a:p>
      </dsp:txBody>
      <dsp:txXfrm>
        <a:off x="8714499" y="2203886"/>
        <a:ext cx="2167743" cy="91964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83473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27629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718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13397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39484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77749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11931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30080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41326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76229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9/16/2025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1962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9/16/2025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3145974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svg"/><Relationship Id="rId7" Type="http://schemas.openxmlformats.org/officeDocument/2006/relationships/diagramColors" Target="../diagrams/colors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1" name="Picture 2" descr="A green background with hexagons&#10;&#10;AI-generated content may be incorrect.">
            <a:extLst>
              <a:ext uri="{FF2B5EF4-FFF2-40B4-BE49-F238E27FC236}">
                <a16:creationId xmlns:a16="http://schemas.microsoft.com/office/drawing/2014/main" id="{E1531A17-CBF3-AC32-AADB-91C58F8F7E4B}"/>
              </a:ext>
            </a:extLst>
          </p:cNvPr>
          <p:cNvPicPr>
            <a:picLocks noChangeAspect="1"/>
          </p:cNvPicPr>
          <p:nvPr/>
        </p:nvPicPr>
        <p:blipFill>
          <a:blip r:embed="rId2"/>
          <a:srcRect t="10695" b="4718"/>
          <a:stretch>
            <a:fillRect/>
          </a:stretch>
        </p:blipFill>
        <p:spPr>
          <a:xfrm>
            <a:off x="20" y="10"/>
            <a:ext cx="12191979" cy="6857990"/>
          </a:xfrm>
          <a:prstGeom prst="rect">
            <a:avLst/>
          </a:prstGeom>
        </p:spPr>
      </p:pic>
      <p:sp>
        <p:nvSpPr>
          <p:cNvPr id="22" name="Rectangle 9">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7A974EC-C49A-48DC-BD72-A087ACFF7E27}"/>
              </a:ext>
            </a:extLst>
          </p:cNvPr>
          <p:cNvSpPr>
            <a:spLocks noGrp="1"/>
          </p:cNvSpPr>
          <p:nvPr>
            <p:ph type="ctrTitle"/>
          </p:nvPr>
        </p:nvSpPr>
        <p:spPr>
          <a:xfrm>
            <a:off x="438910" y="978408"/>
            <a:ext cx="7562090" cy="3969960"/>
          </a:xfrm>
        </p:spPr>
        <p:txBody>
          <a:bodyPr anchor="t">
            <a:normAutofit/>
          </a:bodyPr>
          <a:lstStyle/>
          <a:p>
            <a:r>
              <a:rPr lang="en-US" sz="6600" dirty="0"/>
              <a:t>Long Short Term Memory(LSTM)</a:t>
            </a:r>
            <a:endParaRPr lang="en-PK" sz="6600" dirty="0"/>
          </a:p>
        </p:txBody>
      </p:sp>
      <p:sp>
        <p:nvSpPr>
          <p:cNvPr id="12" name="Rectangle 11">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491643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4177F0-135B-47D9-B33D-252B5128129A}"/>
              </a:ext>
            </a:extLst>
          </p:cNvPr>
          <p:cNvSpPr>
            <a:spLocks noGrp="1"/>
          </p:cNvSpPr>
          <p:nvPr>
            <p:ph type="title"/>
          </p:nvPr>
        </p:nvSpPr>
        <p:spPr>
          <a:xfrm>
            <a:off x="521208" y="978408"/>
            <a:ext cx="4288536" cy="3364992"/>
          </a:xfrm>
        </p:spPr>
        <p:txBody>
          <a:bodyPr>
            <a:normAutofit/>
          </a:bodyPr>
          <a:lstStyle/>
          <a:p>
            <a:r>
              <a:rPr lang="en-US" dirty="0"/>
              <a:t>LSTM</a:t>
            </a:r>
            <a:endParaRPr lang="en-PK" dirty="0"/>
          </a:p>
        </p:txBody>
      </p:sp>
      <p:sp>
        <p:nvSpPr>
          <p:cNvPr id="12" name="Rectangle 11">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3419F8E-9AFC-8542-90A6-2E752C37626C}"/>
              </a:ext>
            </a:extLst>
          </p:cNvPr>
          <p:cNvGraphicFramePr>
            <a:graphicFrameLocks noGrp="1"/>
          </p:cNvGraphicFramePr>
          <p:nvPr>
            <p:ph idx="1"/>
            <p:extLst>
              <p:ext uri="{D42A27DB-BD31-4B8C-83A1-F6EECF244321}">
                <p14:modId xmlns:p14="http://schemas.microsoft.com/office/powerpoint/2010/main" val="1552641516"/>
              </p:ext>
            </p:extLst>
          </p:nvPr>
        </p:nvGraphicFramePr>
        <p:xfrm>
          <a:off x="3257550" y="978408"/>
          <a:ext cx="8419338"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293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AC883F-69DD-D349-B469-8CDE2139F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FA100E-1DB6-49B6-8C98-9810A12AE8B2}"/>
              </a:ext>
            </a:extLst>
          </p:cNvPr>
          <p:cNvSpPr>
            <a:spLocks noGrp="1"/>
          </p:cNvSpPr>
          <p:nvPr>
            <p:ph type="title"/>
          </p:nvPr>
        </p:nvSpPr>
        <p:spPr>
          <a:xfrm>
            <a:off x="521208" y="978408"/>
            <a:ext cx="4032504" cy="2121408"/>
          </a:xfrm>
        </p:spPr>
        <p:txBody>
          <a:bodyPr>
            <a:normAutofit/>
          </a:bodyPr>
          <a:lstStyle/>
          <a:p>
            <a:pPr>
              <a:lnSpc>
                <a:spcPct val="90000"/>
              </a:lnSpc>
            </a:pPr>
            <a:r>
              <a:rPr lang="en-US" sz="3700" dirty="0"/>
              <a:t>Problem with Long-Term Dependencies in RNN</a:t>
            </a:r>
            <a:endParaRPr lang="en-PK" sz="3700" dirty="0"/>
          </a:p>
        </p:txBody>
      </p:sp>
      <p:sp>
        <p:nvSpPr>
          <p:cNvPr id="12" name="Rectangle 11">
            <a:extLst>
              <a:ext uri="{FF2B5EF4-FFF2-40B4-BE49-F238E27FC236}">
                <a16:creationId xmlns:a16="http://schemas.microsoft.com/office/drawing/2014/main" id="{5B0749EA-BE79-9EB1-B769-385489D43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033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913DE-5FC3-6E84-57B7-19B2096A5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6630" y="612648"/>
            <a:ext cx="659282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aptop Secure">
            <a:extLst>
              <a:ext uri="{FF2B5EF4-FFF2-40B4-BE49-F238E27FC236}">
                <a16:creationId xmlns:a16="http://schemas.microsoft.com/office/drawing/2014/main" id="{4A8F6FF8-1655-1194-662C-1605E5CB6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9" y="3511363"/>
            <a:ext cx="2834640" cy="2834640"/>
          </a:xfrm>
          <a:prstGeom prst="rect">
            <a:avLst/>
          </a:prstGeom>
        </p:spPr>
      </p:pic>
      <p:graphicFrame>
        <p:nvGraphicFramePr>
          <p:cNvPr id="21" name="Content Placeholder 2">
            <a:extLst>
              <a:ext uri="{FF2B5EF4-FFF2-40B4-BE49-F238E27FC236}">
                <a16:creationId xmlns:a16="http://schemas.microsoft.com/office/drawing/2014/main" id="{D3C4DAD8-CC0F-34CF-3DE6-1583B0CF1FC9}"/>
              </a:ext>
            </a:extLst>
          </p:cNvPr>
          <p:cNvGraphicFramePr>
            <a:graphicFrameLocks noGrp="1"/>
          </p:cNvGraphicFramePr>
          <p:nvPr>
            <p:ph idx="1"/>
            <p:extLst>
              <p:ext uri="{D42A27DB-BD31-4B8C-83A1-F6EECF244321}">
                <p14:modId xmlns:p14="http://schemas.microsoft.com/office/powerpoint/2010/main" val="3906980023"/>
              </p:ext>
            </p:extLst>
          </p:nvPr>
        </p:nvGraphicFramePr>
        <p:xfrm>
          <a:off x="5074920" y="1033272"/>
          <a:ext cx="6592824" cy="53126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9764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14B9-292B-4CEA-B8A3-8119FDE5D68D}"/>
              </a:ext>
            </a:extLst>
          </p:cNvPr>
          <p:cNvSpPr>
            <a:spLocks noGrp="1"/>
          </p:cNvSpPr>
          <p:nvPr>
            <p:ph type="title"/>
          </p:nvPr>
        </p:nvSpPr>
        <p:spPr/>
        <p:txBody>
          <a:bodyPr/>
          <a:lstStyle/>
          <a:p>
            <a:r>
              <a:rPr lang="en-US" sz="4400" dirty="0"/>
              <a:t>Problem with Long-Term Dependencies in RNN</a:t>
            </a:r>
            <a:endParaRPr lang="en-PK" dirty="0"/>
          </a:p>
        </p:txBody>
      </p:sp>
      <p:graphicFrame>
        <p:nvGraphicFramePr>
          <p:cNvPr id="13" name="Content Placeholder 2">
            <a:extLst>
              <a:ext uri="{FF2B5EF4-FFF2-40B4-BE49-F238E27FC236}">
                <a16:creationId xmlns:a16="http://schemas.microsoft.com/office/drawing/2014/main" id="{05078D9C-C9A3-0777-D2C7-26296D625D40}"/>
              </a:ext>
            </a:extLst>
          </p:cNvPr>
          <p:cNvGraphicFramePr>
            <a:graphicFrameLocks noGrp="1"/>
          </p:cNvGraphicFramePr>
          <p:nvPr>
            <p:ph idx="1"/>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033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B63773-6715-445C-9AC0-6EAD49988E6E}"/>
              </a:ext>
            </a:extLst>
          </p:cNvPr>
          <p:cNvSpPr>
            <a:spLocks noGrp="1"/>
          </p:cNvSpPr>
          <p:nvPr>
            <p:ph type="title"/>
          </p:nvPr>
        </p:nvSpPr>
        <p:spPr>
          <a:xfrm>
            <a:off x="521208" y="978408"/>
            <a:ext cx="6263640" cy="1463040"/>
          </a:xfrm>
        </p:spPr>
        <p:txBody>
          <a:bodyPr>
            <a:normAutofit/>
          </a:bodyPr>
          <a:lstStyle/>
          <a:p>
            <a:r>
              <a:rPr lang="en-US"/>
              <a:t>LSTM Architecture</a:t>
            </a:r>
            <a:endParaRPr lang="en-PK" dirty="0"/>
          </a:p>
        </p:txBody>
      </p:sp>
      <p:sp>
        <p:nvSpPr>
          <p:cNvPr id="12" name="Freeform: Shape 11">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Content Placeholder 2">
            <a:extLst>
              <a:ext uri="{FF2B5EF4-FFF2-40B4-BE49-F238E27FC236}">
                <a16:creationId xmlns:a16="http://schemas.microsoft.com/office/drawing/2014/main" id="{81FDF738-6619-4E05-B3C8-1C834A349B2D}"/>
              </a:ext>
            </a:extLst>
          </p:cNvPr>
          <p:cNvSpPr>
            <a:spLocks noGrp="1"/>
          </p:cNvSpPr>
          <p:nvPr>
            <p:ph idx="1"/>
          </p:nvPr>
        </p:nvSpPr>
        <p:spPr>
          <a:xfrm>
            <a:off x="521208" y="2578608"/>
            <a:ext cx="6263640" cy="3767328"/>
          </a:xfrm>
        </p:spPr>
        <p:txBody>
          <a:bodyPr>
            <a:normAutofit/>
          </a:bodyPr>
          <a:lstStyle/>
          <a:p>
            <a:pPr marL="0" indent="0">
              <a:buNone/>
            </a:pPr>
            <a:r>
              <a:rPr lang="en-US"/>
              <a:t>LSTM architectures involves the memory cell which is controlled by three gates:</a:t>
            </a:r>
          </a:p>
          <a:p>
            <a:pPr marL="0" indent="0">
              <a:buNone/>
            </a:pPr>
            <a:endParaRPr lang="en-US"/>
          </a:p>
          <a:p>
            <a:pPr>
              <a:buFont typeface="Wingdings" panose="05000000000000000000" pitchFamily="2" charset="2"/>
              <a:buChar char="q"/>
            </a:pPr>
            <a:r>
              <a:rPr lang="en-US" b="1"/>
              <a:t>Input gate: </a:t>
            </a:r>
            <a:r>
              <a:rPr lang="en-US"/>
              <a:t>Controls what information is added to the memory cell.</a:t>
            </a:r>
          </a:p>
          <a:p>
            <a:pPr>
              <a:buFont typeface="Wingdings" panose="05000000000000000000" pitchFamily="2" charset="2"/>
              <a:buChar char="q"/>
            </a:pPr>
            <a:r>
              <a:rPr lang="en-US" b="1"/>
              <a:t>Forget gate: </a:t>
            </a:r>
            <a:r>
              <a:rPr lang="en-US"/>
              <a:t>Determines what information is removed from the memory cell.</a:t>
            </a:r>
          </a:p>
          <a:p>
            <a:pPr>
              <a:buFont typeface="Wingdings" panose="05000000000000000000" pitchFamily="2" charset="2"/>
              <a:buChar char="q"/>
            </a:pPr>
            <a:r>
              <a:rPr lang="en-US" b="1"/>
              <a:t>Output gate: </a:t>
            </a:r>
            <a:r>
              <a:rPr lang="en-US"/>
              <a:t>Controls what information is output from the memory cell.</a:t>
            </a:r>
            <a:endParaRPr lang="en-PK"/>
          </a:p>
        </p:txBody>
      </p:sp>
      <p:pic>
        <p:nvPicPr>
          <p:cNvPr id="7" name="Graphic 6" descr="Computer">
            <a:extLst>
              <a:ext uri="{FF2B5EF4-FFF2-40B4-BE49-F238E27FC236}">
                <a16:creationId xmlns:a16="http://schemas.microsoft.com/office/drawing/2014/main" id="{726E679D-9AE5-5C9D-A12A-66C1D721A4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6492" y="976160"/>
            <a:ext cx="4364590" cy="4364590"/>
          </a:xfrm>
          <a:prstGeom prst="rect">
            <a:avLst/>
          </a:prstGeom>
        </p:spPr>
      </p:pic>
    </p:spTree>
    <p:extLst>
      <p:ext uri="{BB962C8B-B14F-4D97-AF65-F5344CB8AC3E}">
        <p14:creationId xmlns:p14="http://schemas.microsoft.com/office/powerpoint/2010/main" val="2429875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1FB8C-E28B-437E-A5DA-8832FDFC696E}"/>
              </a:ext>
            </a:extLst>
          </p:cNvPr>
          <p:cNvSpPr>
            <a:spLocks noGrp="1"/>
          </p:cNvSpPr>
          <p:nvPr>
            <p:ph type="title"/>
          </p:nvPr>
        </p:nvSpPr>
        <p:spPr>
          <a:xfrm>
            <a:off x="521208" y="569847"/>
            <a:ext cx="11155680" cy="792026"/>
          </a:xfrm>
        </p:spPr>
        <p:txBody>
          <a:bodyPr/>
          <a:lstStyle/>
          <a:p>
            <a:r>
              <a:rPr lang="en-US" dirty="0"/>
              <a:t>LSTM Working</a:t>
            </a:r>
            <a:endParaRPr lang="en-PK" dirty="0"/>
          </a:p>
        </p:txBody>
      </p:sp>
      <p:pic>
        <p:nvPicPr>
          <p:cNvPr id="7" name="Picture 6">
            <a:extLst>
              <a:ext uri="{FF2B5EF4-FFF2-40B4-BE49-F238E27FC236}">
                <a16:creationId xmlns:a16="http://schemas.microsoft.com/office/drawing/2014/main" id="{994E9E6A-DA2E-4837-94C7-007EB242556B}"/>
              </a:ext>
            </a:extLst>
          </p:cNvPr>
          <p:cNvPicPr>
            <a:picLocks noChangeAspect="1"/>
          </p:cNvPicPr>
          <p:nvPr/>
        </p:nvPicPr>
        <p:blipFill>
          <a:blip r:embed="rId2"/>
          <a:stretch>
            <a:fillRect/>
          </a:stretch>
        </p:blipFill>
        <p:spPr>
          <a:xfrm>
            <a:off x="680936" y="1377432"/>
            <a:ext cx="10603149" cy="5281619"/>
          </a:xfrm>
          <a:prstGeom prst="rect">
            <a:avLst/>
          </a:prstGeom>
        </p:spPr>
      </p:pic>
    </p:spTree>
    <p:extLst>
      <p:ext uri="{BB962C8B-B14F-4D97-AF65-F5344CB8AC3E}">
        <p14:creationId xmlns:p14="http://schemas.microsoft.com/office/powerpoint/2010/main" val="685451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20F8-9325-4712-9467-B1AC77E1661A}"/>
              </a:ext>
            </a:extLst>
          </p:cNvPr>
          <p:cNvSpPr>
            <a:spLocks noGrp="1"/>
          </p:cNvSpPr>
          <p:nvPr>
            <p:ph type="title"/>
          </p:nvPr>
        </p:nvSpPr>
        <p:spPr/>
        <p:txBody>
          <a:bodyPr/>
          <a:lstStyle/>
          <a:p>
            <a:r>
              <a:rPr lang="en-US" dirty="0"/>
              <a:t>Forget Gate</a:t>
            </a:r>
            <a:endParaRPr lang="en-PK"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1B433B-D73E-484D-B49A-2889F5367C9B}"/>
                  </a:ext>
                </a:extLst>
              </p:cNvPr>
              <p:cNvSpPr>
                <a:spLocks noGrp="1"/>
              </p:cNvSpPr>
              <p:nvPr>
                <p:ph idx="1"/>
              </p:nvPr>
            </p:nvSpPr>
            <p:spPr>
              <a:xfrm>
                <a:off x="585788" y="2057400"/>
                <a:ext cx="11291125" cy="4231386"/>
              </a:xfrm>
            </p:spPr>
            <p:txBody>
              <a:bodyPr>
                <a:normAutofit/>
              </a:bodyPr>
              <a:lstStyle/>
              <a:p>
                <a:pPr marL="0" indent="0">
                  <a:buNone/>
                </a:pPr>
                <a:r>
                  <a:rPr lang="en-US" dirty="0"/>
                  <a:t>The information that is no longer useful in the cell state is removed with the forget gate. Two inputs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oMath>
                </a14:m>
                <a:r>
                  <a:rPr lang="en-US" dirty="0"/>
                  <a:t> (input at the particular time) and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−1</m:t>
                    </m:r>
                  </m:oMath>
                </a14:m>
                <a:r>
                  <a:rPr lang="en-US" dirty="0"/>
                  <a:t> (previous cell output) are fed to the gate and multiplied with weight matrices followed by the addition of bias. The resultant is passed through sigmoid activation function which gives output in range of [0,1]. If for a particular cell state the output is 0 or near to 0, the piece of information is forgotten and for output of 1 or near to 1, the information is retained for future use. </a:t>
                </a:r>
              </a:p>
              <a:p>
                <a:pPr marL="0" indent="0">
                  <a:buNone/>
                </a:pPr>
                <a:r>
                  <a:rPr lang="en-US" b="0" i="0" dirty="0">
                    <a:solidFill>
                      <a:srgbClr val="273239"/>
                    </a:solidFill>
                    <a:effectLst/>
                    <a:latin typeface="Nunito" pitchFamily="2" charset="0"/>
                  </a:rPr>
                  <a:t>The equation for the forget gate is: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oMath>
                  </m:oMathPara>
                </a14:m>
                <a:endParaRPr lang="en-US" dirty="0"/>
              </a:p>
              <a:p>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𝑓</m:t>
                        </m:r>
                      </m:sub>
                    </m:sSub>
                  </m:oMath>
                </a14:m>
                <a:r>
                  <a:rPr lang="en-US" dirty="0"/>
                  <a:t> represents the weight matrix associated with the forget gate.</a:t>
                </a:r>
              </a:p>
              <a:p>
                <a:pP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e>
                    </m:d>
                  </m:oMath>
                </a14:m>
                <a:r>
                  <a:rPr lang="en-US" dirty="0"/>
                  <a:t> denotes the concatenation of the current input and the previous hidden state.</a:t>
                </a:r>
              </a:p>
              <a:p>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𝑓</m:t>
                        </m:r>
                      </m:sub>
                    </m:sSub>
                  </m:oMath>
                </a14:m>
                <a:r>
                  <a:rPr lang="en-US" dirty="0"/>
                  <a:t> is the bias with the forget gate.</a:t>
                </a:r>
              </a:p>
              <a:p>
                <a:pPr/>
                <a14:m>
                  <m:oMath xmlns:m="http://schemas.openxmlformats.org/officeDocument/2006/math">
                    <m:r>
                      <a:rPr lang="en-US" b="0" i="1" smtClean="0">
                        <a:latin typeface="Cambria Math" panose="02040503050406030204" pitchFamily="18" charset="0"/>
                        <a:ea typeface="Cambria Math" panose="02040503050406030204" pitchFamily="18" charset="0"/>
                      </a:rPr>
                      <m:t>𝜎</m:t>
                    </m:r>
                  </m:oMath>
                </a14:m>
                <a:r>
                  <a:rPr lang="en-US" dirty="0"/>
                  <a:t> is the sigmoid activation function.</a:t>
                </a:r>
                <a:endParaRPr lang="en-PK" dirty="0"/>
              </a:p>
            </p:txBody>
          </p:sp>
        </mc:Choice>
        <mc:Fallback>
          <p:sp>
            <p:nvSpPr>
              <p:cNvPr id="3" name="Content Placeholder 2">
                <a:extLst>
                  <a:ext uri="{FF2B5EF4-FFF2-40B4-BE49-F238E27FC236}">
                    <a16:creationId xmlns:a16="http://schemas.microsoft.com/office/drawing/2014/main" id="{1E1B433B-D73E-484D-B49A-2889F5367C9B}"/>
                  </a:ext>
                </a:extLst>
              </p:cNvPr>
              <p:cNvSpPr>
                <a:spLocks noGrp="1" noRot="1" noChangeAspect="1" noMove="1" noResize="1" noEditPoints="1" noAdjustHandles="1" noChangeArrowheads="1" noChangeShapeType="1" noTextEdit="1"/>
              </p:cNvSpPr>
              <p:nvPr>
                <p:ph idx="1"/>
              </p:nvPr>
            </p:nvSpPr>
            <p:spPr>
              <a:xfrm>
                <a:off x="585788" y="2057400"/>
                <a:ext cx="11291125" cy="4231386"/>
              </a:xfrm>
              <a:blipFill>
                <a:blip r:embed="rId2"/>
                <a:stretch>
                  <a:fillRect l="-432" t="-576"/>
                </a:stretch>
              </a:blipFill>
            </p:spPr>
            <p:txBody>
              <a:bodyPr/>
              <a:lstStyle/>
              <a:p>
                <a:r>
                  <a:rPr lang="en-PK">
                    <a:noFill/>
                  </a:rPr>
                  <a:t> </a:t>
                </a:r>
              </a:p>
            </p:txBody>
          </p:sp>
        </mc:Fallback>
      </mc:AlternateContent>
    </p:spTree>
    <p:extLst>
      <p:ext uri="{BB962C8B-B14F-4D97-AF65-F5344CB8AC3E}">
        <p14:creationId xmlns:p14="http://schemas.microsoft.com/office/powerpoint/2010/main" val="2852533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50AF-B435-4ABB-BE44-B377A20DE9EC}"/>
              </a:ext>
            </a:extLst>
          </p:cNvPr>
          <p:cNvSpPr>
            <a:spLocks noGrp="1"/>
          </p:cNvSpPr>
          <p:nvPr>
            <p:ph type="title"/>
          </p:nvPr>
        </p:nvSpPr>
        <p:spPr>
          <a:xfrm>
            <a:off x="521208" y="978408"/>
            <a:ext cx="11155680" cy="850392"/>
          </a:xfrm>
        </p:spPr>
        <p:txBody>
          <a:bodyPr/>
          <a:lstStyle/>
          <a:p>
            <a:r>
              <a:rPr lang="en-US" dirty="0"/>
              <a:t>Input gate</a:t>
            </a:r>
            <a:endParaRPr lang="en-PK"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C478A14-23AE-4B8D-ABD3-9E516BEBE686}"/>
                  </a:ext>
                </a:extLst>
              </p:cNvPr>
              <p:cNvSpPr>
                <a:spLocks noGrp="1"/>
              </p:cNvSpPr>
              <p:nvPr>
                <p:ph idx="1"/>
              </p:nvPr>
            </p:nvSpPr>
            <p:spPr>
              <a:xfrm>
                <a:off x="600075" y="1778507"/>
                <a:ext cx="11391138" cy="4650867"/>
              </a:xfrm>
            </p:spPr>
            <p:txBody>
              <a:bodyPr>
                <a:normAutofit lnSpcReduction="10000"/>
              </a:bodyPr>
              <a:lstStyle/>
              <a:p>
                <a:pPr marL="0" indent="0">
                  <a:buNone/>
                </a:pPr>
                <a:r>
                  <a:rPr lang="en-US" dirty="0"/>
                  <a:t>The addition of useful information to the cell state is done by the input gate. First the information is regulated using the sigmoid function and filter the values to be remembered similar to the forget gate using inputs   Then, a vector is created using tanh function that gives an output from -1 to +1 which contains all the possible values from    At last the values of the vector and the regulated values are multiplied to obtain the useful information. The equation for the input gate is: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−1 </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PK" dirty="0" smtClean="0">
                              <a:solidFill>
                                <a:srgbClr val="836967"/>
                              </a:solidFill>
                              <a:latin typeface="Cambria Math" panose="02040503050406030204" pitchFamily="18" charset="0"/>
                            </a:rPr>
                          </m:ctrlPr>
                        </m:accPr>
                        <m:e>
                          <m:sSub>
                            <m:sSubPr>
                              <m:ctrlPr>
                                <a:rPr lang="en-US" b="0" i="1" dirty="0" smtClean="0">
                                  <a:solidFill>
                                    <a:srgbClr val="836967"/>
                                  </a:solidFill>
                                  <a:latin typeface="Cambria Math" panose="02040503050406030204" pitchFamily="18" charset="0"/>
                                </a:rPr>
                              </m:ctrlPr>
                            </m:sSubPr>
                            <m:e>
                              <m:r>
                                <a:rPr lang="en-US" b="0" i="1" dirty="0" smtClean="0">
                                  <a:solidFill>
                                    <a:srgbClr val="836967"/>
                                  </a:solidFill>
                                  <a:latin typeface="Cambria Math" panose="02040503050406030204" pitchFamily="18" charset="0"/>
                                </a:rPr>
                                <m:t>𝐶</m:t>
                              </m:r>
                            </m:e>
                            <m:sub>
                              <m:r>
                                <a:rPr lang="en-US" b="0" i="1" dirty="0" smtClean="0">
                                  <a:solidFill>
                                    <a:srgbClr val="836967"/>
                                  </a:solidFill>
                                  <a:latin typeface="Cambria Math" panose="02040503050406030204" pitchFamily="18" charset="0"/>
                                </a:rPr>
                                <m:t>𝑡</m:t>
                              </m:r>
                            </m:sub>
                          </m:sSub>
                        </m:e>
                      </m:acc>
                      <m:r>
                        <a:rPr lang="en-PK" i="0" dirty="0">
                          <a:latin typeface="Cambria Math" panose="02040503050406030204" pitchFamily="18" charset="0"/>
                        </a:rPr>
                        <m:t>=</m:t>
                      </m:r>
                      <m:r>
                        <m:rPr>
                          <m:sty m:val="p"/>
                        </m:rPr>
                        <a:rPr lang="en-PK" i="0" dirty="0">
                          <a:latin typeface="Cambria Math" panose="02040503050406030204" pitchFamily="18" charset="0"/>
                        </a:rPr>
                        <m:t>tanh</m:t>
                      </m:r>
                      <m:r>
                        <a:rPr lang="en-US" b="0" i="0" dirty="0" smtClean="0">
                          <a:latin typeface="Cambria Math" panose="02040503050406030204" pitchFamily="18" charset="0"/>
                        </a:rPr>
                        <m:t>(</m:t>
                      </m:r>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W</m:t>
                          </m:r>
                        </m:e>
                        <m:sub>
                          <m:r>
                            <m:rPr>
                              <m:sty m:val="p"/>
                            </m:rPr>
                            <a:rPr lang="en-US" b="0" i="0" dirty="0" smtClean="0">
                              <a:latin typeface="Cambria Math" panose="02040503050406030204" pitchFamily="18" charset="0"/>
                            </a:rPr>
                            <m:t>C</m:t>
                          </m:r>
                        </m:sub>
                      </m:sSub>
                      <m:r>
                        <a:rPr lang="en-US" b="0" i="0" dirty="0" smtClean="0">
                          <a:latin typeface="Cambria Math" panose="02040503050406030204" pitchFamily="18" charset="0"/>
                        </a:rPr>
                        <m:t> ∗</m:t>
                      </m:r>
                      <m:d>
                        <m:dPr>
                          <m:begChr m:val="["/>
                          <m:endChr m:val="]"/>
                          <m:ctrlPr>
                            <a:rPr lang="en-US" b="0" i="0" dirty="0" smtClean="0">
                              <a:latin typeface="Cambria Math" panose="02040503050406030204" pitchFamily="18" charset="0"/>
                            </a:rPr>
                          </m:ctrlPr>
                        </m:dPr>
                        <m:e>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h</m:t>
                              </m:r>
                            </m:e>
                            <m:sub>
                              <m:r>
                                <m:rPr>
                                  <m:sty m:val="p"/>
                                </m:rPr>
                                <a:rPr lang="en-US" b="0" i="0" dirty="0" smtClean="0">
                                  <a:latin typeface="Cambria Math" panose="02040503050406030204" pitchFamily="18" charset="0"/>
                                </a:rPr>
                                <m:t>t</m:t>
                              </m:r>
                            </m:sub>
                          </m:sSub>
                          <m:r>
                            <a:rPr lang="en-US" b="0" i="0" dirty="0" smtClean="0">
                              <a:latin typeface="Cambria Math" panose="02040503050406030204" pitchFamily="18" charset="0"/>
                            </a:rPr>
                            <m:t> ,</m:t>
                          </m:r>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x</m:t>
                              </m:r>
                            </m:e>
                            <m:sub>
                              <m:r>
                                <m:rPr>
                                  <m:sty m:val="p"/>
                                </m:rPr>
                                <a:rPr lang="en-US" b="0" i="0" dirty="0" smtClean="0">
                                  <a:latin typeface="Cambria Math" panose="02040503050406030204" pitchFamily="18" charset="0"/>
                                </a:rPr>
                                <m:t>t</m:t>
                              </m:r>
                            </m:sub>
                          </m:sSub>
                        </m:e>
                      </m:d>
                      <m:r>
                        <a:rPr lang="en-US" b="0" i="0" dirty="0" smtClean="0">
                          <a:latin typeface="Cambria Math" panose="02040503050406030204" pitchFamily="18" charset="0"/>
                        </a:rPr>
                        <m:t>+</m:t>
                      </m:r>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b</m:t>
                          </m:r>
                        </m:e>
                        <m:sub>
                          <m:r>
                            <m:rPr>
                              <m:sty m:val="p"/>
                            </m:rPr>
                            <a:rPr lang="en-US" b="0" i="0" dirty="0" smtClean="0">
                              <a:latin typeface="Cambria Math" panose="02040503050406030204" pitchFamily="18" charset="0"/>
                            </a:rPr>
                            <m:t>c</m:t>
                          </m:r>
                        </m:sub>
                      </m:sSub>
                      <m:r>
                        <a:rPr lang="en-US" b="0" i="0" dirty="0" smtClean="0">
                          <a:latin typeface="Cambria Math" panose="02040503050406030204" pitchFamily="18" charset="0"/>
                        </a:rPr>
                        <m:t>)</m:t>
                      </m:r>
                    </m:oMath>
                  </m:oMathPara>
                </a14:m>
                <a:endParaRPr lang="en-US" dirty="0"/>
              </a:p>
              <a:p>
                <a:pPr marL="0" indent="0">
                  <a:buNone/>
                </a:pPr>
                <a:r>
                  <a:rPr lang="en-US" dirty="0"/>
                  <a:t>We multiply the previous state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𝑡</m:t>
                        </m:r>
                      </m:sub>
                    </m:sSub>
                  </m:oMath>
                </a14:m>
                <a:r>
                  <a:rPr lang="en-US" dirty="0"/>
                  <a:t> effectively filtering out the information we had decided to ignore earlier. Then we add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𝑡</m:t>
                        </m:r>
                      </m:sub>
                    </m:sSub>
                  </m:oMath>
                </a14:m>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acc>
                      <m:accPr>
                        <m:chr m:val="̂"/>
                        <m:ctrlPr>
                          <a:rPr lang="en-PK" i="1" dirty="0">
                            <a:solidFill>
                              <a:srgbClr val="836967"/>
                            </a:solidFill>
                            <a:latin typeface="Cambria Math" panose="02040503050406030204" pitchFamily="18" charset="0"/>
                          </a:rPr>
                        </m:ctrlPr>
                      </m:accPr>
                      <m:e>
                        <m:sSub>
                          <m:sSubPr>
                            <m:ctrlPr>
                              <a:rPr lang="en-US" i="1" dirty="0">
                                <a:solidFill>
                                  <a:srgbClr val="836967"/>
                                </a:solidFill>
                                <a:latin typeface="Cambria Math" panose="02040503050406030204" pitchFamily="18" charset="0"/>
                              </a:rPr>
                            </m:ctrlPr>
                          </m:sSubPr>
                          <m:e>
                            <m:r>
                              <a:rPr lang="en-US" i="1" dirty="0">
                                <a:solidFill>
                                  <a:srgbClr val="836967"/>
                                </a:solidFill>
                                <a:latin typeface="Cambria Math" panose="02040503050406030204" pitchFamily="18" charset="0"/>
                              </a:rPr>
                              <m:t>𝐶</m:t>
                            </m:r>
                          </m:e>
                          <m:sub>
                            <m:r>
                              <a:rPr lang="en-US" i="1" dirty="0">
                                <a:solidFill>
                                  <a:srgbClr val="836967"/>
                                </a:solidFill>
                                <a:latin typeface="Cambria Math" panose="02040503050406030204" pitchFamily="18" charset="0"/>
                              </a:rPr>
                              <m:t>𝑡</m:t>
                            </m:r>
                          </m:sub>
                        </m:sSub>
                      </m:e>
                    </m:acc>
                  </m:oMath>
                </a14:m>
                <a:r>
                  <a:rPr lang="en-US" dirty="0"/>
                  <a:t> which represents the new candidate values scaled by how much we decided to update each state value.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acc>
                        <m:accPr>
                          <m:chr m:val="̂"/>
                          <m:ctrlPr>
                            <a:rPr lang="en-PK" i="1" dirty="0">
                              <a:solidFill>
                                <a:srgbClr val="836967"/>
                              </a:solidFill>
                              <a:latin typeface="Cambria Math" panose="02040503050406030204" pitchFamily="18" charset="0"/>
                            </a:rPr>
                          </m:ctrlPr>
                        </m:accPr>
                        <m:e>
                          <m:sSub>
                            <m:sSubPr>
                              <m:ctrlPr>
                                <a:rPr lang="en-US" i="1" dirty="0">
                                  <a:solidFill>
                                    <a:srgbClr val="836967"/>
                                  </a:solidFill>
                                  <a:latin typeface="Cambria Math" panose="02040503050406030204" pitchFamily="18" charset="0"/>
                                </a:rPr>
                              </m:ctrlPr>
                            </m:sSubPr>
                            <m:e>
                              <m:r>
                                <a:rPr lang="en-US" i="1" dirty="0">
                                  <a:solidFill>
                                    <a:srgbClr val="836967"/>
                                  </a:solidFill>
                                  <a:latin typeface="Cambria Math" panose="02040503050406030204" pitchFamily="18" charset="0"/>
                                </a:rPr>
                                <m:t>𝐶</m:t>
                              </m:r>
                            </m:e>
                            <m:sub>
                              <m:r>
                                <a:rPr lang="en-US" i="1" dirty="0">
                                  <a:solidFill>
                                    <a:srgbClr val="836967"/>
                                  </a:solidFill>
                                  <a:latin typeface="Cambria Math" panose="02040503050406030204" pitchFamily="18" charset="0"/>
                                </a:rPr>
                                <m:t>𝑡</m:t>
                              </m:r>
                            </m:sub>
                          </m:sSub>
                        </m:e>
                      </m:acc>
                    </m:oMath>
                  </m:oMathPara>
                </a14:m>
                <a:endParaRPr lang="en-US" dirty="0"/>
              </a:p>
              <a:p>
                <a:pPr marL="0" indent="0">
                  <a:buNone/>
                </a:pPr>
                <a:r>
                  <a:rPr lang="en-US" dirty="0"/>
                  <a:t>where</a:t>
                </a:r>
              </a:p>
              <a:p>
                <a14:m>
                  <m:oMath xmlns:m="http://schemas.openxmlformats.org/officeDocument/2006/math">
                    <m:r>
                      <a:rPr lang="en-US" b="0" i="1" smtClean="0">
                        <a:latin typeface="Cambria Math" panose="02040503050406030204" pitchFamily="18" charset="0"/>
                        <a:ea typeface="Cambria Math" panose="02040503050406030204" pitchFamily="18" charset="0"/>
                      </a:rPr>
                      <m:t>⊙ </m:t>
                    </m:r>
                  </m:oMath>
                </a14:m>
                <a:r>
                  <a:rPr lang="en-US" dirty="0"/>
                  <a:t>denotes element-wise multiplication</a:t>
                </a:r>
              </a:p>
              <a:p>
                <a:r>
                  <a:rPr lang="en-US" dirty="0"/>
                  <a:t>tanh is activation function</a:t>
                </a:r>
                <a:endParaRPr lang="en-PK" dirty="0"/>
              </a:p>
            </p:txBody>
          </p:sp>
        </mc:Choice>
        <mc:Fallback>
          <p:sp>
            <p:nvSpPr>
              <p:cNvPr id="3" name="Content Placeholder 2">
                <a:extLst>
                  <a:ext uri="{FF2B5EF4-FFF2-40B4-BE49-F238E27FC236}">
                    <a16:creationId xmlns:a16="http://schemas.microsoft.com/office/drawing/2014/main" id="{EC478A14-23AE-4B8D-ABD3-9E516BEBE686}"/>
                  </a:ext>
                </a:extLst>
              </p:cNvPr>
              <p:cNvSpPr>
                <a:spLocks noGrp="1" noRot="1" noChangeAspect="1" noMove="1" noResize="1" noEditPoints="1" noAdjustHandles="1" noChangeArrowheads="1" noChangeShapeType="1" noTextEdit="1"/>
              </p:cNvSpPr>
              <p:nvPr>
                <p:ph idx="1"/>
              </p:nvPr>
            </p:nvSpPr>
            <p:spPr>
              <a:xfrm>
                <a:off x="600075" y="1778507"/>
                <a:ext cx="11391138" cy="4650867"/>
              </a:xfrm>
              <a:blipFill>
                <a:blip r:embed="rId2"/>
                <a:stretch>
                  <a:fillRect l="-428" t="-786" r="-696"/>
                </a:stretch>
              </a:blipFill>
            </p:spPr>
            <p:txBody>
              <a:bodyPr/>
              <a:lstStyle/>
              <a:p>
                <a:r>
                  <a:rPr lang="en-PK">
                    <a:noFill/>
                  </a:rPr>
                  <a:t> </a:t>
                </a:r>
              </a:p>
            </p:txBody>
          </p:sp>
        </mc:Fallback>
      </mc:AlternateContent>
    </p:spTree>
    <p:extLst>
      <p:ext uri="{BB962C8B-B14F-4D97-AF65-F5344CB8AC3E}">
        <p14:creationId xmlns:p14="http://schemas.microsoft.com/office/powerpoint/2010/main" val="142292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76AE-DF19-4663-82AE-91C0DF242BDB}"/>
              </a:ext>
            </a:extLst>
          </p:cNvPr>
          <p:cNvSpPr>
            <a:spLocks noGrp="1"/>
          </p:cNvSpPr>
          <p:nvPr>
            <p:ph type="title"/>
          </p:nvPr>
        </p:nvSpPr>
        <p:spPr/>
        <p:txBody>
          <a:bodyPr/>
          <a:lstStyle/>
          <a:p>
            <a:r>
              <a:rPr lang="en-US"/>
              <a:t>Output gate</a:t>
            </a:r>
            <a:endParaRPr lang="en-PK"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91EEB28-62B3-40AB-8926-3B39ECD31FA8}"/>
                  </a:ext>
                </a:extLst>
              </p:cNvPr>
              <p:cNvSpPr>
                <a:spLocks noGrp="1"/>
              </p:cNvSpPr>
              <p:nvPr>
                <p:ph idx="1"/>
              </p:nvPr>
            </p:nvSpPr>
            <p:spPr>
              <a:xfrm>
                <a:off x="692658" y="1857375"/>
                <a:ext cx="11155680" cy="4374261"/>
              </a:xfrm>
            </p:spPr>
            <p:txBody>
              <a:bodyPr>
                <a:normAutofit lnSpcReduction="10000"/>
              </a:bodyPr>
              <a:lstStyle/>
              <a:p>
                <a:pPr marL="0" indent="0">
                  <a:buNone/>
                </a:pPr>
                <a:r>
                  <a:rPr lang="en-US" dirty="0"/>
                  <a:t>The output gate is responsible for deciding what part of the current cell state should be sent as the hidden state (output) for this time </a:t>
                </a:r>
                <a:r>
                  <a:rPr lang="en-US" dirty="0" err="1"/>
                  <a:t>step.First</a:t>
                </a:r>
                <a:r>
                  <a:rPr lang="en-US" dirty="0"/>
                  <a:t>, the gate uses a sigmoid function to determine which information from the current cell state will be output. This is done using the previous hidden state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oMath>
                </a14:m>
                <a:r>
                  <a:rPr lang="en-US" dirty="0"/>
                  <a:t> and the current input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r>
                      <a:rPr lang="en-US" b="0" i="0" smtClean="0">
                        <a:latin typeface="Cambria Math" panose="02040503050406030204" pitchFamily="18" charset="0"/>
                        <a:ea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smtClean="0">
                              <a:latin typeface="Cambria Math" panose="02040503050406030204" pitchFamily="18" charset="0"/>
                            </a:rPr>
                            <m:t>𝑜</m:t>
                          </m:r>
                        </m:e>
                        <m:sub>
                          <m:r>
                            <a:rPr lang="en-US"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𝑜</m:t>
                          </m:r>
                        </m:sub>
                      </m:sSub>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𝑜</m:t>
                          </m:r>
                        </m:sub>
                      </m:sSub>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Next, the current cell state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𝑡</m:t>
                        </m:r>
                      </m:sub>
                    </m:sSub>
                  </m:oMath>
                </a14:m>
                <a:r>
                  <a:rPr lang="en-US" dirty="0"/>
                  <a:t> is passed through a tanh activation to scale its values between -1 and +1. Finally, this transformed cell state is multiplied element-wise with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𝑡</m:t>
                        </m:r>
                      </m:sub>
                    </m:sSub>
                  </m:oMath>
                </a14:m>
                <a:r>
                  <a:rPr lang="en-US" dirty="0"/>
                  <a:t> to produce the hidden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𝑡</m:t>
                        </m:r>
                      </m:sub>
                    </m:sSub>
                  </m:oMath>
                </a14:m>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Here:</a:t>
                </a:r>
              </a:p>
              <a:p>
                <a14:m>
                  <m:oMath xmlns:m="http://schemas.openxmlformats.org/officeDocument/2006/math">
                    <m:sSub>
                      <m:sSubPr>
                        <m:ctrlPr>
                          <a:rPr lang="en-US" i="1" smtClean="0">
                            <a:solidFill>
                              <a:srgbClr val="836967"/>
                            </a:solidFill>
                            <a:latin typeface="Cambria Math" panose="02040503050406030204" pitchFamily="18" charset="0"/>
                          </a:rPr>
                        </m:ctrlPr>
                      </m:sSubPr>
                      <m:e>
                        <m:r>
                          <a:rPr lang="en-US" i="1" smtClean="0">
                            <a:latin typeface="Cambria Math" panose="02040503050406030204" pitchFamily="18" charset="0"/>
                          </a:rPr>
                          <m:t>𝑜</m:t>
                        </m:r>
                      </m:e>
                      <m:sub>
                        <m:r>
                          <a:rPr lang="en-US" i="1" smtClean="0">
                            <a:latin typeface="Cambria Math" panose="02040503050406030204" pitchFamily="18" charset="0"/>
                          </a:rPr>
                          <m:t>𝑡</m:t>
                        </m:r>
                      </m:sub>
                    </m:sSub>
                  </m:oMath>
                </a14:m>
                <a:r>
                  <a:rPr lang="en-US" dirty="0"/>
                  <a:t> is the output gate activation.</a:t>
                </a:r>
              </a:p>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𝑡</m:t>
                        </m:r>
                      </m:sub>
                    </m:sSub>
                  </m:oMath>
                </a14:m>
                <a:r>
                  <a:rPr lang="en-US" dirty="0"/>
                  <a:t> is the current cell state.</a:t>
                </a:r>
              </a:p>
              <a:p>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 represents element-wise multiplication.</a:t>
                </a:r>
              </a:p>
              <a:p>
                <a14:m>
                  <m:oMath xmlns:m="http://schemas.openxmlformats.org/officeDocument/2006/math">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oMath>
                </a14:m>
                <a:r>
                  <a:rPr lang="en-US" dirty="0"/>
                  <a:t>is the sigmoid activation function.</a:t>
                </a:r>
              </a:p>
              <a:p>
                <a:pPr marL="0" indent="0">
                  <a:buNone/>
                </a:pPr>
                <a:endParaRPr lang="en-PK" dirty="0"/>
              </a:p>
            </p:txBody>
          </p:sp>
        </mc:Choice>
        <mc:Fallback>
          <p:sp>
            <p:nvSpPr>
              <p:cNvPr id="3" name="Content Placeholder 2">
                <a:extLst>
                  <a:ext uri="{FF2B5EF4-FFF2-40B4-BE49-F238E27FC236}">
                    <a16:creationId xmlns:a16="http://schemas.microsoft.com/office/drawing/2014/main" id="{991EEB28-62B3-40AB-8926-3B39ECD31FA8}"/>
                  </a:ext>
                </a:extLst>
              </p:cNvPr>
              <p:cNvSpPr>
                <a:spLocks noGrp="1" noRot="1" noChangeAspect="1" noMove="1" noResize="1" noEditPoints="1" noAdjustHandles="1" noChangeArrowheads="1" noChangeShapeType="1" noTextEdit="1"/>
              </p:cNvSpPr>
              <p:nvPr>
                <p:ph idx="1"/>
              </p:nvPr>
            </p:nvSpPr>
            <p:spPr>
              <a:xfrm>
                <a:off x="692658" y="1857375"/>
                <a:ext cx="11155680" cy="4374261"/>
              </a:xfrm>
              <a:blipFill>
                <a:blip r:embed="rId2"/>
                <a:stretch>
                  <a:fillRect l="-492" t="-837" r="-820"/>
                </a:stretch>
              </a:blipFill>
            </p:spPr>
            <p:txBody>
              <a:bodyPr/>
              <a:lstStyle/>
              <a:p>
                <a:r>
                  <a:rPr lang="en-PK">
                    <a:noFill/>
                  </a:rPr>
                  <a:t> </a:t>
                </a:r>
              </a:p>
            </p:txBody>
          </p:sp>
        </mc:Fallback>
      </mc:AlternateContent>
    </p:spTree>
    <p:extLst>
      <p:ext uri="{BB962C8B-B14F-4D97-AF65-F5344CB8AC3E}">
        <p14:creationId xmlns:p14="http://schemas.microsoft.com/office/powerpoint/2010/main" val="2686357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45742-ABE8-4E1E-8BDF-5FC99460293A}"/>
              </a:ext>
            </a:extLst>
          </p:cNvPr>
          <p:cNvSpPr>
            <a:spLocks noGrp="1"/>
          </p:cNvSpPr>
          <p:nvPr>
            <p:ph type="title"/>
          </p:nvPr>
        </p:nvSpPr>
        <p:spPr/>
        <p:txBody>
          <a:bodyPr/>
          <a:lstStyle/>
          <a:p>
            <a:r>
              <a:rPr lang="en-US" dirty="0"/>
              <a:t>Applications of LSTM</a:t>
            </a:r>
            <a:endParaRPr lang="en-PK" dirty="0"/>
          </a:p>
        </p:txBody>
      </p:sp>
      <p:graphicFrame>
        <p:nvGraphicFramePr>
          <p:cNvPr id="13" name="Content Placeholder 2">
            <a:extLst>
              <a:ext uri="{FF2B5EF4-FFF2-40B4-BE49-F238E27FC236}">
                <a16:creationId xmlns:a16="http://schemas.microsoft.com/office/drawing/2014/main" id="{C46EB090-59A8-FED3-241E-BBD2DCC00DF1}"/>
              </a:ext>
            </a:extLst>
          </p:cNvPr>
          <p:cNvGraphicFramePr>
            <a:graphicFrameLocks noGrp="1"/>
          </p:cNvGraphicFramePr>
          <p:nvPr>
            <p:ph idx="1"/>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357796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111</TotalTime>
  <Words>817</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Bierstadt</vt:lpstr>
      <vt:lpstr>Cambria Math</vt:lpstr>
      <vt:lpstr>Neue Haas Grotesk Text Pro</vt:lpstr>
      <vt:lpstr>Nunito</vt:lpstr>
      <vt:lpstr>Wingdings</vt:lpstr>
      <vt:lpstr>GestaltVTI</vt:lpstr>
      <vt:lpstr>Long Short Term Memory(LSTM)</vt:lpstr>
      <vt:lpstr>LSTM</vt:lpstr>
      <vt:lpstr>Problem with Long-Term Dependencies in RNN</vt:lpstr>
      <vt:lpstr>Problem with Long-Term Dependencies in RNN</vt:lpstr>
      <vt:lpstr>LSTM Architecture</vt:lpstr>
      <vt:lpstr>LSTM Working</vt:lpstr>
      <vt:lpstr>Forget Gate</vt:lpstr>
      <vt:lpstr>Input gate</vt:lpstr>
      <vt:lpstr>Output gate</vt:lpstr>
      <vt:lpstr>Applications of LSTM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 Short Term Memory(LSTM)</dc:title>
  <dc:creator>Muhammad Jahanzaib Khan</dc:creator>
  <cp:lastModifiedBy>Muhammad Jahanzaib Khan</cp:lastModifiedBy>
  <cp:revision>9</cp:revision>
  <dcterms:created xsi:type="dcterms:W3CDTF">2025-09-16T03:32:21Z</dcterms:created>
  <dcterms:modified xsi:type="dcterms:W3CDTF">2025-09-16T05:24:06Z</dcterms:modified>
</cp:coreProperties>
</file>