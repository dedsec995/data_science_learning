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5" d="100"/>
          <a:sy n="65" d="100"/>
        </p:scale>
        <p:origin x="102"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2149DBC-D50A-4842-99E2-F6883CC1351E}"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1F18FB26-C4DD-41EB-9D72-08E74395C457}">
      <dgm:prSet/>
      <dgm:spPr/>
      <dgm:t>
        <a:bodyPr/>
        <a:lstStyle/>
        <a:p>
          <a:pPr algn="just"/>
          <a:r>
            <a:rPr lang="en-US" dirty="0"/>
            <a:t>Gated Recurrent Units (GRUs) are a type of RNN introduced by Cho et al. in 2014. The core idea behind GRUs is to use gating mechanisms to selectively update the hidden state at each time step allowing them to remember important information while discarding irrelevant details. GRUs aim to simplify the LSTM architecture by merging some of its components and focusing on just two main gates: </a:t>
          </a:r>
        </a:p>
      </dgm:t>
    </dgm:pt>
    <dgm:pt modelId="{6747A166-5F24-42C3-BBC8-CD41B3550EB7}" type="parTrans" cxnId="{D496EE6C-7201-4568-ABEA-863194BB5DEB}">
      <dgm:prSet/>
      <dgm:spPr/>
      <dgm:t>
        <a:bodyPr/>
        <a:lstStyle/>
        <a:p>
          <a:endParaRPr lang="en-US"/>
        </a:p>
      </dgm:t>
    </dgm:pt>
    <dgm:pt modelId="{A527745D-34DA-4022-89FA-05C0C471DCFA}" type="sibTrans" cxnId="{D496EE6C-7201-4568-ABEA-863194BB5DEB}">
      <dgm:prSet/>
      <dgm:spPr/>
      <dgm:t>
        <a:bodyPr/>
        <a:lstStyle/>
        <a:p>
          <a:endParaRPr lang="en-US"/>
        </a:p>
      </dgm:t>
    </dgm:pt>
    <dgm:pt modelId="{25188DB3-9DD4-4736-AAAC-3DD03425065D}">
      <dgm:prSet/>
      <dgm:spPr/>
      <dgm:t>
        <a:bodyPr/>
        <a:lstStyle/>
        <a:p>
          <a:r>
            <a:rPr lang="en-US" dirty="0"/>
            <a:t>Update gate </a:t>
          </a:r>
        </a:p>
      </dgm:t>
    </dgm:pt>
    <dgm:pt modelId="{D6F9E645-7D5D-4754-B889-890BCD71AF58}" type="parTrans" cxnId="{923B4008-ADEE-45F1-8CCF-4BC871B20B6D}">
      <dgm:prSet/>
      <dgm:spPr/>
      <dgm:t>
        <a:bodyPr/>
        <a:lstStyle/>
        <a:p>
          <a:endParaRPr lang="en-US"/>
        </a:p>
      </dgm:t>
    </dgm:pt>
    <dgm:pt modelId="{EFB37D52-A4F1-4537-A3C7-ED4B594C9B66}" type="sibTrans" cxnId="{923B4008-ADEE-45F1-8CCF-4BC871B20B6D}">
      <dgm:prSet/>
      <dgm:spPr/>
      <dgm:t>
        <a:bodyPr/>
        <a:lstStyle/>
        <a:p>
          <a:endParaRPr lang="en-US"/>
        </a:p>
      </dgm:t>
    </dgm:pt>
    <dgm:pt modelId="{91CEFCF2-D957-4D83-9068-3EB03BA8305D}">
      <dgm:prSet/>
      <dgm:spPr/>
      <dgm:t>
        <a:bodyPr/>
        <a:lstStyle/>
        <a:p>
          <a:r>
            <a:rPr lang="en-US" dirty="0"/>
            <a:t>Reset gate.</a:t>
          </a:r>
        </a:p>
      </dgm:t>
    </dgm:pt>
    <dgm:pt modelId="{A85DB601-7746-45DF-BFB0-8DEA13B33611}" type="parTrans" cxnId="{F0045A10-3484-40B7-AA4E-B0AB346BB446}">
      <dgm:prSet/>
      <dgm:spPr/>
      <dgm:t>
        <a:bodyPr/>
        <a:lstStyle/>
        <a:p>
          <a:endParaRPr lang="en-US"/>
        </a:p>
      </dgm:t>
    </dgm:pt>
    <dgm:pt modelId="{9D82C158-B517-4DCF-BD1F-81EEA82834F1}" type="sibTrans" cxnId="{F0045A10-3484-40B7-AA4E-B0AB346BB446}">
      <dgm:prSet/>
      <dgm:spPr/>
      <dgm:t>
        <a:bodyPr/>
        <a:lstStyle/>
        <a:p>
          <a:endParaRPr lang="en-US"/>
        </a:p>
      </dgm:t>
    </dgm:pt>
    <dgm:pt modelId="{FC4BD997-FBCA-437B-8131-5FC82776FDF7}" type="pres">
      <dgm:prSet presAssocID="{82149DBC-D50A-4842-99E2-F6883CC1351E}" presName="vert0" presStyleCnt="0">
        <dgm:presLayoutVars>
          <dgm:dir/>
          <dgm:animOne val="branch"/>
          <dgm:animLvl val="lvl"/>
        </dgm:presLayoutVars>
      </dgm:prSet>
      <dgm:spPr/>
    </dgm:pt>
    <dgm:pt modelId="{006599AB-2A81-4366-98EB-E32AA94193AD}" type="pres">
      <dgm:prSet presAssocID="{1F18FB26-C4DD-41EB-9D72-08E74395C457}" presName="thickLine" presStyleLbl="alignNode1" presStyleIdx="0" presStyleCnt="3"/>
      <dgm:spPr/>
    </dgm:pt>
    <dgm:pt modelId="{574B4A67-27EE-4F98-9555-8ED3FA2763DF}" type="pres">
      <dgm:prSet presAssocID="{1F18FB26-C4DD-41EB-9D72-08E74395C457}" presName="horz1" presStyleCnt="0"/>
      <dgm:spPr/>
    </dgm:pt>
    <dgm:pt modelId="{569A17AA-8C36-43B5-849F-175957B99FE1}" type="pres">
      <dgm:prSet presAssocID="{1F18FB26-C4DD-41EB-9D72-08E74395C457}" presName="tx1" presStyleLbl="revTx" presStyleIdx="0" presStyleCnt="3"/>
      <dgm:spPr/>
    </dgm:pt>
    <dgm:pt modelId="{53E6EA05-D4C5-4F86-B50C-CB45B6E6C327}" type="pres">
      <dgm:prSet presAssocID="{1F18FB26-C4DD-41EB-9D72-08E74395C457}" presName="vert1" presStyleCnt="0"/>
      <dgm:spPr/>
    </dgm:pt>
    <dgm:pt modelId="{EBAFFB14-CC82-41BD-9DD2-D575EA842A3F}" type="pres">
      <dgm:prSet presAssocID="{25188DB3-9DD4-4736-AAAC-3DD03425065D}" presName="thickLine" presStyleLbl="alignNode1" presStyleIdx="1" presStyleCnt="3"/>
      <dgm:spPr/>
    </dgm:pt>
    <dgm:pt modelId="{F081F076-7D4A-4DAC-B2AF-A04768C19A0C}" type="pres">
      <dgm:prSet presAssocID="{25188DB3-9DD4-4736-AAAC-3DD03425065D}" presName="horz1" presStyleCnt="0"/>
      <dgm:spPr/>
    </dgm:pt>
    <dgm:pt modelId="{AF8A6A65-7718-40E8-B6D0-096D6689BFC1}" type="pres">
      <dgm:prSet presAssocID="{25188DB3-9DD4-4736-AAAC-3DD03425065D}" presName="tx1" presStyleLbl="revTx" presStyleIdx="1" presStyleCnt="3" custScaleY="32578" custLinFactNeighborY="-980"/>
      <dgm:spPr/>
    </dgm:pt>
    <dgm:pt modelId="{8D1A9EAF-A72E-494E-B4BC-0342B379415C}" type="pres">
      <dgm:prSet presAssocID="{25188DB3-9DD4-4736-AAAC-3DD03425065D}" presName="vert1" presStyleCnt="0"/>
      <dgm:spPr/>
    </dgm:pt>
    <dgm:pt modelId="{DABCF540-2B31-46A3-BB28-FDB15663923B}" type="pres">
      <dgm:prSet presAssocID="{91CEFCF2-D957-4D83-9068-3EB03BA8305D}" presName="thickLine" presStyleLbl="alignNode1" presStyleIdx="2" presStyleCnt="3"/>
      <dgm:spPr/>
    </dgm:pt>
    <dgm:pt modelId="{E8B9F2C8-972D-4297-882E-1156E2EFCBBF}" type="pres">
      <dgm:prSet presAssocID="{91CEFCF2-D957-4D83-9068-3EB03BA8305D}" presName="horz1" presStyleCnt="0"/>
      <dgm:spPr/>
    </dgm:pt>
    <dgm:pt modelId="{362AA501-EB64-48C9-9A74-7F8EE9DE1E6A}" type="pres">
      <dgm:prSet presAssocID="{91CEFCF2-D957-4D83-9068-3EB03BA8305D}" presName="tx1" presStyleLbl="revTx" presStyleIdx="2" presStyleCnt="3" custScaleY="29586"/>
      <dgm:spPr/>
    </dgm:pt>
    <dgm:pt modelId="{F0CF35D3-38FC-4BA6-9259-299860E23C8D}" type="pres">
      <dgm:prSet presAssocID="{91CEFCF2-D957-4D83-9068-3EB03BA8305D}" presName="vert1" presStyleCnt="0"/>
      <dgm:spPr/>
    </dgm:pt>
  </dgm:ptLst>
  <dgm:cxnLst>
    <dgm:cxn modelId="{923B4008-ADEE-45F1-8CCF-4BC871B20B6D}" srcId="{82149DBC-D50A-4842-99E2-F6883CC1351E}" destId="{25188DB3-9DD4-4736-AAAC-3DD03425065D}" srcOrd="1" destOrd="0" parTransId="{D6F9E645-7D5D-4754-B889-890BCD71AF58}" sibTransId="{EFB37D52-A4F1-4537-A3C7-ED4B594C9B66}"/>
    <dgm:cxn modelId="{F0045A10-3484-40B7-AA4E-B0AB346BB446}" srcId="{82149DBC-D50A-4842-99E2-F6883CC1351E}" destId="{91CEFCF2-D957-4D83-9068-3EB03BA8305D}" srcOrd="2" destOrd="0" parTransId="{A85DB601-7746-45DF-BFB0-8DEA13B33611}" sibTransId="{9D82C158-B517-4DCF-BD1F-81EEA82834F1}"/>
    <dgm:cxn modelId="{85A09721-1457-40F4-86B4-44A1D78D660B}" type="presOf" srcId="{25188DB3-9DD4-4736-AAAC-3DD03425065D}" destId="{AF8A6A65-7718-40E8-B6D0-096D6689BFC1}" srcOrd="0" destOrd="0" presId="urn:microsoft.com/office/officeart/2008/layout/LinedList"/>
    <dgm:cxn modelId="{CAF1B42B-5432-4A72-9A92-C9043747B121}" type="presOf" srcId="{1F18FB26-C4DD-41EB-9D72-08E74395C457}" destId="{569A17AA-8C36-43B5-849F-175957B99FE1}" srcOrd="0" destOrd="0" presId="urn:microsoft.com/office/officeart/2008/layout/LinedList"/>
    <dgm:cxn modelId="{D496EE6C-7201-4568-ABEA-863194BB5DEB}" srcId="{82149DBC-D50A-4842-99E2-F6883CC1351E}" destId="{1F18FB26-C4DD-41EB-9D72-08E74395C457}" srcOrd="0" destOrd="0" parTransId="{6747A166-5F24-42C3-BBC8-CD41B3550EB7}" sibTransId="{A527745D-34DA-4022-89FA-05C0C471DCFA}"/>
    <dgm:cxn modelId="{E49943B5-6079-47DC-B4F3-16246B6DF161}" type="presOf" srcId="{91CEFCF2-D957-4D83-9068-3EB03BA8305D}" destId="{362AA501-EB64-48C9-9A74-7F8EE9DE1E6A}" srcOrd="0" destOrd="0" presId="urn:microsoft.com/office/officeart/2008/layout/LinedList"/>
    <dgm:cxn modelId="{FD0157BC-9CD7-4FFB-A04D-CC38DF6DA742}" type="presOf" srcId="{82149DBC-D50A-4842-99E2-F6883CC1351E}" destId="{FC4BD997-FBCA-437B-8131-5FC82776FDF7}" srcOrd="0" destOrd="0" presId="urn:microsoft.com/office/officeart/2008/layout/LinedList"/>
    <dgm:cxn modelId="{B5A0E27E-8B54-4BED-B86F-5C15FB234AAB}" type="presParOf" srcId="{FC4BD997-FBCA-437B-8131-5FC82776FDF7}" destId="{006599AB-2A81-4366-98EB-E32AA94193AD}" srcOrd="0" destOrd="0" presId="urn:microsoft.com/office/officeart/2008/layout/LinedList"/>
    <dgm:cxn modelId="{1165F99B-5A20-4506-8408-2F144CC3E246}" type="presParOf" srcId="{FC4BD997-FBCA-437B-8131-5FC82776FDF7}" destId="{574B4A67-27EE-4F98-9555-8ED3FA2763DF}" srcOrd="1" destOrd="0" presId="urn:microsoft.com/office/officeart/2008/layout/LinedList"/>
    <dgm:cxn modelId="{19A96F38-0193-4DF3-B1C4-471FD3873E5A}" type="presParOf" srcId="{574B4A67-27EE-4F98-9555-8ED3FA2763DF}" destId="{569A17AA-8C36-43B5-849F-175957B99FE1}" srcOrd="0" destOrd="0" presId="urn:microsoft.com/office/officeart/2008/layout/LinedList"/>
    <dgm:cxn modelId="{191393F8-D156-43D8-BBB5-CC7DDFF25D5F}" type="presParOf" srcId="{574B4A67-27EE-4F98-9555-8ED3FA2763DF}" destId="{53E6EA05-D4C5-4F86-B50C-CB45B6E6C327}" srcOrd="1" destOrd="0" presId="urn:microsoft.com/office/officeart/2008/layout/LinedList"/>
    <dgm:cxn modelId="{B018961F-0546-4D5F-A23B-1640BE26B420}" type="presParOf" srcId="{FC4BD997-FBCA-437B-8131-5FC82776FDF7}" destId="{EBAFFB14-CC82-41BD-9DD2-D575EA842A3F}" srcOrd="2" destOrd="0" presId="urn:microsoft.com/office/officeart/2008/layout/LinedList"/>
    <dgm:cxn modelId="{01D25144-AB67-47E9-9AA8-9572380EC2ED}" type="presParOf" srcId="{FC4BD997-FBCA-437B-8131-5FC82776FDF7}" destId="{F081F076-7D4A-4DAC-B2AF-A04768C19A0C}" srcOrd="3" destOrd="0" presId="urn:microsoft.com/office/officeart/2008/layout/LinedList"/>
    <dgm:cxn modelId="{063292FD-5C4B-4CAB-A39A-2E7830062140}" type="presParOf" srcId="{F081F076-7D4A-4DAC-B2AF-A04768C19A0C}" destId="{AF8A6A65-7718-40E8-B6D0-096D6689BFC1}" srcOrd="0" destOrd="0" presId="urn:microsoft.com/office/officeart/2008/layout/LinedList"/>
    <dgm:cxn modelId="{85C1D92A-A1D3-4991-B6C2-A7CC09A7C6A3}" type="presParOf" srcId="{F081F076-7D4A-4DAC-B2AF-A04768C19A0C}" destId="{8D1A9EAF-A72E-494E-B4BC-0342B379415C}" srcOrd="1" destOrd="0" presId="urn:microsoft.com/office/officeart/2008/layout/LinedList"/>
    <dgm:cxn modelId="{B63594EC-034E-4BA2-A212-1788834E2936}" type="presParOf" srcId="{FC4BD997-FBCA-437B-8131-5FC82776FDF7}" destId="{DABCF540-2B31-46A3-BB28-FDB15663923B}" srcOrd="4" destOrd="0" presId="urn:microsoft.com/office/officeart/2008/layout/LinedList"/>
    <dgm:cxn modelId="{0521A50D-3C49-4C1E-8354-D30AF8C2BA3E}" type="presParOf" srcId="{FC4BD997-FBCA-437B-8131-5FC82776FDF7}" destId="{E8B9F2C8-972D-4297-882E-1156E2EFCBBF}" srcOrd="5" destOrd="0" presId="urn:microsoft.com/office/officeart/2008/layout/LinedList"/>
    <dgm:cxn modelId="{9DF05FE0-6503-4EC6-A874-D08E2A7D7A1B}" type="presParOf" srcId="{E8B9F2C8-972D-4297-882E-1156E2EFCBBF}" destId="{362AA501-EB64-48C9-9A74-7F8EE9DE1E6A}" srcOrd="0" destOrd="0" presId="urn:microsoft.com/office/officeart/2008/layout/LinedList"/>
    <dgm:cxn modelId="{0D7C1331-CFDA-4FCD-AC7E-346BF236662B}" type="presParOf" srcId="{E8B9F2C8-972D-4297-882E-1156E2EFCBBF}" destId="{F0CF35D3-38FC-4BA6-9259-299860E23C8D}"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6599AB-2A81-4366-98EB-E32AA94193AD}">
      <dsp:nvSpPr>
        <dsp:cNvPr id="0" name=""/>
        <dsp:cNvSpPr/>
      </dsp:nvSpPr>
      <dsp:spPr>
        <a:xfrm>
          <a:off x="0" y="1643"/>
          <a:ext cx="660215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69A17AA-8C36-43B5-849F-175957B99FE1}">
      <dsp:nvSpPr>
        <dsp:cNvPr id="0" name=""/>
        <dsp:cNvSpPr/>
      </dsp:nvSpPr>
      <dsp:spPr>
        <a:xfrm>
          <a:off x="0" y="1643"/>
          <a:ext cx="6602154" cy="27835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just" defTabSz="889000">
            <a:lnSpc>
              <a:spcPct val="90000"/>
            </a:lnSpc>
            <a:spcBef>
              <a:spcPct val="0"/>
            </a:spcBef>
            <a:spcAft>
              <a:spcPct val="35000"/>
            </a:spcAft>
            <a:buNone/>
          </a:pPr>
          <a:r>
            <a:rPr lang="en-US" sz="2000" kern="1200" dirty="0"/>
            <a:t>Gated Recurrent Units (GRUs) are a type of RNN introduced by Cho et al. in 2014. The core idea behind GRUs is to use gating mechanisms to selectively update the hidden state at each time step allowing them to remember important information while discarding irrelevant details. GRUs aim to simplify the LSTM architecture by merging some of its components and focusing on just two main gates: </a:t>
          </a:r>
        </a:p>
      </dsp:txBody>
      <dsp:txXfrm>
        <a:off x="0" y="1643"/>
        <a:ext cx="6602154" cy="2783508"/>
      </dsp:txXfrm>
    </dsp:sp>
    <dsp:sp modelId="{EBAFFB14-CC82-41BD-9DD2-D575EA842A3F}">
      <dsp:nvSpPr>
        <dsp:cNvPr id="0" name=""/>
        <dsp:cNvSpPr/>
      </dsp:nvSpPr>
      <dsp:spPr>
        <a:xfrm>
          <a:off x="0" y="2785152"/>
          <a:ext cx="660215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F8A6A65-7718-40E8-B6D0-096D6689BFC1}">
      <dsp:nvSpPr>
        <dsp:cNvPr id="0" name=""/>
        <dsp:cNvSpPr/>
      </dsp:nvSpPr>
      <dsp:spPr>
        <a:xfrm>
          <a:off x="0" y="2757873"/>
          <a:ext cx="6602154" cy="9068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Update gate </a:t>
          </a:r>
        </a:p>
      </dsp:txBody>
      <dsp:txXfrm>
        <a:off x="0" y="2757873"/>
        <a:ext cx="6602154" cy="906811"/>
      </dsp:txXfrm>
    </dsp:sp>
    <dsp:sp modelId="{DABCF540-2B31-46A3-BB28-FDB15663923B}">
      <dsp:nvSpPr>
        <dsp:cNvPr id="0" name=""/>
        <dsp:cNvSpPr/>
      </dsp:nvSpPr>
      <dsp:spPr>
        <a:xfrm>
          <a:off x="0" y="3691963"/>
          <a:ext cx="660215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2AA501-EB64-48C9-9A74-7F8EE9DE1E6A}">
      <dsp:nvSpPr>
        <dsp:cNvPr id="0" name=""/>
        <dsp:cNvSpPr/>
      </dsp:nvSpPr>
      <dsp:spPr>
        <a:xfrm>
          <a:off x="0" y="3691963"/>
          <a:ext cx="6602154" cy="823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Reset gate.</a:t>
          </a:r>
        </a:p>
      </dsp:txBody>
      <dsp:txXfrm>
        <a:off x="0" y="3691963"/>
        <a:ext cx="6602154" cy="823528"/>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9/16/2025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74678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9/16/2025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67464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9/16/2025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95362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9/16/2025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16687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9/16/2025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12143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9/16/2025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4317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9/16/2025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51497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9/16/2025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1961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9/16/2025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63865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9/16/2025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16296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9/16/2025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56653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9/16/2025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3363671036"/>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7">
            <a:extLst>
              <a:ext uri="{FF2B5EF4-FFF2-40B4-BE49-F238E27FC236}">
                <a16:creationId xmlns:a16="http://schemas.microsoft.com/office/drawing/2014/main" id="{1A32057F-F015-B1B2-4E3E-2307F8EFC9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D8DC94-52EA-4E0A-9326-1DA3008BC18F}"/>
              </a:ext>
            </a:extLst>
          </p:cNvPr>
          <p:cNvSpPr>
            <a:spLocks noGrp="1"/>
          </p:cNvSpPr>
          <p:nvPr>
            <p:ph type="ctrTitle"/>
          </p:nvPr>
        </p:nvSpPr>
        <p:spPr>
          <a:xfrm>
            <a:off x="7168896" y="1129554"/>
            <a:ext cx="4361688" cy="3475236"/>
          </a:xfrm>
        </p:spPr>
        <p:txBody>
          <a:bodyPr>
            <a:normAutofit/>
          </a:bodyPr>
          <a:lstStyle/>
          <a:p>
            <a:pPr algn="l"/>
            <a:r>
              <a:rPr lang="en-US" sz="5400" b="1" i="0">
                <a:effectLst/>
                <a:latin typeface="Nunito" pitchFamily="2" charset="0"/>
              </a:rPr>
              <a:t>Gated Recurrent Units (GRU)</a:t>
            </a:r>
            <a:endParaRPr lang="en-PK" sz="5400"/>
          </a:p>
        </p:txBody>
      </p:sp>
      <p:pic>
        <p:nvPicPr>
          <p:cNvPr id="26" name="Picture 2">
            <a:extLst>
              <a:ext uri="{FF2B5EF4-FFF2-40B4-BE49-F238E27FC236}">
                <a16:creationId xmlns:a16="http://schemas.microsoft.com/office/drawing/2014/main" id="{FAB2C097-4124-B074-CEFD-065C5532FBDC}"/>
              </a:ext>
            </a:extLst>
          </p:cNvPr>
          <p:cNvPicPr>
            <a:picLocks noChangeAspect="1"/>
          </p:cNvPicPr>
          <p:nvPr/>
        </p:nvPicPr>
        <p:blipFill>
          <a:blip r:embed="rId2"/>
          <a:srcRect l="4647" r="23442"/>
          <a:stretch>
            <a:fillRect/>
          </a:stretch>
        </p:blipFill>
        <p:spPr>
          <a:xfrm>
            <a:off x="20" y="1"/>
            <a:ext cx="6575591" cy="6858000"/>
          </a:xfrm>
          <a:prstGeom prst="rect">
            <a:avLst/>
          </a:prstGeom>
        </p:spPr>
      </p:pic>
    </p:spTree>
    <p:extLst>
      <p:ext uri="{BB962C8B-B14F-4D97-AF65-F5344CB8AC3E}">
        <p14:creationId xmlns:p14="http://schemas.microsoft.com/office/powerpoint/2010/main" val="2328469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9">
            <a:extLst>
              <a:ext uri="{FF2B5EF4-FFF2-40B4-BE49-F238E27FC236}">
                <a16:creationId xmlns:a16="http://schemas.microsoft.com/office/drawing/2014/main" id="{43867147-1C83-BF71-39B0-B590EE7F34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C9D7E8-6DBB-4B0C-9291-B7A851BE2173}"/>
              </a:ext>
            </a:extLst>
          </p:cNvPr>
          <p:cNvSpPr>
            <a:spLocks noGrp="1"/>
          </p:cNvSpPr>
          <p:nvPr>
            <p:ph type="title"/>
          </p:nvPr>
        </p:nvSpPr>
        <p:spPr>
          <a:xfrm>
            <a:off x="614678" y="548640"/>
            <a:ext cx="10872216" cy="1133856"/>
          </a:xfrm>
        </p:spPr>
        <p:txBody>
          <a:bodyPr anchor="t">
            <a:normAutofit/>
          </a:bodyPr>
          <a:lstStyle/>
          <a:p>
            <a:r>
              <a:rPr lang="en-US" b="1" i="0">
                <a:effectLst/>
                <a:latin typeface="Nunito" pitchFamily="2" charset="0"/>
              </a:rPr>
              <a:t>What are Gated Recurrent Units (GRU)</a:t>
            </a:r>
            <a:endParaRPr lang="en-PK" dirty="0"/>
          </a:p>
        </p:txBody>
      </p:sp>
      <p:pic>
        <p:nvPicPr>
          <p:cNvPr id="5" name="Picture 4" descr="A diagram of a process&#10;&#10;AI-generated content may be incorrect.">
            <a:extLst>
              <a:ext uri="{FF2B5EF4-FFF2-40B4-BE49-F238E27FC236}">
                <a16:creationId xmlns:a16="http://schemas.microsoft.com/office/drawing/2014/main" id="{57487BE1-8261-4766-9F88-215BD0CFF35F}"/>
              </a:ext>
            </a:extLst>
          </p:cNvPr>
          <p:cNvPicPr>
            <a:picLocks noChangeAspect="1"/>
          </p:cNvPicPr>
          <p:nvPr/>
        </p:nvPicPr>
        <p:blipFill>
          <a:blip r:embed="rId2"/>
          <a:stretch>
            <a:fillRect/>
          </a:stretch>
        </p:blipFill>
        <p:spPr>
          <a:xfrm>
            <a:off x="775765" y="2323165"/>
            <a:ext cx="3698530" cy="1806823"/>
          </a:xfrm>
          <a:prstGeom prst="rect">
            <a:avLst/>
          </a:prstGeom>
        </p:spPr>
      </p:pic>
      <p:graphicFrame>
        <p:nvGraphicFramePr>
          <p:cNvPr id="14" name="Content Placeholder 2">
            <a:extLst>
              <a:ext uri="{FF2B5EF4-FFF2-40B4-BE49-F238E27FC236}">
                <a16:creationId xmlns:a16="http://schemas.microsoft.com/office/drawing/2014/main" id="{A11139A7-EA83-BB7E-538A-9784C6608C7C}"/>
              </a:ext>
            </a:extLst>
          </p:cNvPr>
          <p:cNvGraphicFramePr>
            <a:graphicFrameLocks noGrp="1"/>
          </p:cNvGraphicFramePr>
          <p:nvPr>
            <p:ph idx="1"/>
            <p:extLst>
              <p:ext uri="{D42A27DB-BD31-4B8C-83A1-F6EECF244321}">
                <p14:modId xmlns:p14="http://schemas.microsoft.com/office/powerpoint/2010/main" val="2500131143"/>
              </p:ext>
            </p:extLst>
          </p:nvPr>
        </p:nvGraphicFramePr>
        <p:xfrm>
          <a:off x="4882551" y="1792224"/>
          <a:ext cx="6602154" cy="45171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27019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3867147-1C83-BF71-39B0-B590EE7F34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8E59E4-280E-45B8-B12D-C09E4A010775}"/>
              </a:ext>
            </a:extLst>
          </p:cNvPr>
          <p:cNvSpPr>
            <a:spLocks noGrp="1"/>
          </p:cNvSpPr>
          <p:nvPr>
            <p:ph type="title"/>
          </p:nvPr>
        </p:nvSpPr>
        <p:spPr>
          <a:xfrm>
            <a:off x="614678" y="548640"/>
            <a:ext cx="10872216" cy="1133856"/>
          </a:xfrm>
        </p:spPr>
        <p:txBody>
          <a:bodyPr anchor="t">
            <a:normAutofit/>
          </a:bodyPr>
          <a:lstStyle/>
          <a:p>
            <a:r>
              <a:rPr lang="en-US" dirty="0"/>
              <a:t>Working of GRU</a:t>
            </a:r>
            <a:endParaRPr lang="en-PK" dirty="0"/>
          </a:p>
        </p:txBody>
      </p:sp>
      <p:pic>
        <p:nvPicPr>
          <p:cNvPr id="7" name="Graphic 6" descr="Handshake">
            <a:extLst>
              <a:ext uri="{FF2B5EF4-FFF2-40B4-BE49-F238E27FC236}">
                <a16:creationId xmlns:a16="http://schemas.microsoft.com/office/drawing/2014/main" id="{5081F105-FDC5-CF80-1E55-58FF29177F4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520" y="1792223"/>
            <a:ext cx="3698530" cy="3698530"/>
          </a:xfrm>
          <a:prstGeom prst="rect">
            <a:avLst/>
          </a:prstGeom>
        </p:spPr>
      </p:pic>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7DB1AFD-C605-4C4C-9D03-7C197886F0CD}"/>
                  </a:ext>
                </a:extLst>
              </p:cNvPr>
              <p:cNvSpPr>
                <a:spLocks noGrp="1"/>
              </p:cNvSpPr>
              <p:nvPr>
                <p:ph idx="1"/>
              </p:nvPr>
            </p:nvSpPr>
            <p:spPr>
              <a:xfrm>
                <a:off x="4882551" y="1792224"/>
                <a:ext cx="6602154" cy="4517136"/>
              </a:xfrm>
            </p:spPr>
            <p:txBody>
              <a:bodyPr anchor="t">
                <a:normAutofit/>
              </a:bodyPr>
              <a:lstStyle/>
              <a:p>
                <a:pPr marL="0" indent="0">
                  <a:buNone/>
                </a:pPr>
                <a:r>
                  <a:rPr lang="en-US" sz="1800" dirty="0"/>
                  <a:t>The GRU consists of two main gates:</a:t>
                </a:r>
              </a:p>
              <a:p>
                <a:pPr marL="0" indent="0">
                  <a:buNone/>
                </a:pPr>
                <a:r>
                  <a:rPr lang="en-US" sz="1800" b="1" dirty="0"/>
                  <a:t>Update Gate(</a:t>
                </a:r>
                <a14:m>
                  <m:oMath xmlns:m="http://schemas.openxmlformats.org/officeDocument/2006/math">
                    <m:sSub>
                      <m:sSubPr>
                        <m:ctrlPr>
                          <a:rPr lang="en-US" sz="1800" b="1" i="1">
                            <a:latin typeface="Cambria Math" panose="02040503050406030204" pitchFamily="18" charset="0"/>
                          </a:rPr>
                        </m:ctrlPr>
                      </m:sSubPr>
                      <m:e>
                        <m:r>
                          <a:rPr lang="en-US" sz="1800" b="1" i="1">
                            <a:latin typeface="Cambria Math" panose="02040503050406030204" pitchFamily="18" charset="0"/>
                          </a:rPr>
                          <m:t>𝒁</m:t>
                        </m:r>
                      </m:e>
                      <m:sub>
                        <m:r>
                          <a:rPr lang="en-US" sz="1800" b="1" i="1">
                            <a:latin typeface="Cambria Math" panose="02040503050406030204" pitchFamily="18" charset="0"/>
                          </a:rPr>
                          <m:t>𝒕</m:t>
                        </m:r>
                      </m:sub>
                    </m:sSub>
                  </m:oMath>
                </a14:m>
                <a:r>
                  <a:rPr lang="en-US" sz="1800" b="1" dirty="0"/>
                  <a:t>): </a:t>
                </a:r>
                <a:r>
                  <a:rPr lang="en-US" sz="1800" dirty="0"/>
                  <a:t>This gate decides how much information from previous hidden state should be retained for the next time step.</a:t>
                </a:r>
              </a:p>
              <a:p>
                <a:pPr marL="0" indent="0">
                  <a:buNone/>
                </a:pPr>
                <a:r>
                  <a:rPr lang="en-US" sz="1800" b="1" dirty="0"/>
                  <a:t>Reset Gate(</a:t>
                </a:r>
                <a14:m>
                  <m:oMath xmlns:m="http://schemas.openxmlformats.org/officeDocument/2006/math">
                    <m:sSub>
                      <m:sSubPr>
                        <m:ctrlPr>
                          <a:rPr lang="en-US" sz="1800" b="1" i="1">
                            <a:latin typeface="Cambria Math" panose="02040503050406030204" pitchFamily="18" charset="0"/>
                          </a:rPr>
                        </m:ctrlPr>
                      </m:sSubPr>
                      <m:e>
                        <m:r>
                          <a:rPr lang="en-US" sz="1800" b="1" i="1">
                            <a:latin typeface="Cambria Math" panose="02040503050406030204" pitchFamily="18" charset="0"/>
                          </a:rPr>
                          <m:t>𝒓</m:t>
                        </m:r>
                      </m:e>
                      <m:sub>
                        <m:r>
                          <a:rPr lang="en-US" sz="1800" b="1" i="1">
                            <a:latin typeface="Cambria Math" panose="02040503050406030204" pitchFamily="18" charset="0"/>
                          </a:rPr>
                          <m:t>𝒕</m:t>
                        </m:r>
                      </m:sub>
                    </m:sSub>
                  </m:oMath>
                </a14:m>
                <a:r>
                  <a:rPr lang="en-US" sz="1800" b="1" dirty="0"/>
                  <a:t>): </a:t>
                </a:r>
                <a:r>
                  <a:rPr lang="en-US" sz="1800" dirty="0"/>
                  <a:t>This gate determines how much of the past hidden state should be forgotten.</a:t>
                </a:r>
                <a:endParaRPr lang="en-PK" sz="1800" dirty="0"/>
              </a:p>
            </p:txBody>
          </p:sp>
        </mc:Choice>
        <mc:Fallback>
          <p:sp>
            <p:nvSpPr>
              <p:cNvPr id="3" name="Content Placeholder 2">
                <a:extLst>
                  <a:ext uri="{FF2B5EF4-FFF2-40B4-BE49-F238E27FC236}">
                    <a16:creationId xmlns:a16="http://schemas.microsoft.com/office/drawing/2014/main" id="{87DB1AFD-C605-4C4C-9D03-7C197886F0CD}"/>
                  </a:ext>
                </a:extLst>
              </p:cNvPr>
              <p:cNvSpPr>
                <a:spLocks noGrp="1" noRot="1" noChangeAspect="1" noMove="1" noResize="1" noEditPoints="1" noAdjustHandles="1" noChangeArrowheads="1" noChangeShapeType="1" noTextEdit="1"/>
              </p:cNvSpPr>
              <p:nvPr>
                <p:ph idx="1"/>
              </p:nvPr>
            </p:nvSpPr>
            <p:spPr>
              <a:xfrm>
                <a:off x="4882551" y="1792224"/>
                <a:ext cx="6602154" cy="4517136"/>
              </a:xfrm>
              <a:blipFill>
                <a:blip r:embed="rId4"/>
                <a:stretch>
                  <a:fillRect l="-831" r="-185"/>
                </a:stretch>
              </a:blipFill>
            </p:spPr>
            <p:txBody>
              <a:bodyPr/>
              <a:lstStyle/>
              <a:p>
                <a:r>
                  <a:rPr lang="en-PK">
                    <a:noFill/>
                  </a:rPr>
                  <a:t> </a:t>
                </a:r>
              </a:p>
            </p:txBody>
          </p:sp>
        </mc:Fallback>
      </mc:AlternateContent>
    </p:spTree>
    <p:extLst>
      <p:ext uri="{BB962C8B-B14F-4D97-AF65-F5344CB8AC3E}">
        <p14:creationId xmlns:p14="http://schemas.microsoft.com/office/powerpoint/2010/main" val="34912372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CEB88-DD7A-48D7-B23D-58070F958486}"/>
              </a:ext>
            </a:extLst>
          </p:cNvPr>
          <p:cNvSpPr>
            <a:spLocks noGrp="1"/>
          </p:cNvSpPr>
          <p:nvPr>
            <p:ph type="title"/>
          </p:nvPr>
        </p:nvSpPr>
        <p:spPr/>
        <p:txBody>
          <a:bodyPr/>
          <a:lstStyle/>
          <a:p>
            <a:r>
              <a:rPr lang="en-US" dirty="0"/>
              <a:t>Reset gate:</a:t>
            </a:r>
            <a:endParaRPr lang="en-PK" dirty="0"/>
          </a:p>
        </p:txBody>
      </p:sp>
      <mc:AlternateContent xmlns:mc="http://schemas.openxmlformats.org/markup-compatibility/2006">
        <mc:Choice xmlns:a14="http://schemas.microsoft.com/office/drawing/2010/main" Requires="a14">
          <p:sp>
            <p:nvSpPr>
              <p:cNvPr id="9" name="Content Placeholder 8">
                <a:extLst>
                  <a:ext uri="{FF2B5EF4-FFF2-40B4-BE49-F238E27FC236}">
                    <a16:creationId xmlns:a16="http://schemas.microsoft.com/office/drawing/2014/main" id="{67A405F8-9448-45E7-8874-E35B9E0E4A26}"/>
                  </a:ext>
                </a:extLst>
              </p:cNvPr>
              <p:cNvSpPr>
                <a:spLocks noGrp="1"/>
              </p:cNvSpPr>
              <p:nvPr>
                <p:ph idx="1"/>
              </p:nvPr>
            </p:nvSpPr>
            <p:spPr>
              <a:xfrm>
                <a:off x="612647" y="1715532"/>
                <a:ext cx="10653579" cy="1337157"/>
              </a:xfrm>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𝑊</m:t>
                          </m:r>
                        </m:e>
                        <m:sub>
                          <m:r>
                            <a:rPr lang="en-US" b="0" i="1" smtClean="0">
                              <a:latin typeface="Cambria Math" panose="02040503050406030204" pitchFamily="18" charset="0"/>
                              <a:ea typeface="Cambria Math" panose="02040503050406030204" pitchFamily="18" charset="0"/>
                            </a:rPr>
                            <m:t>𝑟</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h</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oMath>
                  </m:oMathPara>
                </a14:m>
                <a:endParaRPr lang="en-US" dirty="0"/>
              </a:p>
              <a:p>
                <a:pPr marL="0" indent="0">
                  <a:buNone/>
                </a:pPr>
                <a:r>
                  <a:rPr lang="en-US" dirty="0"/>
                  <a:t>The reset gate determines how much of the previous hidden state </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h</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Sub>
                  </m:oMath>
                </a14:m>
                <a:r>
                  <a:rPr lang="en-US" dirty="0"/>
                  <a:t> should be forgotten.</a:t>
                </a:r>
                <a:endParaRPr lang="en-PK" dirty="0"/>
              </a:p>
            </p:txBody>
          </p:sp>
        </mc:Choice>
        <mc:Fallback>
          <p:sp>
            <p:nvSpPr>
              <p:cNvPr id="9" name="Content Placeholder 8">
                <a:extLst>
                  <a:ext uri="{FF2B5EF4-FFF2-40B4-BE49-F238E27FC236}">
                    <a16:creationId xmlns:a16="http://schemas.microsoft.com/office/drawing/2014/main" id="{67A405F8-9448-45E7-8874-E35B9E0E4A26}"/>
                  </a:ext>
                </a:extLst>
              </p:cNvPr>
              <p:cNvSpPr>
                <a:spLocks noGrp="1" noRot="1" noChangeAspect="1" noMove="1" noResize="1" noEditPoints="1" noAdjustHandles="1" noChangeArrowheads="1" noChangeShapeType="1" noTextEdit="1"/>
              </p:cNvSpPr>
              <p:nvPr>
                <p:ph idx="1"/>
              </p:nvPr>
            </p:nvSpPr>
            <p:spPr>
              <a:xfrm>
                <a:off x="612647" y="1715532"/>
                <a:ext cx="10653579" cy="1337157"/>
              </a:xfrm>
              <a:blipFill>
                <a:blip r:embed="rId2"/>
                <a:stretch>
                  <a:fillRect l="-572" b="-4091"/>
                </a:stretch>
              </a:blipFill>
            </p:spPr>
            <p:txBody>
              <a:bodyPr/>
              <a:lstStyle/>
              <a:p>
                <a:r>
                  <a:rPr lang="en-PK">
                    <a:noFill/>
                  </a:rPr>
                  <a:t> </a:t>
                </a:r>
              </a:p>
            </p:txBody>
          </p:sp>
        </mc:Fallback>
      </mc:AlternateContent>
      <p:pic>
        <p:nvPicPr>
          <p:cNvPr id="13" name="Picture 12">
            <a:extLst>
              <a:ext uri="{FF2B5EF4-FFF2-40B4-BE49-F238E27FC236}">
                <a16:creationId xmlns:a16="http://schemas.microsoft.com/office/drawing/2014/main" id="{2B48E77F-7F77-4EAA-B648-6DD762395FB1}"/>
              </a:ext>
            </a:extLst>
          </p:cNvPr>
          <p:cNvPicPr>
            <a:picLocks noChangeAspect="1"/>
          </p:cNvPicPr>
          <p:nvPr/>
        </p:nvPicPr>
        <p:blipFill>
          <a:blip r:embed="rId3"/>
          <a:stretch>
            <a:fillRect/>
          </a:stretch>
        </p:blipFill>
        <p:spPr>
          <a:xfrm>
            <a:off x="5416062" y="712261"/>
            <a:ext cx="2928024" cy="700634"/>
          </a:xfrm>
          <a:prstGeom prst="rect">
            <a:avLst/>
          </a:prstGeom>
        </p:spPr>
      </p:pic>
      <p:sp>
        <p:nvSpPr>
          <p:cNvPr id="14" name="Title 1">
            <a:extLst>
              <a:ext uri="{FF2B5EF4-FFF2-40B4-BE49-F238E27FC236}">
                <a16:creationId xmlns:a16="http://schemas.microsoft.com/office/drawing/2014/main" id="{F8826A3A-02F1-47D1-8F58-E2A869E842BE}"/>
              </a:ext>
            </a:extLst>
          </p:cNvPr>
          <p:cNvSpPr txBox="1">
            <a:spLocks/>
          </p:cNvSpPr>
          <p:nvPr/>
        </p:nvSpPr>
        <p:spPr>
          <a:xfrm>
            <a:off x="568101" y="3134751"/>
            <a:ext cx="10653578" cy="74793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n-US" dirty="0"/>
              <a:t>Update gate:</a:t>
            </a:r>
            <a:endParaRPr lang="en-PK" dirty="0"/>
          </a:p>
        </p:txBody>
      </p:sp>
      <mc:AlternateContent xmlns:mc="http://schemas.openxmlformats.org/markup-compatibility/2006">
        <mc:Choice xmlns:a14="http://schemas.microsoft.com/office/drawing/2010/main" Requires="a14">
          <p:sp>
            <p:nvSpPr>
              <p:cNvPr id="15" name="Content Placeholder 8">
                <a:extLst>
                  <a:ext uri="{FF2B5EF4-FFF2-40B4-BE49-F238E27FC236}">
                    <a16:creationId xmlns:a16="http://schemas.microsoft.com/office/drawing/2014/main" id="{ACE7E67A-48EC-4B3F-BF4D-5CE825C5B7FD}"/>
                  </a:ext>
                </a:extLst>
              </p:cNvPr>
              <p:cNvSpPr txBox="1">
                <a:spLocks/>
              </p:cNvSpPr>
              <p:nvPr/>
            </p:nvSpPr>
            <p:spPr>
              <a:xfrm>
                <a:off x="582167" y="3964019"/>
                <a:ext cx="10653579" cy="133715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𝑧</m:t>
                          </m:r>
                        </m:e>
                        <m:sub>
                          <m:r>
                            <a:rPr lang="en-US" i="1" smtClean="0">
                              <a:latin typeface="Cambria Math" panose="02040503050406030204" pitchFamily="18" charset="0"/>
                            </a:rPr>
                            <m:t>𝑡</m:t>
                          </m:r>
                        </m:sub>
                      </m:sSub>
                      <m:r>
                        <a:rPr lang="en-US" i="1" smtClean="0">
                          <a:latin typeface="Cambria Math" panose="02040503050406030204" pitchFamily="18" charset="0"/>
                        </a:rPr>
                        <m:t>=</m:t>
                      </m:r>
                      <m:r>
                        <a:rPr lang="en-US" i="1" smtClean="0">
                          <a:latin typeface="Cambria Math" panose="02040503050406030204" pitchFamily="18" charset="0"/>
                          <a:ea typeface="Cambria Math" panose="02040503050406030204" pitchFamily="18" charset="0"/>
                        </a:rPr>
                        <m:t>𝜎</m:t>
                      </m:r>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𝑊</m:t>
                          </m:r>
                        </m:e>
                        <m:sub>
                          <m:r>
                            <a:rPr lang="en-US" b="0" i="1" smtClean="0">
                              <a:latin typeface="Cambria Math" panose="02040503050406030204" pitchFamily="18" charset="0"/>
                              <a:ea typeface="Cambria Math" panose="02040503050406030204" pitchFamily="18" charset="0"/>
                            </a:rPr>
                            <m:t>𝑧</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h</m:t>
                          </m:r>
                        </m:e>
                        <m:sub>
                          <m:r>
                            <a:rPr lang="en-US" i="1" smtClean="0">
                              <a:latin typeface="Cambria Math" panose="02040503050406030204" pitchFamily="18" charset="0"/>
                              <a:ea typeface="Cambria Math" panose="02040503050406030204" pitchFamily="18" charset="0"/>
                            </a:rPr>
                            <m:t>𝑡</m:t>
                          </m:r>
                          <m:r>
                            <a:rPr lang="en-US" i="1" smtClean="0">
                              <a:latin typeface="Cambria Math" panose="02040503050406030204" pitchFamily="18" charset="0"/>
                              <a:ea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𝑥</m:t>
                          </m:r>
                        </m:e>
                        <m:sub>
                          <m:r>
                            <a:rPr lang="en-US" i="1" smtClean="0">
                              <a:latin typeface="Cambria Math" panose="02040503050406030204" pitchFamily="18" charset="0"/>
                              <a:ea typeface="Cambria Math" panose="02040503050406030204" pitchFamily="18" charset="0"/>
                            </a:rPr>
                            <m:t>𝑡</m:t>
                          </m:r>
                        </m:sub>
                      </m:sSub>
                      <m:r>
                        <a:rPr lang="en-US" i="1" smtClean="0">
                          <a:latin typeface="Cambria Math" panose="02040503050406030204" pitchFamily="18" charset="0"/>
                          <a:ea typeface="Cambria Math" panose="02040503050406030204" pitchFamily="18" charset="0"/>
                        </a:rPr>
                        <m:t>])</m:t>
                      </m:r>
                    </m:oMath>
                  </m:oMathPara>
                </a14:m>
                <a:endParaRPr lang="en-US" dirty="0"/>
              </a:p>
              <a:p>
                <a:pPr marL="0" indent="0">
                  <a:buNone/>
                </a:pPr>
                <a:r>
                  <a:rPr lang="en-US" dirty="0"/>
                  <a:t>The update gate controls how much of the new information </a:t>
                </a:r>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𝑥</m:t>
                        </m:r>
                      </m:e>
                      <m:sub>
                        <m:r>
                          <a:rPr lang="en-US" i="1" smtClean="0">
                            <a:latin typeface="Cambria Math" panose="02040503050406030204" pitchFamily="18" charset="0"/>
                            <a:ea typeface="Cambria Math" panose="02040503050406030204" pitchFamily="18" charset="0"/>
                          </a:rPr>
                          <m:t>𝑡</m:t>
                        </m:r>
                      </m:sub>
                    </m:sSub>
                  </m:oMath>
                </a14:m>
                <a:r>
                  <a:rPr lang="en-US" dirty="0"/>
                  <a:t> should be used to update the hidden state.</a:t>
                </a:r>
                <a:endParaRPr lang="en-PK" dirty="0"/>
              </a:p>
            </p:txBody>
          </p:sp>
        </mc:Choice>
        <mc:Fallback>
          <p:sp>
            <p:nvSpPr>
              <p:cNvPr id="15" name="Content Placeholder 8">
                <a:extLst>
                  <a:ext uri="{FF2B5EF4-FFF2-40B4-BE49-F238E27FC236}">
                    <a16:creationId xmlns:a16="http://schemas.microsoft.com/office/drawing/2014/main" id="{ACE7E67A-48EC-4B3F-BF4D-5CE825C5B7FD}"/>
                  </a:ext>
                </a:extLst>
              </p:cNvPr>
              <p:cNvSpPr txBox="1">
                <a:spLocks noRot="1" noChangeAspect="1" noMove="1" noResize="1" noEditPoints="1" noAdjustHandles="1" noChangeArrowheads="1" noChangeShapeType="1" noTextEdit="1"/>
              </p:cNvSpPr>
              <p:nvPr/>
            </p:nvSpPr>
            <p:spPr>
              <a:xfrm>
                <a:off x="582167" y="3964019"/>
                <a:ext cx="10653579" cy="1337157"/>
              </a:xfrm>
              <a:prstGeom prst="rect">
                <a:avLst/>
              </a:prstGeom>
              <a:blipFill>
                <a:blip r:embed="rId4"/>
                <a:stretch>
                  <a:fillRect l="-572" b="-4091"/>
                </a:stretch>
              </a:blipFill>
            </p:spPr>
            <p:txBody>
              <a:bodyPr/>
              <a:lstStyle/>
              <a:p>
                <a:r>
                  <a:rPr lang="en-PK">
                    <a:noFill/>
                  </a:rPr>
                  <a:t> </a:t>
                </a:r>
              </a:p>
            </p:txBody>
          </p:sp>
        </mc:Fallback>
      </mc:AlternateContent>
    </p:spTree>
    <p:extLst>
      <p:ext uri="{BB962C8B-B14F-4D97-AF65-F5344CB8AC3E}">
        <p14:creationId xmlns:p14="http://schemas.microsoft.com/office/powerpoint/2010/main" val="41493822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61C19-4176-4927-90D5-05551AA9E8E6}"/>
              </a:ext>
            </a:extLst>
          </p:cNvPr>
          <p:cNvSpPr>
            <a:spLocks noGrp="1"/>
          </p:cNvSpPr>
          <p:nvPr>
            <p:ph type="title"/>
          </p:nvPr>
        </p:nvSpPr>
        <p:spPr/>
        <p:txBody>
          <a:bodyPr/>
          <a:lstStyle/>
          <a:p>
            <a:r>
              <a:rPr lang="en-US" dirty="0"/>
              <a:t>Working of GRU</a:t>
            </a:r>
            <a:endParaRPr lang="en-PK" dirty="0"/>
          </a:p>
        </p:txBody>
      </p:sp>
      <p:pic>
        <p:nvPicPr>
          <p:cNvPr id="5" name="Content Placeholder 4">
            <a:extLst>
              <a:ext uri="{FF2B5EF4-FFF2-40B4-BE49-F238E27FC236}">
                <a16:creationId xmlns:a16="http://schemas.microsoft.com/office/drawing/2014/main" id="{A9067F2B-22B7-42C4-8B0B-6655E36457A3}"/>
              </a:ext>
            </a:extLst>
          </p:cNvPr>
          <p:cNvPicPr>
            <a:picLocks noGrp="1" noChangeAspect="1"/>
          </p:cNvPicPr>
          <p:nvPr>
            <p:ph idx="1"/>
          </p:nvPr>
        </p:nvPicPr>
        <p:blipFill>
          <a:blip r:embed="rId2"/>
          <a:stretch>
            <a:fillRect/>
          </a:stretch>
        </p:blipFill>
        <p:spPr>
          <a:xfrm>
            <a:off x="215028" y="1622323"/>
            <a:ext cx="11797358" cy="4778478"/>
          </a:xfrm>
        </p:spPr>
      </p:pic>
    </p:spTree>
    <p:extLst>
      <p:ext uri="{BB962C8B-B14F-4D97-AF65-F5344CB8AC3E}">
        <p14:creationId xmlns:p14="http://schemas.microsoft.com/office/powerpoint/2010/main" val="2267199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9DA5B-2BBB-4246-BBB6-8C4E3E2FDA5F}"/>
              </a:ext>
            </a:extLst>
          </p:cNvPr>
          <p:cNvSpPr>
            <a:spLocks noGrp="1"/>
          </p:cNvSpPr>
          <p:nvPr>
            <p:ph type="title"/>
          </p:nvPr>
        </p:nvSpPr>
        <p:spPr/>
        <p:txBody>
          <a:bodyPr/>
          <a:lstStyle/>
          <a:p>
            <a:r>
              <a:rPr lang="en-US" dirty="0"/>
              <a:t>Candidate hidden state</a:t>
            </a:r>
            <a:endParaRPr lang="en-PK"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19A3266-09C7-49C7-B68C-EDBD79F8B12F}"/>
                  </a:ext>
                </a:extLst>
              </p:cNvPr>
              <p:cNvSpPr>
                <a:spLocks noGrp="1"/>
              </p:cNvSpPr>
              <p:nvPr>
                <p:ph idx="1"/>
              </p:nvPr>
            </p:nvSpPr>
            <p:spPr>
              <a:xfrm>
                <a:off x="739256" y="1251299"/>
                <a:ext cx="10653579" cy="1477834"/>
              </a:xfrm>
            </p:spPr>
            <p:txBody>
              <a:bodyPr/>
              <a:lstStyle/>
              <a:p>
                <a:pPr marL="0" indent="0">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i="1" smtClean="0">
                              <a:latin typeface="Cambria Math" panose="02040503050406030204" pitchFamily="18" charset="0"/>
                            </a:rPr>
                            <m:t>h</m:t>
                          </m:r>
                        </m:e>
                        <m:sub>
                          <m:r>
                            <a:rPr lang="en-US" b="0" i="1" smtClean="0">
                              <a:latin typeface="Cambria Math" panose="02040503050406030204" pitchFamily="18" charset="0"/>
                            </a:rPr>
                            <m:t>𝑡</m:t>
                          </m:r>
                        </m:sub>
                        <m:sup>
                          <m:r>
                            <a:rPr lang="en-US" i="1" smtClean="0">
                              <a:latin typeface="Cambria Math" panose="02040503050406030204" pitchFamily="18" charset="0"/>
                            </a:rPr>
                            <m:t>′</m:t>
                          </m:r>
                        </m:sup>
                      </m:sSubSup>
                      <m:r>
                        <a:rPr lang="en-US" b="0" i="1" smtClean="0">
                          <a:latin typeface="Cambria Math" panose="02040503050406030204" pitchFamily="18" charset="0"/>
                        </a:rPr>
                        <m:t>=</m:t>
                      </m:r>
                      <m:r>
                        <m:rPr>
                          <m:sty m:val="p"/>
                        </m:rPr>
                        <a:rPr lang="en-US" b="0" i="0" smtClean="0">
                          <a:latin typeface="Cambria Math" panose="02040503050406030204" pitchFamily="18" charset="0"/>
                        </a:rPr>
                        <m:t>tanh</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h</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m:oMathPara>
                </a14:m>
                <a:endParaRPr lang="en-US" dirty="0"/>
              </a:p>
              <a:p>
                <a:pPr marL="0" indent="0">
                  <a:buNone/>
                </a:pPr>
                <a:r>
                  <a:rPr lang="en-US" dirty="0"/>
                  <a:t>This is the potential new hidden state calculated based on the current input and the previous hidden state.</a:t>
                </a:r>
                <a:endParaRPr lang="en-PK" dirty="0"/>
              </a:p>
            </p:txBody>
          </p:sp>
        </mc:Choice>
        <mc:Fallback>
          <p:sp>
            <p:nvSpPr>
              <p:cNvPr id="3" name="Content Placeholder 2">
                <a:extLst>
                  <a:ext uri="{FF2B5EF4-FFF2-40B4-BE49-F238E27FC236}">
                    <a16:creationId xmlns:a16="http://schemas.microsoft.com/office/drawing/2014/main" id="{B19A3266-09C7-49C7-B68C-EDBD79F8B12F}"/>
                  </a:ext>
                </a:extLst>
              </p:cNvPr>
              <p:cNvSpPr>
                <a:spLocks noGrp="1" noRot="1" noChangeAspect="1" noMove="1" noResize="1" noEditPoints="1" noAdjustHandles="1" noChangeArrowheads="1" noChangeShapeType="1" noTextEdit="1"/>
              </p:cNvSpPr>
              <p:nvPr>
                <p:ph idx="1"/>
              </p:nvPr>
            </p:nvSpPr>
            <p:spPr>
              <a:xfrm>
                <a:off x="739256" y="1251299"/>
                <a:ext cx="10653579" cy="1477834"/>
              </a:xfrm>
              <a:blipFill>
                <a:blip r:embed="rId2"/>
                <a:stretch>
                  <a:fillRect l="-572"/>
                </a:stretch>
              </a:blipFill>
            </p:spPr>
            <p:txBody>
              <a:bodyPr/>
              <a:lstStyle/>
              <a:p>
                <a:r>
                  <a:rPr lang="en-PK">
                    <a:noFill/>
                  </a:rPr>
                  <a:t> </a:t>
                </a:r>
              </a:p>
            </p:txBody>
          </p:sp>
        </mc:Fallback>
      </mc:AlternateContent>
      <p:sp>
        <p:nvSpPr>
          <p:cNvPr id="6" name="Title 1">
            <a:extLst>
              <a:ext uri="{FF2B5EF4-FFF2-40B4-BE49-F238E27FC236}">
                <a16:creationId xmlns:a16="http://schemas.microsoft.com/office/drawing/2014/main" id="{B100F832-6BA4-4736-8C60-337BEEB86A7E}"/>
              </a:ext>
            </a:extLst>
          </p:cNvPr>
          <p:cNvSpPr txBox="1">
            <a:spLocks/>
          </p:cNvSpPr>
          <p:nvPr/>
        </p:nvSpPr>
        <p:spPr>
          <a:xfrm>
            <a:off x="694710" y="2642382"/>
            <a:ext cx="10653578" cy="1132258"/>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n-US"/>
              <a:t>Candidate hidden state</a:t>
            </a:r>
            <a:endParaRPr lang="en-PK" dirty="0"/>
          </a:p>
        </p:txBody>
      </p:sp>
      <mc:AlternateContent xmlns:mc="http://schemas.openxmlformats.org/markup-compatibility/2006">
        <mc:Choice xmlns:a14="http://schemas.microsoft.com/office/drawing/2010/main" Requires="a14">
          <p:sp>
            <p:nvSpPr>
              <p:cNvPr id="7" name="Content Placeholder 2">
                <a:extLst>
                  <a:ext uri="{FF2B5EF4-FFF2-40B4-BE49-F238E27FC236}">
                    <a16:creationId xmlns:a16="http://schemas.microsoft.com/office/drawing/2014/main" id="{1553EBCE-4122-4BC0-AA32-27A7436D950B}"/>
                  </a:ext>
                </a:extLst>
              </p:cNvPr>
              <p:cNvSpPr txBox="1">
                <a:spLocks/>
              </p:cNvSpPr>
              <p:nvPr/>
            </p:nvSpPr>
            <p:spPr>
              <a:xfrm>
                <a:off x="765047" y="3260635"/>
                <a:ext cx="10653579" cy="147783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𝑡</m:t>
                          </m:r>
                        </m:sub>
                      </m:sSub>
                      <m:r>
                        <a:rPr lang="en-US" i="1" smtClean="0">
                          <a:latin typeface="Cambria Math" panose="02040503050406030204" pitchFamily="18" charset="0"/>
                        </a:rPr>
                        <m:t>=</m:t>
                      </m:r>
                      <m:func>
                        <m:funcPr>
                          <m:ctrlPr>
                            <a:rPr lang="en-US" b="0" i="1" smtClean="0">
                              <a:latin typeface="Cambria Math" panose="02040503050406030204" pitchFamily="18" charset="0"/>
                            </a:rPr>
                          </m:ctrlPr>
                        </m:funcPr>
                        <m:fName>
                          <m:d>
                            <m:dPr>
                              <m:ctrlPr>
                                <a:rPr lang="en-US" b="0" i="0" smtClean="0">
                                  <a:latin typeface="Cambria Math" panose="02040503050406030204" pitchFamily="18" charset="0"/>
                                </a:rPr>
                              </m:ctrlPr>
                            </m:dPr>
                            <m:e>
                              <m:r>
                                <a:rPr lang="en-US" b="0" i="0" smtClean="0">
                                  <a:latin typeface="Cambria Math" panose="02040503050406030204" pitchFamily="18" charset="0"/>
                                </a:rPr>
                                <m:t>1−</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z</m:t>
                                  </m:r>
                                </m:e>
                                <m:sub>
                                  <m:r>
                                    <m:rPr>
                                      <m:sty m:val="p"/>
                                    </m:rPr>
                                    <a:rPr lang="en-US" b="0" i="0" smtClean="0">
                                      <a:latin typeface="Cambria Math" panose="02040503050406030204" pitchFamily="18" charset="0"/>
                                    </a:rPr>
                                    <m:t>t</m:t>
                                  </m:r>
                                </m:sub>
                              </m:sSub>
                            </m:e>
                          </m:d>
                        </m:fName>
                        <m:e>
                          <m:r>
                            <a:rPr lang="en-US" b="0" i="1" smtClean="0">
                              <a:latin typeface="Cambria Math" panose="02040503050406030204" pitchFamily="18" charset="0"/>
                            </a:rPr>
                            <m:t>∗</m:t>
                          </m:r>
                        </m:e>
                      </m:func>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h</m:t>
                          </m:r>
                        </m:e>
                        <m:sub>
                          <m:r>
                            <a:rPr lang="en-US" i="1">
                              <a:latin typeface="Cambria Math" panose="02040503050406030204" pitchFamily="18" charset="0"/>
                            </a:rPr>
                            <m:t>𝑡</m:t>
                          </m:r>
                        </m:sub>
                        <m:sup>
                          <m:r>
                            <a:rPr lang="en-US" i="1">
                              <a:latin typeface="Cambria Math" panose="02040503050406030204" pitchFamily="18" charset="0"/>
                            </a:rPr>
                            <m:t>′</m:t>
                          </m:r>
                        </m:sup>
                      </m:sSubSup>
                    </m:oMath>
                  </m:oMathPara>
                </a14:m>
                <a:endParaRPr lang="en-US" dirty="0"/>
              </a:p>
              <a:p>
                <a:pPr marL="0" indent="0">
                  <a:buNone/>
                </a:pPr>
                <a:r>
                  <a:rPr lang="en-US" dirty="0"/>
                  <a:t>The final hidden state is a weighted average of the previous hidden 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𝑡</m:t>
                        </m:r>
                        <m:r>
                          <a:rPr lang="en-US" b="0" i="1" smtClean="0">
                            <a:latin typeface="Cambria Math" panose="02040503050406030204" pitchFamily="18" charset="0"/>
                          </a:rPr>
                          <m:t>−1</m:t>
                        </m:r>
                      </m:sub>
                    </m:sSub>
                  </m:oMath>
                </a14:m>
                <a:r>
                  <a:rPr lang="en-US" dirty="0"/>
                  <a:t> and the candidate hidden state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h</m:t>
                        </m:r>
                      </m:e>
                      <m:sub>
                        <m:r>
                          <a:rPr lang="en-US" i="1">
                            <a:latin typeface="Cambria Math" panose="02040503050406030204" pitchFamily="18" charset="0"/>
                          </a:rPr>
                          <m:t>𝑡</m:t>
                        </m:r>
                      </m:sub>
                      <m:sup>
                        <m:r>
                          <a:rPr lang="en-US" i="1">
                            <a:latin typeface="Cambria Math" panose="02040503050406030204" pitchFamily="18" charset="0"/>
                          </a:rPr>
                          <m:t>′</m:t>
                        </m:r>
                      </m:sup>
                    </m:sSubSup>
                  </m:oMath>
                </a14:m>
                <a:r>
                  <a:rPr lang="en-US" dirty="0"/>
                  <a:t> based on the update gate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z</m:t>
                        </m:r>
                      </m:e>
                      <m:sub>
                        <m:r>
                          <m:rPr>
                            <m:sty m:val="p"/>
                          </m:rPr>
                          <a:rPr lang="en-US">
                            <a:latin typeface="Cambria Math" panose="02040503050406030204" pitchFamily="18" charset="0"/>
                          </a:rPr>
                          <m:t>t</m:t>
                        </m:r>
                      </m:sub>
                    </m:sSub>
                  </m:oMath>
                </a14:m>
                <a:r>
                  <a:rPr lang="en-US" dirty="0"/>
                  <a:t>. </a:t>
                </a:r>
                <a:endParaRPr lang="en-PK" dirty="0"/>
              </a:p>
            </p:txBody>
          </p:sp>
        </mc:Choice>
        <mc:Fallback>
          <p:sp>
            <p:nvSpPr>
              <p:cNvPr id="7" name="Content Placeholder 2">
                <a:extLst>
                  <a:ext uri="{FF2B5EF4-FFF2-40B4-BE49-F238E27FC236}">
                    <a16:creationId xmlns:a16="http://schemas.microsoft.com/office/drawing/2014/main" id="{1553EBCE-4122-4BC0-AA32-27A7436D950B}"/>
                  </a:ext>
                </a:extLst>
              </p:cNvPr>
              <p:cNvSpPr txBox="1">
                <a:spLocks noRot="1" noChangeAspect="1" noMove="1" noResize="1" noEditPoints="1" noAdjustHandles="1" noChangeArrowheads="1" noChangeShapeType="1" noTextEdit="1"/>
              </p:cNvSpPr>
              <p:nvPr/>
            </p:nvSpPr>
            <p:spPr>
              <a:xfrm>
                <a:off x="765047" y="3260635"/>
                <a:ext cx="10653579" cy="1477834"/>
              </a:xfrm>
              <a:prstGeom prst="rect">
                <a:avLst/>
              </a:prstGeom>
              <a:blipFill>
                <a:blip r:embed="rId3"/>
                <a:stretch>
                  <a:fillRect l="-572"/>
                </a:stretch>
              </a:blipFill>
            </p:spPr>
            <p:txBody>
              <a:bodyPr/>
              <a:lstStyle/>
              <a:p>
                <a:r>
                  <a:rPr lang="en-PK">
                    <a:noFill/>
                  </a:rPr>
                  <a:t> </a:t>
                </a:r>
              </a:p>
            </p:txBody>
          </p:sp>
        </mc:Fallback>
      </mc:AlternateContent>
    </p:spTree>
    <p:extLst>
      <p:ext uri="{BB962C8B-B14F-4D97-AF65-F5344CB8AC3E}">
        <p14:creationId xmlns:p14="http://schemas.microsoft.com/office/powerpoint/2010/main" val="1554834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3867147-1C83-BF71-39B0-B590EE7F34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849D22-DE0B-4B69-BEB1-4C908B2D1101}"/>
              </a:ext>
            </a:extLst>
          </p:cNvPr>
          <p:cNvSpPr>
            <a:spLocks noGrp="1"/>
          </p:cNvSpPr>
          <p:nvPr>
            <p:ph type="title"/>
          </p:nvPr>
        </p:nvSpPr>
        <p:spPr>
          <a:xfrm>
            <a:off x="614678" y="548640"/>
            <a:ext cx="10872216" cy="1133856"/>
          </a:xfrm>
        </p:spPr>
        <p:txBody>
          <a:bodyPr anchor="t">
            <a:normAutofit/>
          </a:bodyPr>
          <a:lstStyle/>
          <a:p>
            <a:r>
              <a:rPr lang="en-US" dirty="0"/>
              <a:t>How GRUs Solve the Vanishing Gradient Problem</a:t>
            </a:r>
            <a:endParaRPr lang="en-PK" dirty="0"/>
          </a:p>
        </p:txBody>
      </p:sp>
      <p:pic>
        <p:nvPicPr>
          <p:cNvPr id="7" name="Graphic 6" descr="Laptop Secure">
            <a:extLst>
              <a:ext uri="{FF2B5EF4-FFF2-40B4-BE49-F238E27FC236}">
                <a16:creationId xmlns:a16="http://schemas.microsoft.com/office/drawing/2014/main" id="{0DEF0E34-FC61-4832-1AFC-9AC297479A7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520" y="1792223"/>
            <a:ext cx="3698530" cy="3698530"/>
          </a:xfrm>
          <a:prstGeom prst="rect">
            <a:avLst/>
          </a:prstGeom>
        </p:spPr>
      </p:pic>
      <p:sp>
        <p:nvSpPr>
          <p:cNvPr id="3" name="Content Placeholder 2">
            <a:extLst>
              <a:ext uri="{FF2B5EF4-FFF2-40B4-BE49-F238E27FC236}">
                <a16:creationId xmlns:a16="http://schemas.microsoft.com/office/drawing/2014/main" id="{1839BB98-67F7-4D81-824F-A4F1E1EFE340}"/>
              </a:ext>
            </a:extLst>
          </p:cNvPr>
          <p:cNvSpPr>
            <a:spLocks noGrp="1"/>
          </p:cNvSpPr>
          <p:nvPr>
            <p:ph idx="1"/>
          </p:nvPr>
        </p:nvSpPr>
        <p:spPr>
          <a:xfrm>
            <a:off x="4882551" y="1792224"/>
            <a:ext cx="6602154" cy="4517136"/>
          </a:xfrm>
        </p:spPr>
        <p:txBody>
          <a:bodyPr anchor="t">
            <a:normAutofit/>
          </a:bodyPr>
          <a:lstStyle/>
          <a:p>
            <a:pPr marL="0" indent="0">
              <a:buNone/>
            </a:pPr>
            <a:r>
              <a:rPr lang="en-US" sz="1800"/>
              <a:t>Like LSTMs, GRUs were designed to address the vanishing gradient problem which is common in traditional RNNs. GRUs help mitigate this issue by using gates that regulate the flow of gradients during training ensuring that important information is preserved and that gradients do not shrink excessively over time. By using these gates, GRUs maintain a balance between remembering important past information and learning new, relevant data.</a:t>
            </a:r>
            <a:endParaRPr lang="en-PK" sz="1800"/>
          </a:p>
        </p:txBody>
      </p:sp>
    </p:spTree>
    <p:extLst>
      <p:ext uri="{BB962C8B-B14F-4D97-AF65-F5344CB8AC3E}">
        <p14:creationId xmlns:p14="http://schemas.microsoft.com/office/powerpoint/2010/main" val="3489287538"/>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otalTime>35</TotalTime>
  <Words>365</Words>
  <Application>Microsoft Office PowerPoint</Application>
  <PresentationFormat>Widescreen</PresentationFormat>
  <Paragraphs>24</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Cambria Math</vt:lpstr>
      <vt:lpstr>Neue Haas Grotesk Text Pro</vt:lpstr>
      <vt:lpstr>Nunito</vt:lpstr>
      <vt:lpstr>VanillaVTI</vt:lpstr>
      <vt:lpstr>Gated Recurrent Units (GRU)</vt:lpstr>
      <vt:lpstr>What are Gated Recurrent Units (GRU)</vt:lpstr>
      <vt:lpstr>Working of GRU</vt:lpstr>
      <vt:lpstr>Reset gate:</vt:lpstr>
      <vt:lpstr>Working of GRU</vt:lpstr>
      <vt:lpstr>Candidate hidden state</vt:lpstr>
      <vt:lpstr>How GRUs Solve the Vanishing Gradient Problem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Gated Recurrent Units (GRU)</dc:title>
  <dc:creator>Muhammad Jahanzaib Khan</dc:creator>
  <cp:lastModifiedBy>Muhammad Jahanzaib Khan</cp:lastModifiedBy>
  <cp:revision>4</cp:revision>
  <dcterms:created xsi:type="dcterms:W3CDTF">2025-09-16T05:29:17Z</dcterms:created>
  <dcterms:modified xsi:type="dcterms:W3CDTF">2025-09-16T06:05:03Z</dcterms:modified>
</cp:coreProperties>
</file>