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K-Fold Cross-Validation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Explanation with Examples</a:t>
            </a:r>
          </a:p>
          <a:p>
            <a:r>
              <a:t>Prepared by: Irfan Ahmed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Introduction</a:t>
            </a:r>
          </a:p>
          <a:p>
            <a:r>
              <a:t>2. Why Cross-Validation?</a:t>
            </a:r>
          </a:p>
          <a:p>
            <a:r>
              <a:t>3. K-Fold Process</a:t>
            </a:r>
          </a:p>
          <a:p>
            <a:r>
              <a:t>4. Math &amp; Example</a:t>
            </a:r>
          </a:p>
          <a:p>
            <a:r>
              <a:t>5. Variations</a:t>
            </a:r>
          </a:p>
          <a:p>
            <a:r>
              <a:t>6. Pros &amp; Cons</a:t>
            </a:r>
          </a:p>
          <a:p>
            <a:r>
              <a:t>7. Applications</a:t>
            </a:r>
          </a:p>
          <a:p>
            <a:r>
              <a:t>8.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Machine learning models need evaluation beyond training accuracy.</a:t>
            </a:r>
          </a:p>
          <a:p>
            <a:pPr>
              <a:defRPr sz="1800"/>
            </a:pPr>
            <a:r>
              <a:t>A simple train/test split may give biased results.</a:t>
            </a:r>
          </a:p>
          <a:p>
            <a:pPr>
              <a:defRPr sz="1800"/>
            </a:pPr>
            <a:r>
              <a:t>Cross-validation helps estimate generalization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Cross-Validation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Cross-validation is a resampling technique.</a:t>
            </a:r>
          </a:p>
          <a:p>
            <a:pPr>
              <a:defRPr sz="1800"/>
            </a:pPr>
            <a:r>
              <a:t>It partitions data into multiple subsets for training and validation.</a:t>
            </a:r>
          </a:p>
          <a:p>
            <a:pPr>
              <a:defRPr sz="1800"/>
            </a:pPr>
            <a:r>
              <a:t>Goal: Ensure model performs well on unseen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K-Fold CV?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K-Fold CV divides dataset into k equal parts (folds).</a:t>
            </a:r>
          </a:p>
          <a:p>
            <a:pPr>
              <a:defRPr sz="1800"/>
            </a:pPr>
            <a:r>
              <a:t>Model is trained on k-1 folds and validated on the remaining fold.</a:t>
            </a:r>
          </a:p>
          <a:p>
            <a:pPr>
              <a:defRPr sz="1800"/>
            </a:pPr>
            <a:r>
              <a:t>This process is repeated k times to cover all folds.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K-Fold Workflow (Step by 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Split dataset into k folds.</a:t>
            </a:r>
          </a:p>
          <a:p>
            <a:pPr>
              <a:defRPr sz="1800"/>
            </a:pPr>
            <a:r>
              <a:t>2. Train model on k-1 folds.</a:t>
            </a:r>
          </a:p>
          <a:p>
            <a:pPr>
              <a:defRPr sz="1800"/>
            </a:pPr>
            <a:r>
              <a:t>3. Validate on the remaining fold.</a:t>
            </a:r>
          </a:p>
          <a:p>
            <a:pPr>
              <a:defRPr sz="1800"/>
            </a:pPr>
            <a:r>
              <a:t>4. Repeat for each fold.</a:t>
            </a:r>
          </a:p>
          <a:p>
            <a:pPr>
              <a:defRPr sz="1800"/>
            </a:pPr>
            <a:r>
              <a:t>5. Average the results for final performance 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Performance = (1/k) * Σ (score_i for i=1 to k).</a:t>
            </a:r>
          </a:p>
          <a:p>
            <a:pPr>
              <a:defRPr sz="1800"/>
            </a:pPr>
            <a:r>
              <a:t>Each score_i is accuracy, precision, recall, R², etc.</a:t>
            </a:r>
          </a:p>
          <a:p>
            <a:pPr>
              <a:defRPr sz="1800"/>
            </a:pPr>
            <a:r>
              <a:t>Reduces variance compared to single train/test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Diagram of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Example: k=5 → dataset split into 5 folds.</a:t>
            </a:r>
          </a:p>
          <a:p>
            <a:pPr>
              <a:defRPr sz="1800"/>
            </a:pPr>
            <a:r>
              <a:t>Each fold serves once as validation.</a:t>
            </a:r>
          </a:p>
          <a:p>
            <a:pPr>
              <a:defRPr sz="1800"/>
            </a:pPr>
            <a:r>
              <a:t>Ensures every data point is used for testing once.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Choice of k (Value Selection)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Common choices: k=5 or k=10.</a:t>
            </a:r>
          </a:p>
          <a:p>
            <a:pPr>
              <a:defRPr sz="1800"/>
            </a:pPr>
            <a:r>
              <a:t>Small k (like 2): fast but high bias.</a:t>
            </a:r>
          </a:p>
          <a:p>
            <a:pPr>
              <a:defRPr sz="1800"/>
            </a:pPr>
            <a:r>
              <a:t>Large k (like N): low bias but high computation.</a:t>
            </a:r>
          </a:p>
          <a:p>
            <a:pPr>
              <a:defRPr sz="1800"/>
            </a:pPr>
            <a:r>
              <a:t>Trade-off needed depending on dataset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Stratified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Stratification preserves class distribution across folds.</a:t>
            </a:r>
          </a:p>
          <a:p>
            <a:pPr>
              <a:defRPr sz="1800"/>
            </a:pPr>
            <a:r>
              <a:t>Essential for imbalanced datasets.</a:t>
            </a:r>
          </a:p>
          <a:p>
            <a:pPr>
              <a:defRPr sz="1800"/>
            </a:pPr>
            <a:r>
              <a:t>Ensures fairness in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Leave-One-Out CV (LOOCV)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Special case: k = N (number of samples).</a:t>
            </a:r>
          </a:p>
          <a:p>
            <a:pPr>
              <a:defRPr sz="1800"/>
            </a:pPr>
            <a:r>
              <a:t>Each sample is used once as test, rest for training.</a:t>
            </a:r>
          </a:p>
          <a:p>
            <a:pPr>
              <a:defRPr sz="1800"/>
            </a:pPr>
            <a:r>
              <a:t>Pros: maximizes training data.</a:t>
            </a:r>
          </a:p>
          <a:p>
            <a:pPr>
              <a:defRPr sz="1800"/>
            </a:pPr>
            <a:r>
              <a:t>Cons: very computationally expensive.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Repeated K-Fold CV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K-Fold multiple times with different random splits.</a:t>
            </a:r>
          </a:p>
          <a:p>
            <a:pPr>
              <a:defRPr sz="1800"/>
            </a:pPr>
            <a:r>
              <a:t>Helps reduce randomness in results.</a:t>
            </a:r>
          </a:p>
          <a:p>
            <a:pPr>
              <a:defRPr sz="1800"/>
            </a:pPr>
            <a:r>
              <a:t>Provides more stable performance estimates.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Hold-Out vs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Hold-Out: one split into train/test.</a:t>
            </a:r>
          </a:p>
          <a:p>
            <a:pPr>
              <a:defRPr sz="1800"/>
            </a:pPr>
            <a:r>
              <a:t>K-Fold: multiple splits, more reliable.</a:t>
            </a:r>
          </a:p>
          <a:p>
            <a:pPr>
              <a:defRPr sz="1800"/>
            </a:pPr>
            <a:r>
              <a:t>K-Fold better for small datasets.</a:t>
            </a:r>
          </a:p>
          <a:p>
            <a:pPr>
              <a:defRPr sz="1800"/>
            </a:pPr>
            <a:r>
              <a:t>Hold-Out is faster for large datasets.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Efficient use of data (all samples used for training &amp; testing).</a:t>
            </a:r>
          </a:p>
          <a:p>
            <a:pPr>
              <a:defRPr sz="1800"/>
            </a:pPr>
            <a:r>
              <a:t>Reduces variance in model evaluation.</a:t>
            </a:r>
          </a:p>
          <a:p>
            <a:pPr>
              <a:defRPr sz="1800"/>
            </a:pPr>
            <a:r>
              <a:t>Provides robust performance estimate.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K-Fold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Computationally more expensive than single split.</a:t>
            </a:r>
          </a:p>
          <a:p>
            <a:pPr>
              <a:defRPr sz="1800"/>
            </a:pPr>
            <a:r>
              <a:t>Not always better if dataset is huge.</a:t>
            </a:r>
          </a:p>
          <a:p>
            <a:pPr>
              <a:defRPr sz="1800"/>
            </a:pPr>
            <a:r>
              <a:t>Training needs to be repeated k times.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K-Fold in Regression vs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For regression: use metrics like MAE, MSE, R².</a:t>
            </a:r>
          </a:p>
          <a:p>
            <a:pPr>
              <a:defRPr sz="1800"/>
            </a:pPr>
            <a:r>
              <a:t>For classification: use accuracy, precision, recall, F1.</a:t>
            </a:r>
          </a:p>
          <a:p>
            <a:pPr>
              <a:defRPr sz="1800"/>
            </a:pPr>
            <a:r>
              <a:t>Stratified folds recommended for classification.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 (Classification)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Predicting spam emails.</a:t>
            </a:r>
          </a:p>
          <a:p>
            <a:pPr>
              <a:defRPr sz="1800"/>
            </a:pPr>
            <a:r>
              <a:t>K=5 → Train on 80%, validate on 20%.</a:t>
            </a:r>
          </a:p>
          <a:p>
            <a:pPr>
              <a:defRPr sz="1800"/>
            </a:pPr>
            <a:r>
              <a:t>Cycle through all folds, compute average accuracy.</a:t>
            </a:r>
          </a:p>
          <a:p>
            <a:pPr>
              <a:defRPr sz="1800"/>
            </a:pPr>
            <a:r>
              <a:t>Ensures spam/ham ratio preserved using Stratified K-Fold.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 (Regression)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Dataset: House price prediction.</a:t>
            </a:r>
          </a:p>
          <a:p>
            <a:pPr>
              <a:defRPr sz="1800"/>
            </a:pPr>
            <a:r>
              <a:t>K=10 → Train on 90%, validate on 10%.</a:t>
            </a:r>
          </a:p>
          <a:p>
            <a:pPr>
              <a:defRPr sz="1800"/>
            </a:pPr>
            <a:r>
              <a:t>Cycle through all folds, compute average RMSE.</a:t>
            </a:r>
          </a:p>
          <a:p>
            <a:pPr>
              <a:defRPr sz="1800"/>
            </a:pPr>
            <a:r>
              <a:t>Provides robust error estimate.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Model selection: Compare algorithms.</a:t>
            </a:r>
          </a:p>
          <a:p>
            <a:pPr>
              <a:defRPr sz="1800"/>
            </a:pPr>
            <a:r>
              <a:t>Hyperparameter tuning: Used in GridSearchCV.</a:t>
            </a:r>
          </a:p>
          <a:p>
            <a:pPr>
              <a:defRPr sz="1800"/>
            </a:pPr>
            <a:r>
              <a:t>Benchmarking: Fair comparison across models.</a:t>
            </a:r>
          </a:p>
          <a:p>
            <a:pPr>
              <a:defRPr sz="1800"/>
            </a:pPr>
            <a:r>
              <a:t>Widely used in competitions and research.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/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K-Fold CV improves model evaluation reliability.</a:t>
            </a:r>
          </a:p>
          <a:p>
            <a:pPr>
              <a:defRPr sz="1800"/>
            </a:pPr>
            <a:r>
              <a:t>Choice of k affects bias-variance trade-off.</a:t>
            </a:r>
          </a:p>
          <a:p>
            <a:pPr>
              <a:defRPr sz="1800"/>
            </a:pPr>
            <a:r>
              <a:t>Stratified &amp; repeated versions handle special cases.</a:t>
            </a:r>
          </a:p>
          <a:p>
            <a:pPr>
              <a:defRPr sz="1800"/>
            </a:pPr>
            <a:r>
              <a:t>Essential tool in machine learning pipeline.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